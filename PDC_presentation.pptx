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0"/>
  </p:notesMasterIdLst>
  <p:sldIdLst>
    <p:sldId id="256" r:id="rId2"/>
    <p:sldId id="257" r:id="rId3"/>
    <p:sldId id="258" r:id="rId4"/>
    <p:sldId id="259" r:id="rId5"/>
    <p:sldId id="260" r:id="rId6"/>
    <p:sldId id="274" r:id="rId30"/>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8288000" cy="10287000"/>
  <p:notesSz cx="6858000" cy="9144000"/>
  <p:embeddedFontLst>
    <p:embeddedFont>
      <p:font typeface="Arial Bold" panose="020B0704020202020204" pitchFamily="34" charset="0"/>
      <p:regular r:id="rId21"/>
      <p:bold r:id="rId22"/>
    </p:embeddedFont>
    <p:embeddedFont>
      <p:font typeface="Courier New Bold" panose="02070609020205020404" pitchFamily="49" charset="0"/>
      <p:regular r:id="rId23"/>
      <p:bold r:id="rId24"/>
    </p:embeddedFont>
    <p:embeddedFont>
      <p:font typeface="Courier New Italics"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76211" autoAdjust="0"/>
  </p:normalViewPr>
  <p:slideViewPr>
    <p:cSldViewPr>
      <p:cViewPr>
        <p:scale>
          <a:sx n="25" d="100"/>
          <a:sy n="25" d="100"/>
        </p:scale>
        <p:origin x="1740" y="2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font" Target="fonts/font1.fntdata"/><Relationship Id="rId22" Type="http://schemas.openxmlformats.org/officeDocument/2006/relationships/font" Target="fonts/font2.fntdata"/><Relationship Id="rId23" Type="http://schemas.openxmlformats.org/officeDocument/2006/relationships/font" Target="fonts/font3.fntdata"/><Relationship Id="rId24" Type="http://schemas.openxmlformats.org/officeDocument/2006/relationships/font" Target="fonts/font4.fntdata"/><Relationship Id="rId25" Type="http://schemas.openxmlformats.org/officeDocument/2006/relationships/font" Target="fonts/font5.fntdata"/><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04.05.2026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Good morning everyone. We're presenting our Parallel and Distributed Computing project — Parallel Point-in-Polygon Classification for Large-Scale Geospatial Data. I'm Anas, and with me are Azhab, Ayaan, and Tayib. Over the next few minutes we'll walk you through the problem, our three-stage solution, the actual code that runs it, and the benchmark numbers we got.</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Let's start with the problem itself. Imagine you have a map covered in regions — like neighborhoods on a city map, or administrative districts in a country. And imagine you have a huge set of GPS points — millions of them — maybe from delivery drivers or mobile phones. The question we want to answer is simple: for each point, which region does it fall inside? Now the obvious solution is brute force — test every point against every polygon. But notice the cost. With one million points and ten thousand polygons, that's ten billion individual checks. On a normal CPU that's measured in hours, not seconds. So this is exactly the kind of workload that benefits from spatial indexing and parallelism.</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Before we go further, let me show you the actual algorithm we use to test if a single point is inside a single polygon. It's called ray casting. Pick the point you want to test — let's call it P. Now imagine shooting a ray from P horizontally to the right, going off to infinity. Count how many edges of the polygon that ray crosses. If the count is odd, the point is inside. If it's even, it's outside. In this example, the ray crosses two edges — that's even — so the point is outside. This works for any shape, including weird non-convex polygons with holes. The cost per polygon is proportional to the number of edges. Simple and reliable.</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Why does this matter in the real world? It shows up everywhere. Geofencing apps need to detect when a phone enters a defined zone. Logistics companies route delivery trucks within service regions. Telecom companies map subscribers to cell tower coverage areas. And government census systems aggregate data into administrative boundaries. So a fast point-in-polygon classifier is genuinely useful infrastructure.</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approached this in three milestones. Milestone one was the sequential foundation — get the algorithm correct and add spatial indexing so we're not blindly checking every polygon. Milestone two was shared-memory parallelism using OpenMP — squeeze speed out of multiple CPU cores on one machine. Milestone three was distributed execution — split the work across multiple processes using a master-worker design. Each milestone built on the last.</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Here's the end-to-end workflow at a glance. We start with polygon input — either real-world GeoJSON or synthetic grids we generate ourselves. We build a quadtree spatial index over those polygons. For milestone three only, we then partition the points spatially across workers. Then comes the classification step itself — for each point, query the index, get a small set of candidate polygons, and run ray casting on those. Results flow back through aggregation and validation, and we get our final mapping of point ID to polygon ID. The same pipeline runs end to end across all three milestones — only the parallelism layer changes. Now Azhab will walk you through milestone one.</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Thanks Anas. In Milestone 1 our goal was to be smarter before being parallel. The actual point-in-polygon test is ray casting — we just saw it. But running ray casting against every polygon for every point is still ten billion operations. So we added spatial indexing. We built two of them. The first is a quadtree — it recursively subdivides 2D space into four quadrants until each leaf holds only a few polygons. The second is a strip index — it slices space into horizontal bands. Both let us skip polygons that can't possibly contain a given point, before we even run ray casting. We also handled the tricky cases — points on edges, points on vertices, polygons with holes, MultiPolygons.</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Here's the actual ray casting function from our code, in geometry slash ray casting dot cpp. We loop through every edge of the polygon ring. We skip horizontal edges because the ray is also horizontal. If the point lies exactly on an edge, we return zero — that's the boundary case. Otherwise, we compute where our horizontal ray would intersect this edge mathematically, and we count it as a crossing only if the intersection is to the right of the point and the edge endpoints sit on opposite sides of the ray. That last check prevents us from double-counting at vertices. At the end, odd crossings means inside, even means outside.</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And the results were dramatic. On one million uniform points against ten thousand polygons, brute force took sixteen and a half seconds. The same job using our quadtree took seven hundred and eighty seven milliseconds — that's a twenty point nine six times speedup. On clustered data, where the points pile up in dense areas, the index is even more effective — we hit thirty one point eight times. We also validated against a real-world dataset — Pakistan's administrative GeoJSON with two hundred and four polygons and seven hundred forty five centroid points. The indexed results matched the brute force ground truth exactly. With this foundation in place, Ayaan took it parallel.</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Thanks Azhab. Milestone 2 was about shared-memory parallelism using OpenMP. Now we didn't just throw a single pragma at the loop and call it done. We benchmarked five different strategies. Static scheduling pre-assigns equal chunks of points to each thread up front. Dynamic scheduling lets threads pull chunks from a shared queue as they finish. Tiled with Morton ordering rearranges points using a Z-order space-filling curve to improve cache locality. Work-stealing gives each thread its own deque and lets idle threads steal from busy ones. And finally, a hybrid that combines static and dynamic — static gives each thread a base chunk, dynamic handles the leftovers.</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Here's the actual OpenMP code from our parallel classifier. Three things to notice. First, the chunk size is square root of N divided by four — not the OpenMP default. We discovered the default chunk size of N over threads was thrashing the L3 cache, with all four threads simultaneously evicting each other's working sets. The square root heuristic gave each thread a small enough chunk that they finish quickly and interleave instead of competing. Second, we use schedule dynamic, which means threads grab chunks at runtime — no idle waiting. Third, the if clause says skip OpenMP entirely if there are fewer than fifty thousand points — below that, the overhead of spawning threads beats the benefit.</a:t>
            </a:r>
          </a:p>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And here are the speedup results. On four threads, our best strategy — the hybrid scheduler — hit two point four nine times on one hundred thousand points, and two point one six times on one million. Thread scaling was sub-linear — at two threads we got one point six seven times, at four threads two point one four times. The orange dashed line on this chart shows where ideal linear scaling would sit. We're well below it, and that's an honest result. The reason is that quadtree traversal is memory-bound — it's mostly random pointer chasing through cache. Adding more threads adds memory contention faster than it adds compute. We hit a real wall on a single machine. To go further, we needed to go distributed. Tayib will explain how.</a:t>
            </a:r>
          </a:p>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Thanks Ayaan. In Milestone 3 we built a master-worker distributed architecture. The master process partitions the points spatially, hands each partition to a worker, and each worker independently builds its own local quadtree, classifies its slice of the points, and reports back. Results are aggregated using compact counts and checksums — not the full result arrays — to keep communication cheap. Now there was one challenge: MPI wasn't configured on our Windows toolchain. The assignment allowed multi-process execution as an alternative, so we built a real separate worker executable — worker dot exe — that the master spawns using Windows CreateProcess. Communication happens through binary input and result files. Same architecture as MPI, just a different transport.</a:t>
            </a:r>
          </a:p>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Here's the actual code that does the spawning, from benchmark m three dot cpp. Step one — the master writes a binary input file for each worker, containing that worker's slice of points. Step two — the master calls CreateProcess once per worker, launching worker dot exe as a real operating system process, passing it the input file path and the output file path on the command line. Step three — once all workers are launched, the master calls WaitForMultipleObjects to block until every worker has finished. After that, it reads the result files back and aggregates them. This is a real distributed pattern — the workers don't share memory with the master, they communicate purely through files.</a:t>
            </a:r>
          </a:p>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And this approach let us scale all the way to one hundred million points. We sustained roughly two point nine million points per second on clustered data at that scale. Notice that the per-point throughput actually goes up at one hundred million compared to one million — that's because the fixed setup costs get amortized across more work. So the system genuinely scales with data size.</a:t>
            </a:r>
          </a:p>
          <a:p>
            <a:r>
              <a:rPr lang="en-US"/>
              <a:t>15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also explored a key trade-off — replication versus sharding. In replicated mode, every worker holds a full copy of all the polygon data — that's forty thousand polygon copies across four workers. In sharded mode, each worker only holds the slice that overlaps with its spatial region — that's down to ten thousand six hundred copies. Critically, both modes produced identical checksums on every workload, which proves correctness was preserved. And on clustered data, sharding was actually faster — less memory pressure during quadtree traversal. So sharding wins when memory bandwidth is the bottleneck.</a:t>
            </a:r>
          </a:p>
          <a:p>
            <a:r>
              <a:rPr lang="en-US"/>
              <a:t>16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Some honest challenges we faced. The quadtree being memory-bound limited our parallel speedup — that's documented. Sub-linear scaling on four threads — also honestly reported, not hidden. MPI wasn't available on our Windows setup — we solved that with the multi-process alternative the assignment allowed. And the IPC path has measurable overhead — file write and read times — but we made that explicit in our timing breakdown rather than burying it.</a:t>
            </a:r>
          </a:p>
          <a:p>
            <a:r>
              <a:rPr lang="en-US"/>
              <a:t>17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 in summary — we went from brute force, to a thirty one point eight times indexed speedup at the sequential stage, to a two point four nine times parallel speedup on shared memory, to a distributed system that classifies one hundred million points. Sequential, parallel, distributed — the full PDC arc. Thank you for listening. We're happy to take any questions.</a:t>
            </a:r>
          </a:p>
          <a:p>
            <a:r>
              <a:rPr lang="en-US"/>
              <a:t>18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TextBox 2"/>
          <p:cNvSpPr txBox="1"/>
          <p:nvPr/>
        </p:nvSpPr>
        <p:spPr>
          <a:xfrm>
            <a:off x="1524000" y="1504950"/>
            <a:ext cx="5528729" cy="323850"/>
          </a:xfrm>
          <a:prstGeom prst="rect">
            <a:avLst/>
          </a:prstGeom>
        </p:spPr>
        <p:txBody>
          <a:bodyPr lIns="0" tIns="0" rIns="0" bIns="0" rtlCol="0" anchor="t">
            <a:spAutoFit/>
          </a:bodyPr>
          <a:lstStyle/>
          <a:p>
            <a:pPr algn="l">
              <a:lnSpc>
                <a:spcPts val="2640"/>
              </a:lnSpc>
            </a:pPr>
            <a:r>
              <a:rPr lang="en-US" sz="2200">
                <a:solidFill>
                  <a:srgbClr val="22D3EE"/>
                </a:solidFill>
                <a:latin typeface="Arial"/>
                <a:ea typeface="Arial"/>
                <a:cs typeface="Arial"/>
                <a:sym typeface="Arial"/>
              </a:rPr>
              <a:t>PDC FINAL PROJECT</a:t>
            </a:r>
          </a:p>
        </p:txBody>
      </p:sp>
      <p:grpSp>
        <p:nvGrpSpPr>
          <p:cNvPr id="3" name="Group 3"/>
          <p:cNvGrpSpPr/>
          <p:nvPr/>
        </p:nvGrpSpPr>
        <p:grpSpPr>
          <a:xfrm>
            <a:off x="1524000" y="3301898"/>
            <a:ext cx="152400" cy="3555806"/>
            <a:chOff x="0" y="0"/>
            <a:chExt cx="203200" cy="4741075"/>
          </a:xfrm>
        </p:grpSpPr>
        <p:sp>
          <p:nvSpPr>
            <p:cNvPr id="4" name="Freeform 4"/>
            <p:cNvSpPr/>
            <p:nvPr/>
          </p:nvSpPr>
          <p:spPr>
            <a:xfrm>
              <a:off x="0" y="0"/>
              <a:ext cx="203200" cy="4741037"/>
            </a:xfrm>
            <a:custGeom>
              <a:avLst/>
              <a:gdLst/>
              <a:ahLst/>
              <a:cxnLst/>
              <a:rect l="l" t="t" r="r" b="b"/>
              <a:pathLst>
                <a:path w="203200" h="4741037">
                  <a:moveTo>
                    <a:pt x="0" y="0"/>
                  </a:moveTo>
                  <a:lnTo>
                    <a:pt x="203200" y="0"/>
                  </a:lnTo>
                  <a:lnTo>
                    <a:pt x="203200" y="4741037"/>
                  </a:lnTo>
                  <a:lnTo>
                    <a:pt x="0" y="4741037"/>
                  </a:lnTo>
                  <a:close/>
                </a:path>
              </a:pathLst>
            </a:custGeom>
            <a:solidFill>
              <a:srgbClr val="22D3EE"/>
            </a:solidFill>
          </p:spPr>
          <p:txBody>
            <a:bodyPr/>
            <a:lstStyle/>
            <a:p>
              <a:endParaRPr lang="en-US"/>
            </a:p>
          </p:txBody>
        </p:sp>
      </p:grpSp>
      <p:sp>
        <p:nvSpPr>
          <p:cNvPr id="5" name="TextBox 5"/>
          <p:cNvSpPr txBox="1"/>
          <p:nvPr/>
        </p:nvSpPr>
        <p:spPr>
          <a:xfrm>
            <a:off x="2031806" y="3435248"/>
            <a:ext cx="15026535" cy="438150"/>
          </a:xfrm>
          <a:prstGeom prst="rect">
            <a:avLst/>
          </a:prstGeom>
        </p:spPr>
        <p:txBody>
          <a:bodyPr lIns="0" tIns="0" rIns="0" bIns="0" rtlCol="0" anchor="t">
            <a:spAutoFit/>
          </a:bodyPr>
          <a:lstStyle/>
          <a:p>
            <a:pPr algn="l">
              <a:lnSpc>
                <a:spcPts val="3359"/>
              </a:lnSpc>
            </a:pPr>
            <a:r>
              <a:rPr lang="en-US" sz="2799">
                <a:solidFill>
                  <a:srgbClr val="22D3EE"/>
                </a:solidFill>
                <a:latin typeface="Arial"/>
                <a:ea typeface="Arial"/>
                <a:cs typeface="Arial"/>
                <a:sym typeface="Arial"/>
              </a:rPr>
              <a:t>PARALLEL AND DISTRIBUTED COMPUTING</a:t>
            </a:r>
          </a:p>
        </p:txBody>
      </p:sp>
      <p:sp>
        <p:nvSpPr>
          <p:cNvPr id="6" name="TextBox 6"/>
          <p:cNvSpPr txBox="1"/>
          <p:nvPr/>
        </p:nvSpPr>
        <p:spPr>
          <a:xfrm>
            <a:off x="2031806" y="3949598"/>
            <a:ext cx="15026535" cy="2803627"/>
          </a:xfrm>
          <a:prstGeom prst="rect">
            <a:avLst/>
          </a:prstGeom>
        </p:spPr>
        <p:txBody>
          <a:bodyPr lIns="0" tIns="0" rIns="0" bIns="0" rtlCol="0" anchor="t">
            <a:spAutoFit/>
          </a:bodyPr>
          <a:lstStyle/>
          <a:p>
            <a:pPr algn="l">
              <a:lnSpc>
                <a:spcPts val="7560"/>
              </a:lnSpc>
            </a:pPr>
            <a:r>
              <a:rPr lang="en-US" sz="7200">
                <a:solidFill>
                  <a:srgbClr val="F1F5F9"/>
                </a:solidFill>
                <a:latin typeface="Arial"/>
                <a:ea typeface="Arial"/>
                <a:cs typeface="Arial"/>
                <a:sym typeface="Arial"/>
              </a:rPr>
              <a:t>Parallel Point-in-Polygon</a:t>
            </a:r>
          </a:p>
          <a:p>
            <a:pPr algn="l">
              <a:lnSpc>
                <a:spcPts val="7560"/>
              </a:lnSpc>
            </a:pPr>
            <a:r>
              <a:rPr lang="en-US" sz="7200">
                <a:solidFill>
                  <a:srgbClr val="F1F5F9"/>
                </a:solidFill>
                <a:latin typeface="Arial"/>
                <a:ea typeface="Arial"/>
                <a:cs typeface="Arial"/>
                <a:sym typeface="Arial"/>
              </a:rPr>
              <a:t>Classification for Large-Scale</a:t>
            </a:r>
          </a:p>
          <a:p>
            <a:pPr algn="l">
              <a:lnSpc>
                <a:spcPts val="7560"/>
              </a:lnSpc>
            </a:pPr>
            <a:r>
              <a:rPr lang="en-US" sz="7200">
                <a:solidFill>
                  <a:srgbClr val="F1F5F9"/>
                </a:solidFill>
                <a:latin typeface="Arial"/>
                <a:ea typeface="Arial"/>
                <a:cs typeface="Arial"/>
                <a:sym typeface="Arial"/>
              </a:rPr>
              <a:t>Geospatial Data</a:t>
            </a:r>
          </a:p>
        </p:txBody>
      </p:sp>
      <p:sp>
        <p:nvSpPr>
          <p:cNvPr id="7" name="TextBox 7"/>
          <p:cNvSpPr txBox="1"/>
          <p:nvPr/>
        </p:nvSpPr>
        <p:spPr>
          <a:xfrm>
            <a:off x="1600200" y="7570889"/>
            <a:ext cx="15026535" cy="352425"/>
          </a:xfrm>
          <a:prstGeom prst="rect">
            <a:avLst/>
          </a:prstGeom>
        </p:spPr>
        <p:txBody>
          <a:bodyPr lIns="0" tIns="0" rIns="0" bIns="0" rtlCol="0" anchor="t">
            <a:spAutoFit/>
          </a:bodyPr>
          <a:lstStyle/>
          <a:p>
            <a:pPr algn="l">
              <a:lnSpc>
                <a:spcPts val="2879"/>
              </a:lnSpc>
            </a:pPr>
            <a:r>
              <a:rPr lang="en-US" sz="2400" dirty="0">
                <a:solidFill>
                  <a:srgbClr val="94A3B8"/>
                </a:solidFill>
                <a:latin typeface="Arial"/>
                <a:ea typeface="Arial"/>
                <a:cs typeface="Arial"/>
                <a:sym typeface="Arial"/>
              </a:rPr>
              <a:t>Sequential  →  Shared-Memory  →  Distributed</a:t>
            </a:r>
          </a:p>
        </p:txBody>
      </p:sp>
      <p:sp>
        <p:nvSpPr>
          <p:cNvPr id="8" name="TextBox 8"/>
          <p:cNvSpPr txBox="1"/>
          <p:nvPr/>
        </p:nvSpPr>
        <p:spPr>
          <a:xfrm>
            <a:off x="1676400" y="8464124"/>
            <a:ext cx="10515600" cy="1716752"/>
          </a:xfrm>
          <a:prstGeom prst="rect">
            <a:avLst/>
          </a:prstGeom>
        </p:spPr>
        <p:txBody>
          <a:bodyPr wrap="square" lIns="0" tIns="0" rIns="0" bIns="0" rtlCol="0" anchor="t">
            <a:spAutoFit/>
          </a:bodyPr>
          <a:lstStyle/>
          <a:p>
            <a:pPr algn="l">
              <a:lnSpc>
                <a:spcPts val="3359"/>
              </a:lnSpc>
            </a:pPr>
            <a:r>
              <a:rPr lang="en-US" sz="2799" b="1" dirty="0">
                <a:solidFill>
                  <a:srgbClr val="F1F5F9"/>
                </a:solidFill>
                <a:latin typeface="Arial Bold"/>
                <a:ea typeface="Arial Bold"/>
                <a:cs typeface="Arial Bold"/>
                <a:sym typeface="Arial Bold"/>
              </a:rPr>
              <a:t>Muhammad Anas Tabba 28998</a:t>
            </a:r>
          </a:p>
          <a:p>
            <a:pPr algn="l">
              <a:lnSpc>
                <a:spcPts val="3359"/>
              </a:lnSpc>
            </a:pPr>
            <a:r>
              <a:rPr lang="en-US" sz="2799" b="1" dirty="0">
                <a:solidFill>
                  <a:srgbClr val="F1F5F9"/>
                </a:solidFill>
                <a:latin typeface="Arial Bold"/>
                <a:ea typeface="Arial Bold"/>
                <a:cs typeface="Arial Bold"/>
                <a:sym typeface="Arial Bold"/>
              </a:rPr>
              <a:t>Azhab Safwan Babar 29227</a:t>
            </a:r>
          </a:p>
          <a:p>
            <a:pPr algn="l">
              <a:lnSpc>
                <a:spcPts val="3359"/>
              </a:lnSpc>
            </a:pPr>
            <a:r>
              <a:rPr lang="en-US" sz="2799" b="1" dirty="0">
                <a:solidFill>
                  <a:srgbClr val="F1F5F9"/>
                </a:solidFill>
                <a:latin typeface="Arial Bold"/>
                <a:ea typeface="Arial Bold"/>
                <a:cs typeface="Arial Bold"/>
                <a:sym typeface="Arial Bold"/>
              </a:rPr>
              <a:t>Ayaan Malik 29238</a:t>
            </a:r>
          </a:p>
          <a:p>
            <a:pPr algn="l">
              <a:lnSpc>
                <a:spcPts val="3359"/>
              </a:lnSpc>
            </a:pPr>
            <a:r>
              <a:rPr lang="en-US" sz="2799" b="1" dirty="0">
                <a:solidFill>
                  <a:srgbClr val="F1F5F9"/>
                </a:solidFill>
                <a:latin typeface="Arial Bold"/>
                <a:ea typeface="Arial Bold"/>
                <a:cs typeface="Arial Bold"/>
                <a:sym typeface="Arial Bold"/>
              </a:rPr>
              <a:t>Tayib Bin Hisham 29087</a:t>
            </a:r>
          </a:p>
        </p:txBody>
      </p:sp>
      <p:grpSp>
        <p:nvGrpSpPr>
          <p:cNvPr id="9" name="Group 9"/>
          <p:cNvGrpSpPr/>
          <p:nvPr/>
        </p:nvGrpSpPr>
        <p:grpSpPr>
          <a:xfrm>
            <a:off x="15240000" y="2031806"/>
            <a:ext cx="203006" cy="203006"/>
            <a:chOff x="0" y="0"/>
            <a:chExt cx="270675" cy="270675"/>
          </a:xfrm>
        </p:grpSpPr>
        <p:sp>
          <p:nvSpPr>
            <p:cNvPr id="10" name="Freeform 10"/>
            <p:cNvSpPr/>
            <p:nvPr/>
          </p:nvSpPr>
          <p:spPr>
            <a:xfrm>
              <a:off x="0" y="0"/>
              <a:ext cx="270637" cy="270637"/>
            </a:xfrm>
            <a:custGeom>
              <a:avLst/>
              <a:gdLst/>
              <a:ahLst/>
              <a:cxnLst/>
              <a:rect l="l" t="t" r="r" b="b"/>
              <a:pathLst>
                <a:path w="270637" h="270637">
                  <a:moveTo>
                    <a:pt x="0" y="135382"/>
                  </a:moveTo>
                  <a:cubicBezTo>
                    <a:pt x="0" y="60579"/>
                    <a:pt x="60579" y="0"/>
                    <a:pt x="135382" y="0"/>
                  </a:cubicBezTo>
                  <a:cubicBezTo>
                    <a:pt x="210185" y="0"/>
                    <a:pt x="270637" y="60579"/>
                    <a:pt x="270637" y="135382"/>
                  </a:cubicBezTo>
                  <a:cubicBezTo>
                    <a:pt x="270637" y="210185"/>
                    <a:pt x="210058" y="270637"/>
                    <a:pt x="135382" y="270637"/>
                  </a:cubicBezTo>
                  <a:cubicBezTo>
                    <a:pt x="60706" y="270637"/>
                    <a:pt x="0" y="210058"/>
                    <a:pt x="0" y="135382"/>
                  </a:cubicBezTo>
                  <a:close/>
                </a:path>
              </a:pathLst>
            </a:custGeom>
            <a:solidFill>
              <a:srgbClr val="22D3EE"/>
            </a:solidFill>
          </p:spPr>
          <p:txBody>
            <a:bodyPr/>
            <a:lstStyle/>
            <a:p>
              <a:endParaRPr lang="en-US"/>
            </a:p>
          </p:txBody>
        </p:sp>
      </p:grpSp>
      <p:grpSp>
        <p:nvGrpSpPr>
          <p:cNvPr id="11" name="Group 11"/>
          <p:cNvGrpSpPr/>
          <p:nvPr/>
        </p:nvGrpSpPr>
        <p:grpSpPr>
          <a:xfrm>
            <a:off x="16255898" y="2539898"/>
            <a:ext cx="203006" cy="203006"/>
            <a:chOff x="0" y="0"/>
            <a:chExt cx="270675" cy="270675"/>
          </a:xfrm>
        </p:grpSpPr>
        <p:sp>
          <p:nvSpPr>
            <p:cNvPr id="12" name="Freeform 12"/>
            <p:cNvSpPr/>
            <p:nvPr/>
          </p:nvSpPr>
          <p:spPr>
            <a:xfrm>
              <a:off x="0" y="0"/>
              <a:ext cx="270637" cy="270637"/>
            </a:xfrm>
            <a:custGeom>
              <a:avLst/>
              <a:gdLst/>
              <a:ahLst/>
              <a:cxnLst/>
              <a:rect l="l" t="t" r="r" b="b"/>
              <a:pathLst>
                <a:path w="270637" h="270637">
                  <a:moveTo>
                    <a:pt x="0" y="135382"/>
                  </a:moveTo>
                  <a:cubicBezTo>
                    <a:pt x="0" y="60579"/>
                    <a:pt x="60579" y="0"/>
                    <a:pt x="135382" y="0"/>
                  </a:cubicBezTo>
                  <a:cubicBezTo>
                    <a:pt x="210185" y="0"/>
                    <a:pt x="270637" y="60579"/>
                    <a:pt x="270637" y="135382"/>
                  </a:cubicBezTo>
                  <a:cubicBezTo>
                    <a:pt x="270637" y="210185"/>
                    <a:pt x="210058" y="270637"/>
                    <a:pt x="135382" y="270637"/>
                  </a:cubicBezTo>
                  <a:cubicBezTo>
                    <a:pt x="60706" y="270637"/>
                    <a:pt x="0" y="210058"/>
                    <a:pt x="0" y="135382"/>
                  </a:cubicBezTo>
                  <a:close/>
                </a:path>
              </a:pathLst>
            </a:custGeom>
            <a:solidFill>
              <a:srgbClr val="22D3EE"/>
            </a:solidFill>
          </p:spPr>
          <p:txBody>
            <a:bodyPr/>
            <a:lstStyle/>
            <a:p>
              <a:endParaRPr lang="en-US"/>
            </a:p>
          </p:txBody>
        </p:sp>
      </p:grpSp>
      <p:grpSp>
        <p:nvGrpSpPr>
          <p:cNvPr id="13" name="Group 13"/>
          <p:cNvGrpSpPr/>
          <p:nvPr/>
        </p:nvGrpSpPr>
        <p:grpSpPr>
          <a:xfrm>
            <a:off x="15747806" y="3301898"/>
            <a:ext cx="203006" cy="203006"/>
            <a:chOff x="0" y="0"/>
            <a:chExt cx="270675" cy="270675"/>
          </a:xfrm>
        </p:grpSpPr>
        <p:sp>
          <p:nvSpPr>
            <p:cNvPr id="14" name="Freeform 14"/>
            <p:cNvSpPr/>
            <p:nvPr/>
          </p:nvSpPr>
          <p:spPr>
            <a:xfrm>
              <a:off x="0" y="0"/>
              <a:ext cx="270637" cy="270637"/>
            </a:xfrm>
            <a:custGeom>
              <a:avLst/>
              <a:gdLst/>
              <a:ahLst/>
              <a:cxnLst/>
              <a:rect l="l" t="t" r="r" b="b"/>
              <a:pathLst>
                <a:path w="270637" h="270637">
                  <a:moveTo>
                    <a:pt x="0" y="135382"/>
                  </a:moveTo>
                  <a:cubicBezTo>
                    <a:pt x="0" y="60579"/>
                    <a:pt x="60579" y="0"/>
                    <a:pt x="135382" y="0"/>
                  </a:cubicBezTo>
                  <a:cubicBezTo>
                    <a:pt x="210185" y="0"/>
                    <a:pt x="270637" y="60579"/>
                    <a:pt x="270637" y="135382"/>
                  </a:cubicBezTo>
                  <a:cubicBezTo>
                    <a:pt x="270637" y="210185"/>
                    <a:pt x="210058" y="270637"/>
                    <a:pt x="135382" y="270637"/>
                  </a:cubicBezTo>
                  <a:cubicBezTo>
                    <a:pt x="60706" y="270637"/>
                    <a:pt x="0" y="210058"/>
                    <a:pt x="0" y="135382"/>
                  </a:cubicBezTo>
                  <a:close/>
                </a:path>
              </a:pathLst>
            </a:custGeom>
            <a:solidFill>
              <a:srgbClr val="22D3EE"/>
            </a:solidFill>
          </p:spPr>
          <p:txBody>
            <a:bodyPr/>
            <a:lstStyle/>
            <a:p>
              <a:endParaRPr lang="en-US"/>
            </a:p>
          </p:txBody>
        </p:sp>
      </p:grpSp>
      <p:grpSp>
        <p:nvGrpSpPr>
          <p:cNvPr id="15" name="Group 15"/>
          <p:cNvGrpSpPr/>
          <p:nvPr/>
        </p:nvGrpSpPr>
        <p:grpSpPr>
          <a:xfrm>
            <a:off x="16764000" y="3810000"/>
            <a:ext cx="203006" cy="203006"/>
            <a:chOff x="0" y="0"/>
            <a:chExt cx="270675" cy="270675"/>
          </a:xfrm>
        </p:grpSpPr>
        <p:sp>
          <p:nvSpPr>
            <p:cNvPr id="16" name="Freeform 16"/>
            <p:cNvSpPr/>
            <p:nvPr/>
          </p:nvSpPr>
          <p:spPr>
            <a:xfrm>
              <a:off x="0" y="0"/>
              <a:ext cx="270637" cy="270637"/>
            </a:xfrm>
            <a:custGeom>
              <a:avLst/>
              <a:gdLst/>
              <a:ahLst/>
              <a:cxnLst/>
              <a:rect l="l" t="t" r="r" b="b"/>
              <a:pathLst>
                <a:path w="270637" h="270637">
                  <a:moveTo>
                    <a:pt x="0" y="135382"/>
                  </a:moveTo>
                  <a:cubicBezTo>
                    <a:pt x="0" y="60579"/>
                    <a:pt x="60579" y="0"/>
                    <a:pt x="135382" y="0"/>
                  </a:cubicBezTo>
                  <a:cubicBezTo>
                    <a:pt x="210185" y="0"/>
                    <a:pt x="270637" y="60579"/>
                    <a:pt x="270637" y="135382"/>
                  </a:cubicBezTo>
                  <a:cubicBezTo>
                    <a:pt x="270637" y="210185"/>
                    <a:pt x="210058" y="270637"/>
                    <a:pt x="135382" y="270637"/>
                  </a:cubicBezTo>
                  <a:cubicBezTo>
                    <a:pt x="60706" y="270637"/>
                    <a:pt x="0" y="210058"/>
                    <a:pt x="0" y="135382"/>
                  </a:cubicBezTo>
                  <a:close/>
                </a:path>
              </a:pathLst>
            </a:custGeom>
            <a:solidFill>
              <a:srgbClr val="22D3EE"/>
            </a:solidFill>
          </p:spPr>
          <p:txBody>
            <a:bodyPr/>
            <a:lstStyle/>
            <a:p>
              <a:endParaRPr lang="en-US"/>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TextBox 2"/>
          <p:cNvSpPr txBox="1"/>
          <p:nvPr/>
        </p:nvSpPr>
        <p:spPr>
          <a:xfrm>
            <a:off x="1524000" y="1260281"/>
            <a:ext cx="3281715" cy="295275"/>
          </a:xfrm>
          <a:prstGeom prst="rect">
            <a:avLst/>
          </a:prstGeom>
        </p:spPr>
        <p:txBody>
          <a:bodyPr lIns="0" tIns="0" rIns="0" bIns="0" rtlCol="0" anchor="t">
            <a:spAutoFit/>
          </a:bodyPr>
          <a:lstStyle/>
          <a:p>
            <a:pPr algn="l">
              <a:lnSpc>
                <a:spcPts val="2400"/>
              </a:lnSpc>
            </a:pPr>
            <a:r>
              <a:rPr lang="en-US" sz="2000">
                <a:solidFill>
                  <a:srgbClr val="22D3EE"/>
                </a:solidFill>
                <a:latin typeface="Arial"/>
                <a:ea typeface="Arial"/>
                <a:cs typeface="Arial"/>
                <a:sym typeface="Arial"/>
              </a:rPr>
              <a:t>THE PROBLEM</a:t>
            </a:r>
          </a:p>
        </p:txBody>
      </p:sp>
      <p:sp>
        <p:nvSpPr>
          <p:cNvPr id="3" name="TextBox 3"/>
          <p:cNvSpPr txBox="1"/>
          <p:nvPr/>
        </p:nvSpPr>
        <p:spPr>
          <a:xfrm>
            <a:off x="1524000" y="2060381"/>
            <a:ext cx="15544800" cy="865584"/>
          </a:xfrm>
          <a:prstGeom prst="rect">
            <a:avLst/>
          </a:prstGeom>
        </p:spPr>
        <p:txBody>
          <a:bodyPr lIns="0" tIns="0" rIns="0" bIns="0" rtlCol="0" anchor="t">
            <a:spAutoFit/>
          </a:bodyPr>
          <a:lstStyle/>
          <a:p>
            <a:pPr algn="l">
              <a:lnSpc>
                <a:spcPts val="7040"/>
              </a:lnSpc>
            </a:pPr>
            <a:r>
              <a:rPr lang="en-US" sz="6400">
                <a:solidFill>
                  <a:srgbClr val="F1F5F9"/>
                </a:solidFill>
                <a:latin typeface="Arial"/>
                <a:ea typeface="Arial"/>
                <a:cs typeface="Arial"/>
                <a:sym typeface="Arial"/>
              </a:rPr>
              <a:t>Which point lies </a:t>
            </a:r>
            <a:r>
              <a:rPr lang="en-US" sz="6400" b="1">
                <a:solidFill>
                  <a:srgbClr val="22D3EE"/>
                </a:solidFill>
                <a:latin typeface="Arial Bold"/>
                <a:ea typeface="Arial Bold"/>
                <a:cs typeface="Arial Bold"/>
                <a:sym typeface="Arial Bold"/>
              </a:rPr>
              <a:t>inside</a:t>
            </a:r>
            <a:r>
              <a:rPr lang="en-US" sz="6400">
                <a:solidFill>
                  <a:srgbClr val="F1F5F9"/>
                </a:solidFill>
                <a:latin typeface="Arial"/>
                <a:ea typeface="Arial"/>
                <a:cs typeface="Arial"/>
                <a:sym typeface="Arial"/>
              </a:rPr>
              <a:t> which region?</a:t>
            </a:r>
          </a:p>
        </p:txBody>
      </p:sp>
      <p:sp>
        <p:nvSpPr>
          <p:cNvPr id="4" name="TextBox 4"/>
          <p:cNvSpPr txBox="1"/>
          <p:nvPr/>
        </p:nvSpPr>
        <p:spPr>
          <a:xfrm>
            <a:off x="1524000" y="4984556"/>
            <a:ext cx="7254135" cy="1580255"/>
          </a:xfrm>
          <a:prstGeom prst="rect">
            <a:avLst/>
          </a:prstGeom>
        </p:spPr>
        <p:txBody>
          <a:bodyPr lIns="0" tIns="0" rIns="0" bIns="0" rtlCol="0" anchor="t">
            <a:spAutoFit/>
          </a:bodyPr>
          <a:lstStyle/>
          <a:p>
            <a:pPr algn="l">
              <a:lnSpc>
                <a:spcPts val="3900"/>
              </a:lnSpc>
            </a:pPr>
            <a:r>
              <a:rPr lang="en-US" sz="2600">
                <a:solidFill>
                  <a:srgbClr val="94A3B8"/>
                </a:solidFill>
                <a:latin typeface="Arial"/>
                <a:ea typeface="Arial"/>
                <a:cs typeface="Arial"/>
                <a:sym typeface="Arial"/>
              </a:rPr>
              <a:t>Given millions of GPS points and thousands of polygons, decide which point falls inside which region.</a:t>
            </a:r>
          </a:p>
        </p:txBody>
      </p:sp>
      <p:grpSp>
        <p:nvGrpSpPr>
          <p:cNvPr id="5" name="Group 5"/>
          <p:cNvGrpSpPr/>
          <p:nvPr/>
        </p:nvGrpSpPr>
        <p:grpSpPr>
          <a:xfrm>
            <a:off x="1524000" y="7620000"/>
            <a:ext cx="7111898" cy="1796653"/>
            <a:chOff x="0" y="0"/>
            <a:chExt cx="9482531" cy="2395538"/>
          </a:xfrm>
        </p:grpSpPr>
        <p:sp>
          <p:nvSpPr>
            <p:cNvPr id="6" name="Freeform 6"/>
            <p:cNvSpPr/>
            <p:nvPr/>
          </p:nvSpPr>
          <p:spPr>
            <a:xfrm>
              <a:off x="0" y="0"/>
              <a:ext cx="9482582" cy="2395601"/>
            </a:xfrm>
            <a:custGeom>
              <a:avLst/>
              <a:gdLst/>
              <a:ahLst/>
              <a:cxnLst/>
              <a:rect l="l" t="t" r="r" b="b"/>
              <a:pathLst>
                <a:path w="9482582" h="2395601">
                  <a:moveTo>
                    <a:pt x="0" y="0"/>
                  </a:moveTo>
                  <a:lnTo>
                    <a:pt x="9482582" y="0"/>
                  </a:lnTo>
                  <a:lnTo>
                    <a:pt x="9482582" y="2395601"/>
                  </a:lnTo>
                  <a:lnTo>
                    <a:pt x="0" y="2395601"/>
                  </a:lnTo>
                  <a:close/>
                </a:path>
              </a:pathLst>
            </a:custGeom>
            <a:solidFill>
              <a:srgbClr val="122236"/>
            </a:solidFill>
          </p:spPr>
          <p:txBody>
            <a:bodyPr/>
            <a:lstStyle/>
            <a:p>
              <a:endParaRPr lang="en-US"/>
            </a:p>
          </p:txBody>
        </p:sp>
      </p:grpSp>
      <p:grpSp>
        <p:nvGrpSpPr>
          <p:cNvPr id="7" name="Group 7"/>
          <p:cNvGrpSpPr/>
          <p:nvPr/>
        </p:nvGrpSpPr>
        <p:grpSpPr>
          <a:xfrm>
            <a:off x="1524000" y="7572375"/>
            <a:ext cx="95250" cy="1891903"/>
            <a:chOff x="0" y="0"/>
            <a:chExt cx="127000" cy="2522538"/>
          </a:xfrm>
        </p:grpSpPr>
        <p:sp>
          <p:nvSpPr>
            <p:cNvPr id="8" name="Freeform 8"/>
            <p:cNvSpPr/>
            <p:nvPr/>
          </p:nvSpPr>
          <p:spPr>
            <a:xfrm>
              <a:off x="0" y="63500"/>
              <a:ext cx="127000" cy="2395601"/>
            </a:xfrm>
            <a:custGeom>
              <a:avLst/>
              <a:gdLst/>
              <a:ahLst/>
              <a:cxnLst/>
              <a:rect l="l" t="t" r="r" b="b"/>
              <a:pathLst>
                <a:path w="127000" h="2395601">
                  <a:moveTo>
                    <a:pt x="127000" y="0"/>
                  </a:moveTo>
                  <a:lnTo>
                    <a:pt x="127000" y="2395601"/>
                  </a:lnTo>
                  <a:lnTo>
                    <a:pt x="0" y="2395601"/>
                  </a:lnTo>
                  <a:lnTo>
                    <a:pt x="0" y="0"/>
                  </a:lnTo>
                  <a:close/>
                </a:path>
              </a:pathLst>
            </a:custGeom>
            <a:solidFill>
              <a:srgbClr val="22D3EE"/>
            </a:solidFill>
          </p:spPr>
          <p:txBody>
            <a:bodyPr/>
            <a:lstStyle/>
            <a:p>
              <a:endParaRPr lang="en-US"/>
            </a:p>
          </p:txBody>
        </p:sp>
      </p:grpSp>
      <p:sp>
        <p:nvSpPr>
          <p:cNvPr id="9" name="TextBox 9"/>
          <p:cNvSpPr txBox="1"/>
          <p:nvPr/>
        </p:nvSpPr>
        <p:spPr>
          <a:xfrm>
            <a:off x="2076450" y="7965881"/>
            <a:ext cx="6224292" cy="314325"/>
          </a:xfrm>
          <a:prstGeom prst="rect">
            <a:avLst/>
          </a:prstGeom>
        </p:spPr>
        <p:txBody>
          <a:bodyPr lIns="0" tIns="0" rIns="0" bIns="0" rtlCol="0" anchor="t">
            <a:spAutoFit/>
          </a:bodyPr>
          <a:lstStyle/>
          <a:p>
            <a:pPr algn="l">
              <a:lnSpc>
                <a:spcPts val="2640"/>
              </a:lnSpc>
            </a:pPr>
            <a:r>
              <a:rPr lang="en-US" sz="2200" b="1">
                <a:solidFill>
                  <a:srgbClr val="22D3EE"/>
                </a:solidFill>
                <a:latin typeface="Courier New Bold"/>
                <a:ea typeface="Courier New Bold"/>
                <a:cs typeface="Courier New Bold"/>
                <a:sym typeface="Courier New Bold"/>
              </a:rPr>
              <a:t>BRUTE FORCE COST</a:t>
            </a:r>
          </a:p>
        </p:txBody>
      </p:sp>
      <p:sp>
        <p:nvSpPr>
          <p:cNvPr id="10" name="TextBox 10"/>
          <p:cNvSpPr txBox="1"/>
          <p:nvPr/>
        </p:nvSpPr>
        <p:spPr>
          <a:xfrm>
            <a:off x="2076450" y="8423081"/>
            <a:ext cx="6224292" cy="638175"/>
          </a:xfrm>
          <a:prstGeom prst="rect">
            <a:avLst/>
          </a:prstGeom>
        </p:spPr>
        <p:txBody>
          <a:bodyPr lIns="0" tIns="0" rIns="0" bIns="0" rtlCol="0" anchor="t">
            <a:spAutoFit/>
          </a:bodyPr>
          <a:lstStyle/>
          <a:p>
            <a:pPr algn="l">
              <a:lnSpc>
                <a:spcPts val="5280"/>
              </a:lnSpc>
            </a:pPr>
            <a:r>
              <a:rPr lang="en-US" sz="4400" b="1">
                <a:solidFill>
                  <a:srgbClr val="F1F5F9"/>
                </a:solidFill>
                <a:latin typeface="Courier New Bold"/>
                <a:ea typeface="Courier New Bold"/>
                <a:cs typeface="Courier New Bold"/>
                <a:sym typeface="Courier New Bold"/>
              </a:rPr>
              <a:t>O(N × M)</a:t>
            </a:r>
          </a:p>
        </p:txBody>
      </p:sp>
      <p:grpSp>
        <p:nvGrpSpPr>
          <p:cNvPr id="11" name="Group 11"/>
          <p:cNvGrpSpPr/>
          <p:nvPr/>
        </p:nvGrpSpPr>
        <p:grpSpPr>
          <a:xfrm>
            <a:off x="9642281" y="3800475"/>
            <a:ext cx="7169048" cy="5645048"/>
            <a:chOff x="0" y="0"/>
            <a:chExt cx="9558731" cy="7526731"/>
          </a:xfrm>
        </p:grpSpPr>
        <p:sp>
          <p:nvSpPr>
            <p:cNvPr id="12" name="Freeform 12"/>
            <p:cNvSpPr/>
            <p:nvPr/>
          </p:nvSpPr>
          <p:spPr>
            <a:xfrm>
              <a:off x="12700" y="12700"/>
              <a:ext cx="9533382" cy="7501382"/>
            </a:xfrm>
            <a:custGeom>
              <a:avLst/>
              <a:gdLst/>
              <a:ahLst/>
              <a:cxnLst/>
              <a:rect l="l" t="t" r="r" b="b"/>
              <a:pathLst>
                <a:path w="9533382" h="7501382">
                  <a:moveTo>
                    <a:pt x="0" y="0"/>
                  </a:moveTo>
                  <a:lnTo>
                    <a:pt x="9533382" y="0"/>
                  </a:lnTo>
                  <a:lnTo>
                    <a:pt x="9533382" y="7501382"/>
                  </a:lnTo>
                  <a:lnTo>
                    <a:pt x="0" y="7501382"/>
                  </a:lnTo>
                  <a:close/>
                </a:path>
              </a:pathLst>
            </a:custGeom>
            <a:solidFill>
              <a:srgbClr val="122236"/>
            </a:solidFill>
          </p:spPr>
          <p:txBody>
            <a:bodyPr/>
            <a:lstStyle/>
            <a:p>
              <a:endParaRPr lang="en-US"/>
            </a:p>
          </p:txBody>
        </p:sp>
        <p:sp>
          <p:nvSpPr>
            <p:cNvPr id="13" name="Freeform 13"/>
            <p:cNvSpPr/>
            <p:nvPr/>
          </p:nvSpPr>
          <p:spPr>
            <a:xfrm>
              <a:off x="0" y="0"/>
              <a:ext cx="9558782" cy="7526782"/>
            </a:xfrm>
            <a:custGeom>
              <a:avLst/>
              <a:gdLst/>
              <a:ahLst/>
              <a:cxnLst/>
              <a:rect l="l" t="t" r="r" b="b"/>
              <a:pathLst>
                <a:path w="9558782" h="7526782">
                  <a:moveTo>
                    <a:pt x="12700" y="0"/>
                  </a:moveTo>
                  <a:lnTo>
                    <a:pt x="9546082" y="0"/>
                  </a:lnTo>
                  <a:cubicBezTo>
                    <a:pt x="9553067" y="0"/>
                    <a:pt x="9558782" y="5715"/>
                    <a:pt x="9558782" y="12700"/>
                  </a:cubicBezTo>
                  <a:lnTo>
                    <a:pt x="9558782" y="7514082"/>
                  </a:lnTo>
                  <a:cubicBezTo>
                    <a:pt x="9558782" y="7521067"/>
                    <a:pt x="9553067" y="7526782"/>
                    <a:pt x="9546082" y="7526782"/>
                  </a:cubicBezTo>
                  <a:lnTo>
                    <a:pt x="12700" y="7526782"/>
                  </a:lnTo>
                  <a:cubicBezTo>
                    <a:pt x="5715" y="7526782"/>
                    <a:pt x="0" y="7521067"/>
                    <a:pt x="0" y="7514082"/>
                  </a:cubicBezTo>
                  <a:lnTo>
                    <a:pt x="0" y="12700"/>
                  </a:lnTo>
                  <a:cubicBezTo>
                    <a:pt x="0" y="5715"/>
                    <a:pt x="5715" y="0"/>
                    <a:pt x="12700" y="0"/>
                  </a:cubicBezTo>
                  <a:moveTo>
                    <a:pt x="12700" y="25400"/>
                  </a:moveTo>
                  <a:lnTo>
                    <a:pt x="12700" y="12700"/>
                  </a:lnTo>
                  <a:lnTo>
                    <a:pt x="25400" y="12700"/>
                  </a:lnTo>
                  <a:lnTo>
                    <a:pt x="25400" y="7514082"/>
                  </a:lnTo>
                  <a:lnTo>
                    <a:pt x="12700" y="7514082"/>
                  </a:lnTo>
                  <a:lnTo>
                    <a:pt x="12700" y="7501382"/>
                  </a:lnTo>
                  <a:lnTo>
                    <a:pt x="9546082" y="7501382"/>
                  </a:lnTo>
                  <a:lnTo>
                    <a:pt x="9546082" y="7514082"/>
                  </a:lnTo>
                  <a:lnTo>
                    <a:pt x="9533382" y="7514082"/>
                  </a:lnTo>
                  <a:lnTo>
                    <a:pt x="9533382" y="12700"/>
                  </a:lnTo>
                  <a:lnTo>
                    <a:pt x="9546082" y="12700"/>
                  </a:lnTo>
                  <a:lnTo>
                    <a:pt x="9546082" y="25400"/>
                  </a:lnTo>
                  <a:lnTo>
                    <a:pt x="12700" y="25400"/>
                  </a:lnTo>
                  <a:close/>
                </a:path>
              </a:pathLst>
            </a:custGeom>
            <a:solidFill>
              <a:srgbClr val="1E3A5F"/>
            </a:solidFill>
          </p:spPr>
          <p:txBody>
            <a:bodyPr/>
            <a:lstStyle/>
            <a:p>
              <a:endParaRPr lang="en-US"/>
            </a:p>
          </p:txBody>
        </p:sp>
      </p:grpSp>
      <p:grpSp>
        <p:nvGrpSpPr>
          <p:cNvPr id="14" name="Group 14"/>
          <p:cNvGrpSpPr/>
          <p:nvPr/>
        </p:nvGrpSpPr>
        <p:grpSpPr>
          <a:xfrm>
            <a:off x="10394756" y="4425848"/>
            <a:ext cx="1638300" cy="1384106"/>
            <a:chOff x="0" y="0"/>
            <a:chExt cx="2184400" cy="1845475"/>
          </a:xfrm>
        </p:grpSpPr>
        <p:sp>
          <p:nvSpPr>
            <p:cNvPr id="15" name="Freeform 15"/>
            <p:cNvSpPr/>
            <p:nvPr/>
          </p:nvSpPr>
          <p:spPr>
            <a:xfrm>
              <a:off x="0" y="0"/>
              <a:ext cx="2184400" cy="1845437"/>
            </a:xfrm>
            <a:custGeom>
              <a:avLst/>
              <a:gdLst/>
              <a:ahLst/>
              <a:cxnLst/>
              <a:rect l="l" t="t" r="r" b="b"/>
              <a:pathLst>
                <a:path w="2184400" h="1845437">
                  <a:moveTo>
                    <a:pt x="25400" y="0"/>
                  </a:moveTo>
                  <a:lnTo>
                    <a:pt x="2159000" y="0"/>
                  </a:lnTo>
                  <a:cubicBezTo>
                    <a:pt x="2172970" y="0"/>
                    <a:pt x="2184400" y="11430"/>
                    <a:pt x="2184400" y="25400"/>
                  </a:cubicBezTo>
                  <a:lnTo>
                    <a:pt x="2184400" y="1820037"/>
                  </a:lnTo>
                  <a:cubicBezTo>
                    <a:pt x="2184400" y="1834007"/>
                    <a:pt x="2172970" y="1845437"/>
                    <a:pt x="2159000" y="1845437"/>
                  </a:cubicBezTo>
                  <a:lnTo>
                    <a:pt x="25400" y="1845437"/>
                  </a:lnTo>
                  <a:cubicBezTo>
                    <a:pt x="11430" y="1845437"/>
                    <a:pt x="0" y="1834007"/>
                    <a:pt x="0" y="1820037"/>
                  </a:cubicBezTo>
                  <a:lnTo>
                    <a:pt x="0" y="25400"/>
                  </a:lnTo>
                  <a:cubicBezTo>
                    <a:pt x="0" y="11430"/>
                    <a:pt x="11430" y="0"/>
                    <a:pt x="25400" y="0"/>
                  </a:cubicBezTo>
                  <a:moveTo>
                    <a:pt x="25400" y="50800"/>
                  </a:moveTo>
                  <a:lnTo>
                    <a:pt x="25400" y="25400"/>
                  </a:lnTo>
                  <a:lnTo>
                    <a:pt x="50800" y="25400"/>
                  </a:lnTo>
                  <a:lnTo>
                    <a:pt x="50800" y="1820037"/>
                  </a:lnTo>
                  <a:lnTo>
                    <a:pt x="25400" y="1820037"/>
                  </a:lnTo>
                  <a:lnTo>
                    <a:pt x="25400" y="1794637"/>
                  </a:lnTo>
                  <a:lnTo>
                    <a:pt x="2159000" y="1794637"/>
                  </a:lnTo>
                  <a:lnTo>
                    <a:pt x="2159000" y="1820037"/>
                  </a:lnTo>
                  <a:lnTo>
                    <a:pt x="2133600" y="1820037"/>
                  </a:lnTo>
                  <a:lnTo>
                    <a:pt x="2133600" y="25400"/>
                  </a:lnTo>
                  <a:lnTo>
                    <a:pt x="2159000" y="25400"/>
                  </a:lnTo>
                  <a:lnTo>
                    <a:pt x="2159000" y="50800"/>
                  </a:lnTo>
                  <a:lnTo>
                    <a:pt x="25400" y="50800"/>
                  </a:lnTo>
                  <a:close/>
                </a:path>
              </a:pathLst>
            </a:custGeom>
            <a:solidFill>
              <a:srgbClr val="22D3EE"/>
            </a:solidFill>
          </p:spPr>
          <p:txBody>
            <a:bodyPr/>
            <a:lstStyle/>
            <a:p>
              <a:endParaRPr lang="en-US"/>
            </a:p>
          </p:txBody>
        </p:sp>
      </p:grpSp>
      <p:grpSp>
        <p:nvGrpSpPr>
          <p:cNvPr id="16" name="Group 16"/>
          <p:cNvGrpSpPr/>
          <p:nvPr/>
        </p:nvGrpSpPr>
        <p:grpSpPr>
          <a:xfrm>
            <a:off x="12172950" y="4425848"/>
            <a:ext cx="1892198" cy="1765106"/>
            <a:chOff x="0" y="0"/>
            <a:chExt cx="2522931" cy="2353475"/>
          </a:xfrm>
        </p:grpSpPr>
        <p:sp>
          <p:nvSpPr>
            <p:cNvPr id="17" name="Freeform 17"/>
            <p:cNvSpPr/>
            <p:nvPr/>
          </p:nvSpPr>
          <p:spPr>
            <a:xfrm>
              <a:off x="0" y="0"/>
              <a:ext cx="2522982" cy="2353437"/>
            </a:xfrm>
            <a:custGeom>
              <a:avLst/>
              <a:gdLst/>
              <a:ahLst/>
              <a:cxnLst/>
              <a:rect l="l" t="t" r="r" b="b"/>
              <a:pathLst>
                <a:path w="2522982" h="2353437">
                  <a:moveTo>
                    <a:pt x="25400" y="0"/>
                  </a:moveTo>
                  <a:lnTo>
                    <a:pt x="2497582" y="0"/>
                  </a:lnTo>
                  <a:cubicBezTo>
                    <a:pt x="2511552" y="0"/>
                    <a:pt x="2522982" y="11430"/>
                    <a:pt x="2522982" y="25400"/>
                  </a:cubicBezTo>
                  <a:lnTo>
                    <a:pt x="2522982" y="2328037"/>
                  </a:lnTo>
                  <a:cubicBezTo>
                    <a:pt x="2522982" y="2342007"/>
                    <a:pt x="2511552" y="2353437"/>
                    <a:pt x="2497582" y="2353437"/>
                  </a:cubicBezTo>
                  <a:lnTo>
                    <a:pt x="25400" y="2353437"/>
                  </a:lnTo>
                  <a:cubicBezTo>
                    <a:pt x="11430" y="2353437"/>
                    <a:pt x="0" y="2342007"/>
                    <a:pt x="0" y="2328037"/>
                  </a:cubicBezTo>
                  <a:lnTo>
                    <a:pt x="0" y="25400"/>
                  </a:lnTo>
                  <a:cubicBezTo>
                    <a:pt x="0" y="11430"/>
                    <a:pt x="11430" y="0"/>
                    <a:pt x="25400" y="0"/>
                  </a:cubicBezTo>
                  <a:moveTo>
                    <a:pt x="25400" y="50800"/>
                  </a:moveTo>
                  <a:lnTo>
                    <a:pt x="25400" y="25400"/>
                  </a:lnTo>
                  <a:lnTo>
                    <a:pt x="50800" y="25400"/>
                  </a:lnTo>
                  <a:lnTo>
                    <a:pt x="50800" y="2328037"/>
                  </a:lnTo>
                  <a:lnTo>
                    <a:pt x="25400" y="2328037"/>
                  </a:lnTo>
                  <a:lnTo>
                    <a:pt x="25400" y="2302637"/>
                  </a:lnTo>
                  <a:lnTo>
                    <a:pt x="2497582" y="2302637"/>
                  </a:lnTo>
                  <a:lnTo>
                    <a:pt x="2497582" y="2328037"/>
                  </a:lnTo>
                  <a:lnTo>
                    <a:pt x="2472182" y="2328037"/>
                  </a:lnTo>
                  <a:lnTo>
                    <a:pt x="2472182" y="25400"/>
                  </a:lnTo>
                  <a:lnTo>
                    <a:pt x="2497582" y="25400"/>
                  </a:lnTo>
                  <a:lnTo>
                    <a:pt x="2497582" y="50800"/>
                  </a:lnTo>
                  <a:lnTo>
                    <a:pt x="25400" y="50800"/>
                  </a:lnTo>
                  <a:close/>
                </a:path>
              </a:pathLst>
            </a:custGeom>
            <a:solidFill>
              <a:srgbClr val="22D3EE"/>
            </a:solidFill>
          </p:spPr>
          <p:txBody>
            <a:bodyPr/>
            <a:lstStyle/>
            <a:p>
              <a:endParaRPr lang="en-US"/>
            </a:p>
          </p:txBody>
        </p:sp>
      </p:grpSp>
      <p:grpSp>
        <p:nvGrpSpPr>
          <p:cNvPr id="18" name="Group 18"/>
          <p:cNvGrpSpPr/>
          <p:nvPr/>
        </p:nvGrpSpPr>
        <p:grpSpPr>
          <a:xfrm>
            <a:off x="14204756" y="4425848"/>
            <a:ext cx="2146106" cy="1384106"/>
            <a:chOff x="0" y="0"/>
            <a:chExt cx="2861475" cy="1845475"/>
          </a:xfrm>
        </p:grpSpPr>
        <p:sp>
          <p:nvSpPr>
            <p:cNvPr id="19" name="Freeform 19"/>
            <p:cNvSpPr/>
            <p:nvPr/>
          </p:nvSpPr>
          <p:spPr>
            <a:xfrm>
              <a:off x="0" y="0"/>
              <a:ext cx="2861437" cy="1845437"/>
            </a:xfrm>
            <a:custGeom>
              <a:avLst/>
              <a:gdLst/>
              <a:ahLst/>
              <a:cxnLst/>
              <a:rect l="l" t="t" r="r" b="b"/>
              <a:pathLst>
                <a:path w="2861437" h="1845437">
                  <a:moveTo>
                    <a:pt x="25400" y="0"/>
                  </a:moveTo>
                  <a:lnTo>
                    <a:pt x="2836037" y="0"/>
                  </a:lnTo>
                  <a:cubicBezTo>
                    <a:pt x="2850007" y="0"/>
                    <a:pt x="2861437" y="11430"/>
                    <a:pt x="2861437" y="25400"/>
                  </a:cubicBezTo>
                  <a:lnTo>
                    <a:pt x="2861437" y="1820037"/>
                  </a:lnTo>
                  <a:cubicBezTo>
                    <a:pt x="2861437" y="1834007"/>
                    <a:pt x="2850007" y="1845437"/>
                    <a:pt x="2836037" y="1845437"/>
                  </a:cubicBezTo>
                  <a:lnTo>
                    <a:pt x="25400" y="1845437"/>
                  </a:lnTo>
                  <a:cubicBezTo>
                    <a:pt x="11430" y="1845437"/>
                    <a:pt x="0" y="1834007"/>
                    <a:pt x="0" y="1820037"/>
                  </a:cubicBezTo>
                  <a:lnTo>
                    <a:pt x="0" y="25400"/>
                  </a:lnTo>
                  <a:cubicBezTo>
                    <a:pt x="0" y="11430"/>
                    <a:pt x="11430" y="0"/>
                    <a:pt x="25400" y="0"/>
                  </a:cubicBezTo>
                  <a:moveTo>
                    <a:pt x="25400" y="50800"/>
                  </a:moveTo>
                  <a:lnTo>
                    <a:pt x="25400" y="25400"/>
                  </a:lnTo>
                  <a:lnTo>
                    <a:pt x="50800" y="25400"/>
                  </a:lnTo>
                  <a:lnTo>
                    <a:pt x="50800" y="1820037"/>
                  </a:lnTo>
                  <a:lnTo>
                    <a:pt x="25400" y="1820037"/>
                  </a:lnTo>
                  <a:lnTo>
                    <a:pt x="25400" y="1794637"/>
                  </a:lnTo>
                  <a:lnTo>
                    <a:pt x="2836037" y="1794637"/>
                  </a:lnTo>
                  <a:lnTo>
                    <a:pt x="2836037" y="1820037"/>
                  </a:lnTo>
                  <a:lnTo>
                    <a:pt x="2810637" y="1820037"/>
                  </a:lnTo>
                  <a:lnTo>
                    <a:pt x="2810637" y="25400"/>
                  </a:lnTo>
                  <a:lnTo>
                    <a:pt x="2836037" y="25400"/>
                  </a:lnTo>
                  <a:lnTo>
                    <a:pt x="2836037" y="50800"/>
                  </a:lnTo>
                  <a:lnTo>
                    <a:pt x="25400" y="50800"/>
                  </a:lnTo>
                  <a:close/>
                </a:path>
              </a:pathLst>
            </a:custGeom>
            <a:solidFill>
              <a:srgbClr val="22D3EE"/>
            </a:solidFill>
          </p:spPr>
          <p:txBody>
            <a:bodyPr/>
            <a:lstStyle/>
            <a:p>
              <a:endParaRPr lang="en-US"/>
            </a:p>
          </p:txBody>
        </p:sp>
      </p:grpSp>
      <p:grpSp>
        <p:nvGrpSpPr>
          <p:cNvPr id="20" name="Group 20"/>
          <p:cNvGrpSpPr/>
          <p:nvPr/>
        </p:nvGrpSpPr>
        <p:grpSpPr>
          <a:xfrm>
            <a:off x="10394756" y="5949848"/>
            <a:ext cx="2019300" cy="1892198"/>
            <a:chOff x="0" y="0"/>
            <a:chExt cx="2692400" cy="2522931"/>
          </a:xfrm>
        </p:grpSpPr>
        <p:sp>
          <p:nvSpPr>
            <p:cNvPr id="21" name="Freeform 21"/>
            <p:cNvSpPr/>
            <p:nvPr/>
          </p:nvSpPr>
          <p:spPr>
            <a:xfrm>
              <a:off x="0" y="0"/>
              <a:ext cx="2692400" cy="2522982"/>
            </a:xfrm>
            <a:custGeom>
              <a:avLst/>
              <a:gdLst/>
              <a:ahLst/>
              <a:cxnLst/>
              <a:rect l="l" t="t" r="r" b="b"/>
              <a:pathLst>
                <a:path w="2692400" h="2522982">
                  <a:moveTo>
                    <a:pt x="25400" y="0"/>
                  </a:moveTo>
                  <a:lnTo>
                    <a:pt x="2667000" y="0"/>
                  </a:lnTo>
                  <a:cubicBezTo>
                    <a:pt x="2680970" y="0"/>
                    <a:pt x="2692400" y="11430"/>
                    <a:pt x="2692400" y="25400"/>
                  </a:cubicBezTo>
                  <a:lnTo>
                    <a:pt x="2692400" y="2497582"/>
                  </a:lnTo>
                  <a:cubicBezTo>
                    <a:pt x="2692400" y="2511552"/>
                    <a:pt x="2680970" y="2522982"/>
                    <a:pt x="2667000" y="2522982"/>
                  </a:cubicBezTo>
                  <a:lnTo>
                    <a:pt x="25400" y="2522982"/>
                  </a:lnTo>
                  <a:cubicBezTo>
                    <a:pt x="11430" y="2522982"/>
                    <a:pt x="0" y="2511552"/>
                    <a:pt x="0" y="2497582"/>
                  </a:cubicBezTo>
                  <a:lnTo>
                    <a:pt x="0" y="25400"/>
                  </a:lnTo>
                  <a:cubicBezTo>
                    <a:pt x="0" y="11430"/>
                    <a:pt x="11430" y="0"/>
                    <a:pt x="25400" y="0"/>
                  </a:cubicBezTo>
                  <a:moveTo>
                    <a:pt x="25400" y="50800"/>
                  </a:moveTo>
                  <a:lnTo>
                    <a:pt x="25400" y="25400"/>
                  </a:lnTo>
                  <a:lnTo>
                    <a:pt x="50800" y="25400"/>
                  </a:lnTo>
                  <a:lnTo>
                    <a:pt x="50800" y="2497582"/>
                  </a:lnTo>
                  <a:lnTo>
                    <a:pt x="25400" y="2497582"/>
                  </a:lnTo>
                  <a:lnTo>
                    <a:pt x="25400" y="2472182"/>
                  </a:lnTo>
                  <a:lnTo>
                    <a:pt x="2667000" y="2472182"/>
                  </a:lnTo>
                  <a:lnTo>
                    <a:pt x="2667000" y="2497582"/>
                  </a:lnTo>
                  <a:lnTo>
                    <a:pt x="2641600" y="2497582"/>
                  </a:lnTo>
                  <a:lnTo>
                    <a:pt x="2641600" y="25400"/>
                  </a:lnTo>
                  <a:lnTo>
                    <a:pt x="2667000" y="25400"/>
                  </a:lnTo>
                  <a:lnTo>
                    <a:pt x="2667000" y="50800"/>
                  </a:lnTo>
                  <a:lnTo>
                    <a:pt x="25400" y="50800"/>
                  </a:lnTo>
                  <a:close/>
                </a:path>
              </a:pathLst>
            </a:custGeom>
            <a:solidFill>
              <a:srgbClr val="22D3EE"/>
            </a:solidFill>
          </p:spPr>
          <p:txBody>
            <a:bodyPr/>
            <a:lstStyle/>
            <a:p>
              <a:endParaRPr lang="en-US"/>
            </a:p>
          </p:txBody>
        </p:sp>
      </p:grpSp>
      <p:grpSp>
        <p:nvGrpSpPr>
          <p:cNvPr id="22" name="Group 22"/>
          <p:cNvGrpSpPr/>
          <p:nvPr/>
        </p:nvGrpSpPr>
        <p:grpSpPr>
          <a:xfrm>
            <a:off x="12553950" y="6330848"/>
            <a:ext cx="1892198" cy="1511198"/>
            <a:chOff x="0" y="0"/>
            <a:chExt cx="2522931" cy="2014931"/>
          </a:xfrm>
        </p:grpSpPr>
        <p:sp>
          <p:nvSpPr>
            <p:cNvPr id="23" name="Freeform 23"/>
            <p:cNvSpPr/>
            <p:nvPr/>
          </p:nvSpPr>
          <p:spPr>
            <a:xfrm>
              <a:off x="0" y="0"/>
              <a:ext cx="2522982" cy="2014982"/>
            </a:xfrm>
            <a:custGeom>
              <a:avLst/>
              <a:gdLst/>
              <a:ahLst/>
              <a:cxnLst/>
              <a:rect l="l" t="t" r="r" b="b"/>
              <a:pathLst>
                <a:path w="2522982" h="2014982">
                  <a:moveTo>
                    <a:pt x="25400" y="0"/>
                  </a:moveTo>
                  <a:lnTo>
                    <a:pt x="2497582" y="0"/>
                  </a:lnTo>
                  <a:cubicBezTo>
                    <a:pt x="2511552" y="0"/>
                    <a:pt x="2522982" y="11430"/>
                    <a:pt x="2522982" y="25400"/>
                  </a:cubicBezTo>
                  <a:lnTo>
                    <a:pt x="2522982" y="1989582"/>
                  </a:lnTo>
                  <a:cubicBezTo>
                    <a:pt x="2522982" y="2003552"/>
                    <a:pt x="2511552" y="2014982"/>
                    <a:pt x="2497582" y="2014982"/>
                  </a:cubicBezTo>
                  <a:lnTo>
                    <a:pt x="25400" y="2014982"/>
                  </a:lnTo>
                  <a:cubicBezTo>
                    <a:pt x="11430" y="2014982"/>
                    <a:pt x="0" y="2003552"/>
                    <a:pt x="0" y="1989582"/>
                  </a:cubicBezTo>
                  <a:lnTo>
                    <a:pt x="0" y="25400"/>
                  </a:lnTo>
                  <a:cubicBezTo>
                    <a:pt x="0" y="11430"/>
                    <a:pt x="11430" y="0"/>
                    <a:pt x="25400" y="0"/>
                  </a:cubicBezTo>
                  <a:moveTo>
                    <a:pt x="25400" y="50800"/>
                  </a:moveTo>
                  <a:lnTo>
                    <a:pt x="25400" y="25400"/>
                  </a:lnTo>
                  <a:lnTo>
                    <a:pt x="50800" y="25400"/>
                  </a:lnTo>
                  <a:lnTo>
                    <a:pt x="50800" y="1989582"/>
                  </a:lnTo>
                  <a:lnTo>
                    <a:pt x="25400" y="1989582"/>
                  </a:lnTo>
                  <a:lnTo>
                    <a:pt x="25400" y="1964182"/>
                  </a:lnTo>
                  <a:lnTo>
                    <a:pt x="2497582" y="1964182"/>
                  </a:lnTo>
                  <a:lnTo>
                    <a:pt x="2497582" y="1989582"/>
                  </a:lnTo>
                  <a:lnTo>
                    <a:pt x="2472182" y="1989582"/>
                  </a:lnTo>
                  <a:lnTo>
                    <a:pt x="2472182" y="25400"/>
                  </a:lnTo>
                  <a:lnTo>
                    <a:pt x="2497582" y="25400"/>
                  </a:lnTo>
                  <a:lnTo>
                    <a:pt x="2497582" y="50800"/>
                  </a:lnTo>
                  <a:lnTo>
                    <a:pt x="25400" y="50800"/>
                  </a:lnTo>
                  <a:close/>
                </a:path>
              </a:pathLst>
            </a:custGeom>
            <a:solidFill>
              <a:srgbClr val="22D3EE"/>
            </a:solidFill>
          </p:spPr>
          <p:txBody>
            <a:bodyPr/>
            <a:lstStyle/>
            <a:p>
              <a:endParaRPr lang="en-US"/>
            </a:p>
          </p:txBody>
        </p:sp>
      </p:grpSp>
      <p:grpSp>
        <p:nvGrpSpPr>
          <p:cNvPr id="24" name="Group 24"/>
          <p:cNvGrpSpPr/>
          <p:nvPr/>
        </p:nvGrpSpPr>
        <p:grpSpPr>
          <a:xfrm>
            <a:off x="14585756" y="5949848"/>
            <a:ext cx="1765106" cy="2019300"/>
            <a:chOff x="0" y="0"/>
            <a:chExt cx="2353475" cy="2692400"/>
          </a:xfrm>
        </p:grpSpPr>
        <p:sp>
          <p:nvSpPr>
            <p:cNvPr id="25" name="Freeform 25"/>
            <p:cNvSpPr/>
            <p:nvPr/>
          </p:nvSpPr>
          <p:spPr>
            <a:xfrm>
              <a:off x="0" y="0"/>
              <a:ext cx="2353437" cy="2692400"/>
            </a:xfrm>
            <a:custGeom>
              <a:avLst/>
              <a:gdLst/>
              <a:ahLst/>
              <a:cxnLst/>
              <a:rect l="l" t="t" r="r" b="b"/>
              <a:pathLst>
                <a:path w="2353437" h="2692400">
                  <a:moveTo>
                    <a:pt x="25400" y="0"/>
                  </a:moveTo>
                  <a:lnTo>
                    <a:pt x="2328037" y="0"/>
                  </a:lnTo>
                  <a:cubicBezTo>
                    <a:pt x="2342007" y="0"/>
                    <a:pt x="2353437" y="11430"/>
                    <a:pt x="2353437" y="25400"/>
                  </a:cubicBezTo>
                  <a:lnTo>
                    <a:pt x="2353437" y="2667000"/>
                  </a:lnTo>
                  <a:cubicBezTo>
                    <a:pt x="2353437" y="2680970"/>
                    <a:pt x="2342007" y="2692400"/>
                    <a:pt x="2328037" y="2692400"/>
                  </a:cubicBezTo>
                  <a:lnTo>
                    <a:pt x="25400" y="2692400"/>
                  </a:lnTo>
                  <a:cubicBezTo>
                    <a:pt x="11430" y="2692400"/>
                    <a:pt x="0" y="2680970"/>
                    <a:pt x="0" y="2667000"/>
                  </a:cubicBezTo>
                  <a:lnTo>
                    <a:pt x="0" y="25400"/>
                  </a:lnTo>
                  <a:cubicBezTo>
                    <a:pt x="0" y="11430"/>
                    <a:pt x="11430" y="0"/>
                    <a:pt x="25400" y="0"/>
                  </a:cubicBezTo>
                  <a:moveTo>
                    <a:pt x="25400" y="50800"/>
                  </a:moveTo>
                  <a:lnTo>
                    <a:pt x="25400" y="25400"/>
                  </a:lnTo>
                  <a:lnTo>
                    <a:pt x="50800" y="25400"/>
                  </a:lnTo>
                  <a:lnTo>
                    <a:pt x="50800" y="2667000"/>
                  </a:lnTo>
                  <a:lnTo>
                    <a:pt x="25400" y="2667000"/>
                  </a:lnTo>
                  <a:lnTo>
                    <a:pt x="25400" y="2641600"/>
                  </a:lnTo>
                  <a:lnTo>
                    <a:pt x="2328037" y="2641600"/>
                  </a:lnTo>
                  <a:lnTo>
                    <a:pt x="2328037" y="2667000"/>
                  </a:lnTo>
                  <a:lnTo>
                    <a:pt x="2302637" y="2667000"/>
                  </a:lnTo>
                  <a:lnTo>
                    <a:pt x="2302637" y="25400"/>
                  </a:lnTo>
                  <a:lnTo>
                    <a:pt x="2328037" y="25400"/>
                  </a:lnTo>
                  <a:lnTo>
                    <a:pt x="2328037" y="50800"/>
                  </a:lnTo>
                  <a:lnTo>
                    <a:pt x="25400" y="50800"/>
                  </a:lnTo>
                  <a:close/>
                </a:path>
              </a:pathLst>
            </a:custGeom>
            <a:solidFill>
              <a:srgbClr val="22D3EE"/>
            </a:solidFill>
          </p:spPr>
          <p:txBody>
            <a:bodyPr/>
            <a:lstStyle/>
            <a:p>
              <a:endParaRPr lang="en-US"/>
            </a:p>
          </p:txBody>
        </p:sp>
      </p:grpSp>
      <p:grpSp>
        <p:nvGrpSpPr>
          <p:cNvPr id="26" name="Group 26"/>
          <p:cNvGrpSpPr/>
          <p:nvPr/>
        </p:nvGrpSpPr>
        <p:grpSpPr>
          <a:xfrm>
            <a:off x="10394756" y="7981950"/>
            <a:ext cx="2400300" cy="1257300"/>
            <a:chOff x="0" y="0"/>
            <a:chExt cx="3200400" cy="1676400"/>
          </a:xfrm>
        </p:grpSpPr>
        <p:sp>
          <p:nvSpPr>
            <p:cNvPr id="27" name="Freeform 27"/>
            <p:cNvSpPr/>
            <p:nvPr/>
          </p:nvSpPr>
          <p:spPr>
            <a:xfrm>
              <a:off x="0" y="0"/>
              <a:ext cx="3200400" cy="1676400"/>
            </a:xfrm>
            <a:custGeom>
              <a:avLst/>
              <a:gdLst/>
              <a:ahLst/>
              <a:cxnLst/>
              <a:rect l="l" t="t" r="r" b="b"/>
              <a:pathLst>
                <a:path w="3200400" h="1676400">
                  <a:moveTo>
                    <a:pt x="25400" y="0"/>
                  </a:moveTo>
                  <a:lnTo>
                    <a:pt x="3175000" y="0"/>
                  </a:lnTo>
                  <a:cubicBezTo>
                    <a:pt x="3188970" y="0"/>
                    <a:pt x="3200400" y="11430"/>
                    <a:pt x="3200400" y="25400"/>
                  </a:cubicBezTo>
                  <a:lnTo>
                    <a:pt x="3200400" y="1651000"/>
                  </a:lnTo>
                  <a:cubicBezTo>
                    <a:pt x="3200400" y="1664970"/>
                    <a:pt x="3188970" y="1676400"/>
                    <a:pt x="3175000" y="1676400"/>
                  </a:cubicBezTo>
                  <a:lnTo>
                    <a:pt x="25400" y="1676400"/>
                  </a:lnTo>
                  <a:cubicBezTo>
                    <a:pt x="11430" y="1676400"/>
                    <a:pt x="0" y="1664970"/>
                    <a:pt x="0" y="1651000"/>
                  </a:cubicBezTo>
                  <a:lnTo>
                    <a:pt x="0" y="25400"/>
                  </a:lnTo>
                  <a:cubicBezTo>
                    <a:pt x="0" y="11430"/>
                    <a:pt x="11430" y="0"/>
                    <a:pt x="25400" y="0"/>
                  </a:cubicBezTo>
                  <a:moveTo>
                    <a:pt x="25400" y="50800"/>
                  </a:moveTo>
                  <a:lnTo>
                    <a:pt x="25400" y="25400"/>
                  </a:lnTo>
                  <a:lnTo>
                    <a:pt x="50800" y="25400"/>
                  </a:lnTo>
                  <a:lnTo>
                    <a:pt x="50800" y="1651000"/>
                  </a:lnTo>
                  <a:lnTo>
                    <a:pt x="25400" y="1651000"/>
                  </a:lnTo>
                  <a:lnTo>
                    <a:pt x="25400" y="1625600"/>
                  </a:lnTo>
                  <a:lnTo>
                    <a:pt x="3175000" y="1625600"/>
                  </a:lnTo>
                  <a:lnTo>
                    <a:pt x="3175000" y="1651000"/>
                  </a:lnTo>
                  <a:lnTo>
                    <a:pt x="3149600" y="1651000"/>
                  </a:lnTo>
                  <a:lnTo>
                    <a:pt x="3149600" y="25400"/>
                  </a:lnTo>
                  <a:lnTo>
                    <a:pt x="3175000" y="25400"/>
                  </a:lnTo>
                  <a:lnTo>
                    <a:pt x="3175000" y="50800"/>
                  </a:lnTo>
                  <a:lnTo>
                    <a:pt x="25400" y="50800"/>
                  </a:lnTo>
                  <a:close/>
                </a:path>
              </a:pathLst>
            </a:custGeom>
            <a:solidFill>
              <a:srgbClr val="22D3EE"/>
            </a:solidFill>
          </p:spPr>
          <p:txBody>
            <a:bodyPr/>
            <a:lstStyle/>
            <a:p>
              <a:endParaRPr lang="en-US"/>
            </a:p>
          </p:txBody>
        </p:sp>
      </p:grpSp>
      <p:grpSp>
        <p:nvGrpSpPr>
          <p:cNvPr id="28" name="Group 28"/>
          <p:cNvGrpSpPr/>
          <p:nvPr/>
        </p:nvGrpSpPr>
        <p:grpSpPr>
          <a:xfrm>
            <a:off x="12934950" y="7981950"/>
            <a:ext cx="3416198" cy="1257300"/>
            <a:chOff x="0" y="0"/>
            <a:chExt cx="4554931" cy="1676400"/>
          </a:xfrm>
        </p:grpSpPr>
        <p:sp>
          <p:nvSpPr>
            <p:cNvPr id="29" name="Freeform 29"/>
            <p:cNvSpPr/>
            <p:nvPr/>
          </p:nvSpPr>
          <p:spPr>
            <a:xfrm>
              <a:off x="0" y="0"/>
              <a:ext cx="4554982" cy="1676400"/>
            </a:xfrm>
            <a:custGeom>
              <a:avLst/>
              <a:gdLst/>
              <a:ahLst/>
              <a:cxnLst/>
              <a:rect l="l" t="t" r="r" b="b"/>
              <a:pathLst>
                <a:path w="4554982" h="1676400">
                  <a:moveTo>
                    <a:pt x="25400" y="0"/>
                  </a:moveTo>
                  <a:lnTo>
                    <a:pt x="4529582" y="0"/>
                  </a:lnTo>
                  <a:cubicBezTo>
                    <a:pt x="4543552" y="0"/>
                    <a:pt x="4554982" y="11430"/>
                    <a:pt x="4554982" y="25400"/>
                  </a:cubicBezTo>
                  <a:lnTo>
                    <a:pt x="4554982" y="1651000"/>
                  </a:lnTo>
                  <a:cubicBezTo>
                    <a:pt x="4554982" y="1664970"/>
                    <a:pt x="4543552" y="1676400"/>
                    <a:pt x="4529582" y="1676400"/>
                  </a:cubicBezTo>
                  <a:lnTo>
                    <a:pt x="25400" y="1676400"/>
                  </a:lnTo>
                  <a:cubicBezTo>
                    <a:pt x="11430" y="1676400"/>
                    <a:pt x="0" y="1664970"/>
                    <a:pt x="0" y="1651000"/>
                  </a:cubicBezTo>
                  <a:lnTo>
                    <a:pt x="0" y="25400"/>
                  </a:lnTo>
                  <a:cubicBezTo>
                    <a:pt x="0" y="11430"/>
                    <a:pt x="11430" y="0"/>
                    <a:pt x="25400" y="0"/>
                  </a:cubicBezTo>
                  <a:moveTo>
                    <a:pt x="25400" y="50800"/>
                  </a:moveTo>
                  <a:lnTo>
                    <a:pt x="25400" y="25400"/>
                  </a:lnTo>
                  <a:lnTo>
                    <a:pt x="50800" y="25400"/>
                  </a:lnTo>
                  <a:lnTo>
                    <a:pt x="50800" y="1651000"/>
                  </a:lnTo>
                  <a:lnTo>
                    <a:pt x="25400" y="1651000"/>
                  </a:lnTo>
                  <a:lnTo>
                    <a:pt x="25400" y="1625600"/>
                  </a:lnTo>
                  <a:lnTo>
                    <a:pt x="4529582" y="1625600"/>
                  </a:lnTo>
                  <a:lnTo>
                    <a:pt x="4529582" y="1651000"/>
                  </a:lnTo>
                  <a:lnTo>
                    <a:pt x="4504182" y="1651000"/>
                  </a:lnTo>
                  <a:lnTo>
                    <a:pt x="4504182" y="25400"/>
                  </a:lnTo>
                  <a:lnTo>
                    <a:pt x="4529582" y="25400"/>
                  </a:lnTo>
                  <a:lnTo>
                    <a:pt x="4529582" y="50800"/>
                  </a:lnTo>
                  <a:lnTo>
                    <a:pt x="25400" y="50800"/>
                  </a:lnTo>
                  <a:close/>
                </a:path>
              </a:pathLst>
            </a:custGeom>
            <a:solidFill>
              <a:srgbClr val="22D3EE"/>
            </a:solidFill>
          </p:spPr>
          <p:txBody>
            <a:bodyPr/>
            <a:lstStyle/>
            <a:p>
              <a:endParaRPr lang="en-US"/>
            </a:p>
          </p:txBody>
        </p:sp>
      </p:grpSp>
      <p:grpSp>
        <p:nvGrpSpPr>
          <p:cNvPr id="30" name="Group 30"/>
          <p:cNvGrpSpPr/>
          <p:nvPr/>
        </p:nvGrpSpPr>
        <p:grpSpPr>
          <a:xfrm>
            <a:off x="10794806" y="4953000"/>
            <a:ext cx="101498" cy="101498"/>
            <a:chOff x="0" y="0"/>
            <a:chExt cx="135331" cy="135331"/>
          </a:xfrm>
        </p:grpSpPr>
        <p:sp>
          <p:nvSpPr>
            <p:cNvPr id="31" name="Freeform 31"/>
            <p:cNvSpPr/>
            <p:nvPr/>
          </p:nvSpPr>
          <p:spPr>
            <a:xfrm>
              <a:off x="0" y="0"/>
              <a:ext cx="135382" cy="135382"/>
            </a:xfrm>
            <a:custGeom>
              <a:avLst/>
              <a:gdLst/>
              <a:ahLst/>
              <a:cxnLst/>
              <a:rect l="l" t="t" r="r" b="b"/>
              <a:pathLst>
                <a:path w="135382" h="135382">
                  <a:moveTo>
                    <a:pt x="0" y="67691"/>
                  </a:moveTo>
                  <a:cubicBezTo>
                    <a:pt x="0" y="30353"/>
                    <a:pt x="30353" y="0"/>
                    <a:pt x="67691" y="0"/>
                  </a:cubicBezTo>
                  <a:cubicBezTo>
                    <a:pt x="105029" y="0"/>
                    <a:pt x="135382" y="30353"/>
                    <a:pt x="135382" y="67691"/>
                  </a:cubicBezTo>
                  <a:cubicBezTo>
                    <a:pt x="135382" y="105029"/>
                    <a:pt x="105029" y="135382"/>
                    <a:pt x="67691" y="135382"/>
                  </a:cubicBezTo>
                  <a:cubicBezTo>
                    <a:pt x="30353" y="135382"/>
                    <a:pt x="0" y="105029"/>
                    <a:pt x="0" y="67691"/>
                  </a:cubicBezTo>
                  <a:close/>
                </a:path>
              </a:pathLst>
            </a:custGeom>
            <a:solidFill>
              <a:srgbClr val="F1F5F9"/>
            </a:solidFill>
          </p:spPr>
          <p:txBody>
            <a:bodyPr/>
            <a:lstStyle/>
            <a:p>
              <a:endParaRPr lang="en-US"/>
            </a:p>
          </p:txBody>
        </p:sp>
      </p:grpSp>
      <p:grpSp>
        <p:nvGrpSpPr>
          <p:cNvPr id="32" name="Group 32"/>
          <p:cNvGrpSpPr/>
          <p:nvPr/>
        </p:nvGrpSpPr>
        <p:grpSpPr>
          <a:xfrm>
            <a:off x="11556806" y="5334000"/>
            <a:ext cx="101498" cy="101498"/>
            <a:chOff x="0" y="0"/>
            <a:chExt cx="135331" cy="135331"/>
          </a:xfrm>
        </p:grpSpPr>
        <p:sp>
          <p:nvSpPr>
            <p:cNvPr id="33" name="Freeform 33"/>
            <p:cNvSpPr/>
            <p:nvPr/>
          </p:nvSpPr>
          <p:spPr>
            <a:xfrm>
              <a:off x="0" y="0"/>
              <a:ext cx="135382" cy="135382"/>
            </a:xfrm>
            <a:custGeom>
              <a:avLst/>
              <a:gdLst/>
              <a:ahLst/>
              <a:cxnLst/>
              <a:rect l="l" t="t" r="r" b="b"/>
              <a:pathLst>
                <a:path w="135382" h="135382">
                  <a:moveTo>
                    <a:pt x="0" y="67691"/>
                  </a:moveTo>
                  <a:cubicBezTo>
                    <a:pt x="0" y="30353"/>
                    <a:pt x="30353" y="0"/>
                    <a:pt x="67691" y="0"/>
                  </a:cubicBezTo>
                  <a:cubicBezTo>
                    <a:pt x="105029" y="0"/>
                    <a:pt x="135382" y="30353"/>
                    <a:pt x="135382" y="67691"/>
                  </a:cubicBezTo>
                  <a:cubicBezTo>
                    <a:pt x="135382" y="105029"/>
                    <a:pt x="105029" y="135382"/>
                    <a:pt x="67691" y="135382"/>
                  </a:cubicBezTo>
                  <a:cubicBezTo>
                    <a:pt x="30353" y="135382"/>
                    <a:pt x="0" y="105029"/>
                    <a:pt x="0" y="67691"/>
                  </a:cubicBezTo>
                  <a:close/>
                </a:path>
              </a:pathLst>
            </a:custGeom>
            <a:solidFill>
              <a:srgbClr val="F1F5F9"/>
            </a:solidFill>
          </p:spPr>
          <p:txBody>
            <a:bodyPr/>
            <a:lstStyle/>
            <a:p>
              <a:endParaRPr lang="en-US"/>
            </a:p>
          </p:txBody>
        </p:sp>
      </p:grpSp>
      <p:grpSp>
        <p:nvGrpSpPr>
          <p:cNvPr id="34" name="Group 34"/>
          <p:cNvGrpSpPr/>
          <p:nvPr/>
        </p:nvGrpSpPr>
        <p:grpSpPr>
          <a:xfrm>
            <a:off x="12699806" y="5079806"/>
            <a:ext cx="101498" cy="101498"/>
            <a:chOff x="0" y="0"/>
            <a:chExt cx="135331" cy="135331"/>
          </a:xfrm>
        </p:grpSpPr>
        <p:sp>
          <p:nvSpPr>
            <p:cNvPr id="35" name="Freeform 35"/>
            <p:cNvSpPr/>
            <p:nvPr/>
          </p:nvSpPr>
          <p:spPr>
            <a:xfrm>
              <a:off x="0" y="0"/>
              <a:ext cx="135382" cy="135382"/>
            </a:xfrm>
            <a:custGeom>
              <a:avLst/>
              <a:gdLst/>
              <a:ahLst/>
              <a:cxnLst/>
              <a:rect l="l" t="t" r="r" b="b"/>
              <a:pathLst>
                <a:path w="135382" h="135382">
                  <a:moveTo>
                    <a:pt x="0" y="67691"/>
                  </a:moveTo>
                  <a:cubicBezTo>
                    <a:pt x="0" y="30353"/>
                    <a:pt x="30353" y="0"/>
                    <a:pt x="67691" y="0"/>
                  </a:cubicBezTo>
                  <a:cubicBezTo>
                    <a:pt x="105029" y="0"/>
                    <a:pt x="135382" y="30353"/>
                    <a:pt x="135382" y="67691"/>
                  </a:cubicBezTo>
                  <a:cubicBezTo>
                    <a:pt x="135382" y="105029"/>
                    <a:pt x="105029" y="135382"/>
                    <a:pt x="67691" y="135382"/>
                  </a:cubicBezTo>
                  <a:cubicBezTo>
                    <a:pt x="30353" y="135382"/>
                    <a:pt x="0" y="105029"/>
                    <a:pt x="0" y="67691"/>
                  </a:cubicBezTo>
                  <a:close/>
                </a:path>
              </a:pathLst>
            </a:custGeom>
            <a:solidFill>
              <a:srgbClr val="F1F5F9"/>
            </a:solidFill>
          </p:spPr>
          <p:txBody>
            <a:bodyPr/>
            <a:lstStyle/>
            <a:p>
              <a:endParaRPr lang="en-US"/>
            </a:p>
          </p:txBody>
        </p:sp>
      </p:grpSp>
      <p:grpSp>
        <p:nvGrpSpPr>
          <p:cNvPr id="36" name="Group 36"/>
          <p:cNvGrpSpPr/>
          <p:nvPr/>
        </p:nvGrpSpPr>
        <p:grpSpPr>
          <a:xfrm>
            <a:off x="13461806" y="5460806"/>
            <a:ext cx="101498" cy="101498"/>
            <a:chOff x="0" y="0"/>
            <a:chExt cx="135331" cy="135331"/>
          </a:xfrm>
        </p:grpSpPr>
        <p:sp>
          <p:nvSpPr>
            <p:cNvPr id="37" name="Freeform 37"/>
            <p:cNvSpPr/>
            <p:nvPr/>
          </p:nvSpPr>
          <p:spPr>
            <a:xfrm>
              <a:off x="0" y="0"/>
              <a:ext cx="135382" cy="135382"/>
            </a:xfrm>
            <a:custGeom>
              <a:avLst/>
              <a:gdLst/>
              <a:ahLst/>
              <a:cxnLst/>
              <a:rect l="l" t="t" r="r" b="b"/>
              <a:pathLst>
                <a:path w="135382" h="135382">
                  <a:moveTo>
                    <a:pt x="0" y="67691"/>
                  </a:moveTo>
                  <a:cubicBezTo>
                    <a:pt x="0" y="30353"/>
                    <a:pt x="30353" y="0"/>
                    <a:pt x="67691" y="0"/>
                  </a:cubicBezTo>
                  <a:cubicBezTo>
                    <a:pt x="105029" y="0"/>
                    <a:pt x="135382" y="30353"/>
                    <a:pt x="135382" y="67691"/>
                  </a:cubicBezTo>
                  <a:cubicBezTo>
                    <a:pt x="135382" y="105029"/>
                    <a:pt x="105029" y="135382"/>
                    <a:pt x="67691" y="135382"/>
                  </a:cubicBezTo>
                  <a:cubicBezTo>
                    <a:pt x="30353" y="135382"/>
                    <a:pt x="0" y="105029"/>
                    <a:pt x="0" y="67691"/>
                  </a:cubicBezTo>
                  <a:close/>
                </a:path>
              </a:pathLst>
            </a:custGeom>
            <a:solidFill>
              <a:srgbClr val="22D3EE"/>
            </a:solidFill>
          </p:spPr>
          <p:txBody>
            <a:bodyPr/>
            <a:lstStyle/>
            <a:p>
              <a:endParaRPr lang="en-US"/>
            </a:p>
          </p:txBody>
        </p:sp>
      </p:grpSp>
      <p:grpSp>
        <p:nvGrpSpPr>
          <p:cNvPr id="38" name="Group 38"/>
          <p:cNvGrpSpPr/>
          <p:nvPr/>
        </p:nvGrpSpPr>
        <p:grpSpPr>
          <a:xfrm>
            <a:off x="14731898" y="4953000"/>
            <a:ext cx="101498" cy="101498"/>
            <a:chOff x="0" y="0"/>
            <a:chExt cx="135331" cy="135331"/>
          </a:xfrm>
        </p:grpSpPr>
        <p:sp>
          <p:nvSpPr>
            <p:cNvPr id="39" name="Freeform 39"/>
            <p:cNvSpPr/>
            <p:nvPr/>
          </p:nvSpPr>
          <p:spPr>
            <a:xfrm>
              <a:off x="0" y="0"/>
              <a:ext cx="135382" cy="135382"/>
            </a:xfrm>
            <a:custGeom>
              <a:avLst/>
              <a:gdLst/>
              <a:ahLst/>
              <a:cxnLst/>
              <a:rect l="l" t="t" r="r" b="b"/>
              <a:pathLst>
                <a:path w="135382" h="135382">
                  <a:moveTo>
                    <a:pt x="0" y="67691"/>
                  </a:moveTo>
                  <a:cubicBezTo>
                    <a:pt x="0" y="30353"/>
                    <a:pt x="30353" y="0"/>
                    <a:pt x="67691" y="0"/>
                  </a:cubicBezTo>
                  <a:cubicBezTo>
                    <a:pt x="105029" y="0"/>
                    <a:pt x="135382" y="30353"/>
                    <a:pt x="135382" y="67691"/>
                  </a:cubicBezTo>
                  <a:cubicBezTo>
                    <a:pt x="135382" y="105029"/>
                    <a:pt x="105029" y="135382"/>
                    <a:pt x="67691" y="135382"/>
                  </a:cubicBezTo>
                  <a:cubicBezTo>
                    <a:pt x="30353" y="135382"/>
                    <a:pt x="0" y="105029"/>
                    <a:pt x="0" y="67691"/>
                  </a:cubicBezTo>
                  <a:close/>
                </a:path>
              </a:pathLst>
            </a:custGeom>
            <a:solidFill>
              <a:srgbClr val="F1F5F9"/>
            </a:solidFill>
          </p:spPr>
          <p:txBody>
            <a:bodyPr/>
            <a:lstStyle/>
            <a:p>
              <a:endParaRPr lang="en-US"/>
            </a:p>
          </p:txBody>
        </p:sp>
      </p:grpSp>
      <p:grpSp>
        <p:nvGrpSpPr>
          <p:cNvPr id="40" name="Group 40"/>
          <p:cNvGrpSpPr/>
          <p:nvPr/>
        </p:nvGrpSpPr>
        <p:grpSpPr>
          <a:xfrm>
            <a:off x="15621000" y="5334000"/>
            <a:ext cx="101498" cy="101498"/>
            <a:chOff x="0" y="0"/>
            <a:chExt cx="135331" cy="135331"/>
          </a:xfrm>
        </p:grpSpPr>
        <p:sp>
          <p:nvSpPr>
            <p:cNvPr id="41" name="Freeform 41"/>
            <p:cNvSpPr/>
            <p:nvPr/>
          </p:nvSpPr>
          <p:spPr>
            <a:xfrm>
              <a:off x="0" y="0"/>
              <a:ext cx="135382" cy="135382"/>
            </a:xfrm>
            <a:custGeom>
              <a:avLst/>
              <a:gdLst/>
              <a:ahLst/>
              <a:cxnLst/>
              <a:rect l="l" t="t" r="r" b="b"/>
              <a:pathLst>
                <a:path w="135382" h="135382">
                  <a:moveTo>
                    <a:pt x="0" y="67691"/>
                  </a:moveTo>
                  <a:cubicBezTo>
                    <a:pt x="0" y="30353"/>
                    <a:pt x="30353" y="0"/>
                    <a:pt x="67691" y="0"/>
                  </a:cubicBezTo>
                  <a:cubicBezTo>
                    <a:pt x="105029" y="0"/>
                    <a:pt x="135382" y="30353"/>
                    <a:pt x="135382" y="67691"/>
                  </a:cubicBezTo>
                  <a:cubicBezTo>
                    <a:pt x="135382" y="105029"/>
                    <a:pt x="105029" y="135382"/>
                    <a:pt x="67691" y="135382"/>
                  </a:cubicBezTo>
                  <a:cubicBezTo>
                    <a:pt x="30353" y="135382"/>
                    <a:pt x="0" y="105029"/>
                    <a:pt x="0" y="67691"/>
                  </a:cubicBezTo>
                  <a:close/>
                </a:path>
              </a:pathLst>
            </a:custGeom>
            <a:solidFill>
              <a:srgbClr val="F1F5F9"/>
            </a:solidFill>
          </p:spPr>
          <p:txBody>
            <a:bodyPr/>
            <a:lstStyle/>
            <a:p>
              <a:endParaRPr lang="en-US"/>
            </a:p>
          </p:txBody>
        </p:sp>
      </p:grpSp>
      <p:grpSp>
        <p:nvGrpSpPr>
          <p:cNvPr id="42" name="Group 42"/>
          <p:cNvGrpSpPr/>
          <p:nvPr/>
        </p:nvGrpSpPr>
        <p:grpSpPr>
          <a:xfrm>
            <a:off x="10794806" y="6603806"/>
            <a:ext cx="101498" cy="101498"/>
            <a:chOff x="0" y="0"/>
            <a:chExt cx="135331" cy="135331"/>
          </a:xfrm>
        </p:grpSpPr>
        <p:sp>
          <p:nvSpPr>
            <p:cNvPr id="43" name="Freeform 43"/>
            <p:cNvSpPr/>
            <p:nvPr/>
          </p:nvSpPr>
          <p:spPr>
            <a:xfrm>
              <a:off x="0" y="0"/>
              <a:ext cx="135382" cy="135382"/>
            </a:xfrm>
            <a:custGeom>
              <a:avLst/>
              <a:gdLst/>
              <a:ahLst/>
              <a:cxnLst/>
              <a:rect l="l" t="t" r="r" b="b"/>
              <a:pathLst>
                <a:path w="135382" h="135382">
                  <a:moveTo>
                    <a:pt x="0" y="67691"/>
                  </a:moveTo>
                  <a:cubicBezTo>
                    <a:pt x="0" y="30353"/>
                    <a:pt x="30353" y="0"/>
                    <a:pt x="67691" y="0"/>
                  </a:cubicBezTo>
                  <a:cubicBezTo>
                    <a:pt x="105029" y="0"/>
                    <a:pt x="135382" y="30353"/>
                    <a:pt x="135382" y="67691"/>
                  </a:cubicBezTo>
                  <a:cubicBezTo>
                    <a:pt x="135382" y="105029"/>
                    <a:pt x="105029" y="135382"/>
                    <a:pt x="67691" y="135382"/>
                  </a:cubicBezTo>
                  <a:cubicBezTo>
                    <a:pt x="30353" y="135382"/>
                    <a:pt x="0" y="105029"/>
                    <a:pt x="0" y="67691"/>
                  </a:cubicBezTo>
                  <a:close/>
                </a:path>
              </a:pathLst>
            </a:custGeom>
            <a:solidFill>
              <a:srgbClr val="22D3EE"/>
            </a:solidFill>
          </p:spPr>
          <p:txBody>
            <a:bodyPr/>
            <a:lstStyle/>
            <a:p>
              <a:endParaRPr lang="en-US"/>
            </a:p>
          </p:txBody>
        </p:sp>
      </p:grpSp>
      <p:grpSp>
        <p:nvGrpSpPr>
          <p:cNvPr id="44" name="Group 44"/>
          <p:cNvGrpSpPr/>
          <p:nvPr/>
        </p:nvGrpSpPr>
        <p:grpSpPr>
          <a:xfrm>
            <a:off x="11556806" y="7111898"/>
            <a:ext cx="101498" cy="101498"/>
            <a:chOff x="0" y="0"/>
            <a:chExt cx="135331" cy="135331"/>
          </a:xfrm>
        </p:grpSpPr>
        <p:sp>
          <p:nvSpPr>
            <p:cNvPr id="45" name="Freeform 45"/>
            <p:cNvSpPr/>
            <p:nvPr/>
          </p:nvSpPr>
          <p:spPr>
            <a:xfrm>
              <a:off x="0" y="0"/>
              <a:ext cx="135382" cy="135382"/>
            </a:xfrm>
            <a:custGeom>
              <a:avLst/>
              <a:gdLst/>
              <a:ahLst/>
              <a:cxnLst/>
              <a:rect l="l" t="t" r="r" b="b"/>
              <a:pathLst>
                <a:path w="135382" h="135382">
                  <a:moveTo>
                    <a:pt x="0" y="67691"/>
                  </a:moveTo>
                  <a:cubicBezTo>
                    <a:pt x="0" y="30353"/>
                    <a:pt x="30353" y="0"/>
                    <a:pt x="67691" y="0"/>
                  </a:cubicBezTo>
                  <a:cubicBezTo>
                    <a:pt x="105029" y="0"/>
                    <a:pt x="135382" y="30353"/>
                    <a:pt x="135382" y="67691"/>
                  </a:cubicBezTo>
                  <a:cubicBezTo>
                    <a:pt x="135382" y="105029"/>
                    <a:pt x="105029" y="135382"/>
                    <a:pt x="67691" y="135382"/>
                  </a:cubicBezTo>
                  <a:cubicBezTo>
                    <a:pt x="30353" y="135382"/>
                    <a:pt x="0" y="105029"/>
                    <a:pt x="0" y="67691"/>
                  </a:cubicBezTo>
                  <a:close/>
                </a:path>
              </a:pathLst>
            </a:custGeom>
            <a:solidFill>
              <a:srgbClr val="F1F5F9"/>
            </a:solidFill>
          </p:spPr>
          <p:txBody>
            <a:bodyPr/>
            <a:lstStyle/>
            <a:p>
              <a:endParaRPr lang="en-US"/>
            </a:p>
          </p:txBody>
        </p:sp>
      </p:grpSp>
      <p:grpSp>
        <p:nvGrpSpPr>
          <p:cNvPr id="46" name="Group 46"/>
          <p:cNvGrpSpPr/>
          <p:nvPr/>
        </p:nvGrpSpPr>
        <p:grpSpPr>
          <a:xfrm>
            <a:off x="12954000" y="6858000"/>
            <a:ext cx="101498" cy="101498"/>
            <a:chOff x="0" y="0"/>
            <a:chExt cx="135331" cy="135331"/>
          </a:xfrm>
        </p:grpSpPr>
        <p:sp>
          <p:nvSpPr>
            <p:cNvPr id="47" name="Freeform 47"/>
            <p:cNvSpPr/>
            <p:nvPr/>
          </p:nvSpPr>
          <p:spPr>
            <a:xfrm>
              <a:off x="0" y="0"/>
              <a:ext cx="135382" cy="135382"/>
            </a:xfrm>
            <a:custGeom>
              <a:avLst/>
              <a:gdLst/>
              <a:ahLst/>
              <a:cxnLst/>
              <a:rect l="l" t="t" r="r" b="b"/>
              <a:pathLst>
                <a:path w="135382" h="135382">
                  <a:moveTo>
                    <a:pt x="0" y="67691"/>
                  </a:moveTo>
                  <a:cubicBezTo>
                    <a:pt x="0" y="30353"/>
                    <a:pt x="30353" y="0"/>
                    <a:pt x="67691" y="0"/>
                  </a:cubicBezTo>
                  <a:cubicBezTo>
                    <a:pt x="105029" y="0"/>
                    <a:pt x="135382" y="30353"/>
                    <a:pt x="135382" y="67691"/>
                  </a:cubicBezTo>
                  <a:cubicBezTo>
                    <a:pt x="135382" y="105029"/>
                    <a:pt x="105029" y="135382"/>
                    <a:pt x="67691" y="135382"/>
                  </a:cubicBezTo>
                  <a:cubicBezTo>
                    <a:pt x="30353" y="135382"/>
                    <a:pt x="0" y="105029"/>
                    <a:pt x="0" y="67691"/>
                  </a:cubicBezTo>
                  <a:close/>
                </a:path>
              </a:pathLst>
            </a:custGeom>
            <a:solidFill>
              <a:srgbClr val="F1F5F9"/>
            </a:solidFill>
          </p:spPr>
          <p:txBody>
            <a:bodyPr/>
            <a:lstStyle/>
            <a:p>
              <a:endParaRPr lang="en-US"/>
            </a:p>
          </p:txBody>
        </p:sp>
      </p:grpSp>
      <p:grpSp>
        <p:nvGrpSpPr>
          <p:cNvPr id="48" name="Group 48"/>
          <p:cNvGrpSpPr/>
          <p:nvPr/>
        </p:nvGrpSpPr>
        <p:grpSpPr>
          <a:xfrm>
            <a:off x="13842806" y="7239000"/>
            <a:ext cx="101498" cy="101498"/>
            <a:chOff x="0" y="0"/>
            <a:chExt cx="135331" cy="135331"/>
          </a:xfrm>
        </p:grpSpPr>
        <p:sp>
          <p:nvSpPr>
            <p:cNvPr id="49" name="Freeform 49"/>
            <p:cNvSpPr/>
            <p:nvPr/>
          </p:nvSpPr>
          <p:spPr>
            <a:xfrm>
              <a:off x="0" y="0"/>
              <a:ext cx="135382" cy="135382"/>
            </a:xfrm>
            <a:custGeom>
              <a:avLst/>
              <a:gdLst/>
              <a:ahLst/>
              <a:cxnLst/>
              <a:rect l="l" t="t" r="r" b="b"/>
              <a:pathLst>
                <a:path w="135382" h="135382">
                  <a:moveTo>
                    <a:pt x="0" y="67691"/>
                  </a:moveTo>
                  <a:cubicBezTo>
                    <a:pt x="0" y="30353"/>
                    <a:pt x="30353" y="0"/>
                    <a:pt x="67691" y="0"/>
                  </a:cubicBezTo>
                  <a:cubicBezTo>
                    <a:pt x="105029" y="0"/>
                    <a:pt x="135382" y="30353"/>
                    <a:pt x="135382" y="67691"/>
                  </a:cubicBezTo>
                  <a:cubicBezTo>
                    <a:pt x="135382" y="105029"/>
                    <a:pt x="105029" y="135382"/>
                    <a:pt x="67691" y="135382"/>
                  </a:cubicBezTo>
                  <a:cubicBezTo>
                    <a:pt x="30353" y="135382"/>
                    <a:pt x="0" y="105029"/>
                    <a:pt x="0" y="67691"/>
                  </a:cubicBezTo>
                  <a:close/>
                </a:path>
              </a:pathLst>
            </a:custGeom>
            <a:solidFill>
              <a:srgbClr val="22D3EE"/>
            </a:solidFill>
          </p:spPr>
          <p:txBody>
            <a:bodyPr/>
            <a:lstStyle/>
            <a:p>
              <a:endParaRPr lang="en-US"/>
            </a:p>
          </p:txBody>
        </p:sp>
      </p:grpSp>
      <p:grpSp>
        <p:nvGrpSpPr>
          <p:cNvPr id="50" name="Group 50"/>
          <p:cNvGrpSpPr/>
          <p:nvPr/>
        </p:nvGrpSpPr>
        <p:grpSpPr>
          <a:xfrm>
            <a:off x="14985806" y="6730898"/>
            <a:ext cx="101498" cy="101498"/>
            <a:chOff x="0" y="0"/>
            <a:chExt cx="135331" cy="135331"/>
          </a:xfrm>
        </p:grpSpPr>
        <p:sp>
          <p:nvSpPr>
            <p:cNvPr id="51" name="Freeform 51"/>
            <p:cNvSpPr/>
            <p:nvPr/>
          </p:nvSpPr>
          <p:spPr>
            <a:xfrm>
              <a:off x="0" y="0"/>
              <a:ext cx="135382" cy="135382"/>
            </a:xfrm>
            <a:custGeom>
              <a:avLst/>
              <a:gdLst/>
              <a:ahLst/>
              <a:cxnLst/>
              <a:rect l="l" t="t" r="r" b="b"/>
              <a:pathLst>
                <a:path w="135382" h="135382">
                  <a:moveTo>
                    <a:pt x="0" y="67691"/>
                  </a:moveTo>
                  <a:cubicBezTo>
                    <a:pt x="0" y="30353"/>
                    <a:pt x="30353" y="0"/>
                    <a:pt x="67691" y="0"/>
                  </a:cubicBezTo>
                  <a:cubicBezTo>
                    <a:pt x="105029" y="0"/>
                    <a:pt x="135382" y="30353"/>
                    <a:pt x="135382" y="67691"/>
                  </a:cubicBezTo>
                  <a:cubicBezTo>
                    <a:pt x="135382" y="105029"/>
                    <a:pt x="105029" y="135382"/>
                    <a:pt x="67691" y="135382"/>
                  </a:cubicBezTo>
                  <a:cubicBezTo>
                    <a:pt x="30353" y="135382"/>
                    <a:pt x="0" y="105029"/>
                    <a:pt x="0" y="67691"/>
                  </a:cubicBezTo>
                  <a:close/>
                </a:path>
              </a:pathLst>
            </a:custGeom>
            <a:solidFill>
              <a:srgbClr val="F1F5F9"/>
            </a:solidFill>
          </p:spPr>
          <p:txBody>
            <a:bodyPr/>
            <a:lstStyle/>
            <a:p>
              <a:endParaRPr lang="en-US"/>
            </a:p>
          </p:txBody>
        </p:sp>
      </p:grpSp>
      <p:grpSp>
        <p:nvGrpSpPr>
          <p:cNvPr id="52" name="Group 52"/>
          <p:cNvGrpSpPr/>
          <p:nvPr/>
        </p:nvGrpSpPr>
        <p:grpSpPr>
          <a:xfrm>
            <a:off x="15747806" y="7239000"/>
            <a:ext cx="101498" cy="101498"/>
            <a:chOff x="0" y="0"/>
            <a:chExt cx="135331" cy="135331"/>
          </a:xfrm>
        </p:grpSpPr>
        <p:sp>
          <p:nvSpPr>
            <p:cNvPr id="53" name="Freeform 53"/>
            <p:cNvSpPr/>
            <p:nvPr/>
          </p:nvSpPr>
          <p:spPr>
            <a:xfrm>
              <a:off x="0" y="0"/>
              <a:ext cx="135382" cy="135382"/>
            </a:xfrm>
            <a:custGeom>
              <a:avLst/>
              <a:gdLst/>
              <a:ahLst/>
              <a:cxnLst/>
              <a:rect l="l" t="t" r="r" b="b"/>
              <a:pathLst>
                <a:path w="135382" h="135382">
                  <a:moveTo>
                    <a:pt x="0" y="67691"/>
                  </a:moveTo>
                  <a:cubicBezTo>
                    <a:pt x="0" y="30353"/>
                    <a:pt x="30353" y="0"/>
                    <a:pt x="67691" y="0"/>
                  </a:cubicBezTo>
                  <a:cubicBezTo>
                    <a:pt x="105029" y="0"/>
                    <a:pt x="135382" y="30353"/>
                    <a:pt x="135382" y="67691"/>
                  </a:cubicBezTo>
                  <a:cubicBezTo>
                    <a:pt x="135382" y="105029"/>
                    <a:pt x="105029" y="135382"/>
                    <a:pt x="67691" y="135382"/>
                  </a:cubicBezTo>
                  <a:cubicBezTo>
                    <a:pt x="30353" y="135382"/>
                    <a:pt x="0" y="105029"/>
                    <a:pt x="0" y="67691"/>
                  </a:cubicBezTo>
                  <a:close/>
                </a:path>
              </a:pathLst>
            </a:custGeom>
            <a:solidFill>
              <a:srgbClr val="F1F5F9"/>
            </a:solidFill>
          </p:spPr>
          <p:txBody>
            <a:bodyPr/>
            <a:lstStyle/>
            <a:p>
              <a:endParaRPr lang="en-US"/>
            </a:p>
          </p:txBody>
        </p:sp>
      </p:grpSp>
      <p:grpSp>
        <p:nvGrpSpPr>
          <p:cNvPr id="54" name="Group 54"/>
          <p:cNvGrpSpPr/>
          <p:nvPr/>
        </p:nvGrpSpPr>
        <p:grpSpPr>
          <a:xfrm>
            <a:off x="10921898" y="8508806"/>
            <a:ext cx="101498" cy="101498"/>
            <a:chOff x="0" y="0"/>
            <a:chExt cx="135331" cy="135331"/>
          </a:xfrm>
        </p:grpSpPr>
        <p:sp>
          <p:nvSpPr>
            <p:cNvPr id="55" name="Freeform 55"/>
            <p:cNvSpPr/>
            <p:nvPr/>
          </p:nvSpPr>
          <p:spPr>
            <a:xfrm>
              <a:off x="0" y="0"/>
              <a:ext cx="135382" cy="135382"/>
            </a:xfrm>
            <a:custGeom>
              <a:avLst/>
              <a:gdLst/>
              <a:ahLst/>
              <a:cxnLst/>
              <a:rect l="l" t="t" r="r" b="b"/>
              <a:pathLst>
                <a:path w="135382" h="135382">
                  <a:moveTo>
                    <a:pt x="0" y="67691"/>
                  </a:moveTo>
                  <a:cubicBezTo>
                    <a:pt x="0" y="30353"/>
                    <a:pt x="30353" y="0"/>
                    <a:pt x="67691" y="0"/>
                  </a:cubicBezTo>
                  <a:cubicBezTo>
                    <a:pt x="105029" y="0"/>
                    <a:pt x="135382" y="30353"/>
                    <a:pt x="135382" y="67691"/>
                  </a:cubicBezTo>
                  <a:cubicBezTo>
                    <a:pt x="135382" y="105029"/>
                    <a:pt x="105029" y="135382"/>
                    <a:pt x="67691" y="135382"/>
                  </a:cubicBezTo>
                  <a:cubicBezTo>
                    <a:pt x="30353" y="135382"/>
                    <a:pt x="0" y="105029"/>
                    <a:pt x="0" y="67691"/>
                  </a:cubicBezTo>
                  <a:close/>
                </a:path>
              </a:pathLst>
            </a:custGeom>
            <a:solidFill>
              <a:srgbClr val="F1F5F9"/>
            </a:solidFill>
          </p:spPr>
          <p:txBody>
            <a:bodyPr/>
            <a:lstStyle/>
            <a:p>
              <a:endParaRPr lang="en-US"/>
            </a:p>
          </p:txBody>
        </p:sp>
      </p:grpSp>
      <p:grpSp>
        <p:nvGrpSpPr>
          <p:cNvPr id="56" name="Group 56"/>
          <p:cNvGrpSpPr/>
          <p:nvPr/>
        </p:nvGrpSpPr>
        <p:grpSpPr>
          <a:xfrm>
            <a:off x="12192000" y="8635898"/>
            <a:ext cx="101498" cy="101498"/>
            <a:chOff x="0" y="0"/>
            <a:chExt cx="135331" cy="135331"/>
          </a:xfrm>
        </p:grpSpPr>
        <p:sp>
          <p:nvSpPr>
            <p:cNvPr id="57" name="Freeform 57"/>
            <p:cNvSpPr/>
            <p:nvPr/>
          </p:nvSpPr>
          <p:spPr>
            <a:xfrm>
              <a:off x="0" y="0"/>
              <a:ext cx="135382" cy="135382"/>
            </a:xfrm>
            <a:custGeom>
              <a:avLst/>
              <a:gdLst/>
              <a:ahLst/>
              <a:cxnLst/>
              <a:rect l="l" t="t" r="r" b="b"/>
              <a:pathLst>
                <a:path w="135382" h="135382">
                  <a:moveTo>
                    <a:pt x="0" y="67691"/>
                  </a:moveTo>
                  <a:cubicBezTo>
                    <a:pt x="0" y="30353"/>
                    <a:pt x="30353" y="0"/>
                    <a:pt x="67691" y="0"/>
                  </a:cubicBezTo>
                  <a:cubicBezTo>
                    <a:pt x="105029" y="0"/>
                    <a:pt x="135382" y="30353"/>
                    <a:pt x="135382" y="67691"/>
                  </a:cubicBezTo>
                  <a:cubicBezTo>
                    <a:pt x="135382" y="105029"/>
                    <a:pt x="105029" y="135382"/>
                    <a:pt x="67691" y="135382"/>
                  </a:cubicBezTo>
                  <a:cubicBezTo>
                    <a:pt x="30353" y="135382"/>
                    <a:pt x="0" y="105029"/>
                    <a:pt x="0" y="67691"/>
                  </a:cubicBezTo>
                  <a:close/>
                </a:path>
              </a:pathLst>
            </a:custGeom>
            <a:solidFill>
              <a:srgbClr val="22D3EE"/>
            </a:solidFill>
          </p:spPr>
          <p:txBody>
            <a:bodyPr/>
            <a:lstStyle/>
            <a:p>
              <a:endParaRPr lang="en-US"/>
            </a:p>
          </p:txBody>
        </p:sp>
      </p:grpSp>
      <p:grpSp>
        <p:nvGrpSpPr>
          <p:cNvPr id="58" name="Group 58"/>
          <p:cNvGrpSpPr/>
          <p:nvPr/>
        </p:nvGrpSpPr>
        <p:grpSpPr>
          <a:xfrm>
            <a:off x="13716000" y="8508806"/>
            <a:ext cx="101498" cy="101498"/>
            <a:chOff x="0" y="0"/>
            <a:chExt cx="135331" cy="135331"/>
          </a:xfrm>
        </p:grpSpPr>
        <p:sp>
          <p:nvSpPr>
            <p:cNvPr id="59" name="Freeform 59"/>
            <p:cNvSpPr/>
            <p:nvPr/>
          </p:nvSpPr>
          <p:spPr>
            <a:xfrm>
              <a:off x="0" y="0"/>
              <a:ext cx="135382" cy="135382"/>
            </a:xfrm>
            <a:custGeom>
              <a:avLst/>
              <a:gdLst/>
              <a:ahLst/>
              <a:cxnLst/>
              <a:rect l="l" t="t" r="r" b="b"/>
              <a:pathLst>
                <a:path w="135382" h="135382">
                  <a:moveTo>
                    <a:pt x="0" y="67691"/>
                  </a:moveTo>
                  <a:cubicBezTo>
                    <a:pt x="0" y="30353"/>
                    <a:pt x="30353" y="0"/>
                    <a:pt x="67691" y="0"/>
                  </a:cubicBezTo>
                  <a:cubicBezTo>
                    <a:pt x="105029" y="0"/>
                    <a:pt x="135382" y="30353"/>
                    <a:pt x="135382" y="67691"/>
                  </a:cubicBezTo>
                  <a:cubicBezTo>
                    <a:pt x="135382" y="105029"/>
                    <a:pt x="105029" y="135382"/>
                    <a:pt x="67691" y="135382"/>
                  </a:cubicBezTo>
                  <a:cubicBezTo>
                    <a:pt x="30353" y="135382"/>
                    <a:pt x="0" y="105029"/>
                    <a:pt x="0" y="67691"/>
                  </a:cubicBezTo>
                  <a:close/>
                </a:path>
              </a:pathLst>
            </a:custGeom>
            <a:solidFill>
              <a:srgbClr val="F1F5F9"/>
            </a:solidFill>
          </p:spPr>
          <p:txBody>
            <a:bodyPr/>
            <a:lstStyle/>
            <a:p>
              <a:endParaRPr lang="en-US"/>
            </a:p>
          </p:txBody>
        </p:sp>
      </p:grpSp>
      <p:grpSp>
        <p:nvGrpSpPr>
          <p:cNvPr id="60" name="Group 60"/>
          <p:cNvGrpSpPr/>
          <p:nvPr/>
        </p:nvGrpSpPr>
        <p:grpSpPr>
          <a:xfrm>
            <a:off x="15240000" y="8635898"/>
            <a:ext cx="101498" cy="101498"/>
            <a:chOff x="0" y="0"/>
            <a:chExt cx="135331" cy="135331"/>
          </a:xfrm>
        </p:grpSpPr>
        <p:sp>
          <p:nvSpPr>
            <p:cNvPr id="61" name="Freeform 61"/>
            <p:cNvSpPr/>
            <p:nvPr/>
          </p:nvSpPr>
          <p:spPr>
            <a:xfrm>
              <a:off x="0" y="0"/>
              <a:ext cx="135382" cy="135382"/>
            </a:xfrm>
            <a:custGeom>
              <a:avLst/>
              <a:gdLst/>
              <a:ahLst/>
              <a:cxnLst/>
              <a:rect l="l" t="t" r="r" b="b"/>
              <a:pathLst>
                <a:path w="135382" h="135382">
                  <a:moveTo>
                    <a:pt x="0" y="67691"/>
                  </a:moveTo>
                  <a:cubicBezTo>
                    <a:pt x="0" y="30353"/>
                    <a:pt x="30353" y="0"/>
                    <a:pt x="67691" y="0"/>
                  </a:cubicBezTo>
                  <a:cubicBezTo>
                    <a:pt x="105029" y="0"/>
                    <a:pt x="135382" y="30353"/>
                    <a:pt x="135382" y="67691"/>
                  </a:cubicBezTo>
                  <a:cubicBezTo>
                    <a:pt x="135382" y="105029"/>
                    <a:pt x="105029" y="135382"/>
                    <a:pt x="67691" y="135382"/>
                  </a:cubicBezTo>
                  <a:cubicBezTo>
                    <a:pt x="30353" y="135382"/>
                    <a:pt x="0" y="105029"/>
                    <a:pt x="0" y="67691"/>
                  </a:cubicBezTo>
                  <a:close/>
                </a:path>
              </a:pathLst>
            </a:custGeom>
            <a:solidFill>
              <a:srgbClr val="F1F5F9"/>
            </a:solidFill>
          </p:spPr>
          <p:txBody>
            <a:bodyPr/>
            <a:lstStyle/>
            <a:p>
              <a:endParaRPr lang="en-US"/>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TextBox 2"/>
          <p:cNvSpPr txBox="1"/>
          <p:nvPr/>
        </p:nvSpPr>
        <p:spPr>
          <a:xfrm>
            <a:off x="1524000" y="1260281"/>
            <a:ext cx="4274820" cy="295275"/>
          </a:xfrm>
          <a:prstGeom prst="rect">
            <a:avLst/>
          </a:prstGeom>
        </p:spPr>
        <p:txBody>
          <a:bodyPr lIns="0" tIns="0" rIns="0" bIns="0" rtlCol="0" anchor="t">
            <a:spAutoFit/>
          </a:bodyPr>
          <a:lstStyle/>
          <a:p>
            <a:pPr algn="l">
              <a:lnSpc>
                <a:spcPts val="2400"/>
              </a:lnSpc>
            </a:pPr>
            <a:r>
              <a:rPr lang="en-US" sz="2000">
                <a:solidFill>
                  <a:srgbClr val="22D3EE"/>
                </a:solidFill>
                <a:latin typeface="Arial"/>
                <a:ea typeface="Arial"/>
                <a:cs typeface="Arial"/>
                <a:sym typeface="Arial"/>
              </a:rPr>
              <a:t>WORKED EXAMPLE</a:t>
            </a:r>
          </a:p>
        </p:txBody>
      </p:sp>
      <p:sp>
        <p:nvSpPr>
          <p:cNvPr id="3" name="TextBox 3"/>
          <p:cNvSpPr txBox="1"/>
          <p:nvPr/>
        </p:nvSpPr>
        <p:spPr>
          <a:xfrm>
            <a:off x="1524000" y="2003231"/>
            <a:ext cx="15544800" cy="885825"/>
          </a:xfrm>
          <a:prstGeom prst="rect">
            <a:avLst/>
          </a:prstGeom>
        </p:spPr>
        <p:txBody>
          <a:bodyPr lIns="0" tIns="0" rIns="0" bIns="0" rtlCol="0" anchor="t">
            <a:spAutoFit/>
          </a:bodyPr>
          <a:lstStyle/>
          <a:p>
            <a:pPr algn="l">
              <a:lnSpc>
                <a:spcPts val="7200"/>
              </a:lnSpc>
            </a:pPr>
            <a:r>
              <a:rPr lang="en-US" sz="6000">
                <a:solidFill>
                  <a:srgbClr val="F1F5F9"/>
                </a:solidFill>
                <a:latin typeface="Arial"/>
                <a:ea typeface="Arial"/>
                <a:cs typeface="Arial"/>
                <a:sym typeface="Arial"/>
              </a:rPr>
              <a:t>Ray casting, </a:t>
            </a:r>
            <a:r>
              <a:rPr lang="en-US" sz="6000" b="1">
                <a:solidFill>
                  <a:srgbClr val="22D3EE"/>
                </a:solidFill>
                <a:latin typeface="Arial Bold"/>
                <a:ea typeface="Arial Bold"/>
                <a:cs typeface="Arial Bold"/>
                <a:sym typeface="Arial Bold"/>
              </a:rPr>
              <a:t>step by step</a:t>
            </a:r>
          </a:p>
        </p:txBody>
      </p:sp>
      <p:grpSp>
        <p:nvGrpSpPr>
          <p:cNvPr id="4" name="Group 4"/>
          <p:cNvGrpSpPr/>
          <p:nvPr/>
        </p:nvGrpSpPr>
        <p:grpSpPr>
          <a:xfrm>
            <a:off x="1514475" y="4181475"/>
            <a:ext cx="8184956" cy="5136956"/>
            <a:chOff x="0" y="0"/>
            <a:chExt cx="10913275" cy="6849275"/>
          </a:xfrm>
        </p:grpSpPr>
        <p:sp>
          <p:nvSpPr>
            <p:cNvPr id="5" name="Freeform 5"/>
            <p:cNvSpPr/>
            <p:nvPr/>
          </p:nvSpPr>
          <p:spPr>
            <a:xfrm>
              <a:off x="12700" y="12700"/>
              <a:ext cx="10887837" cy="6823837"/>
            </a:xfrm>
            <a:custGeom>
              <a:avLst/>
              <a:gdLst/>
              <a:ahLst/>
              <a:cxnLst/>
              <a:rect l="l" t="t" r="r" b="b"/>
              <a:pathLst>
                <a:path w="10887837" h="6823837">
                  <a:moveTo>
                    <a:pt x="0" y="203200"/>
                  </a:moveTo>
                  <a:cubicBezTo>
                    <a:pt x="0" y="90932"/>
                    <a:pt x="91059" y="0"/>
                    <a:pt x="203454" y="0"/>
                  </a:cubicBezTo>
                  <a:lnTo>
                    <a:pt x="10684383" y="0"/>
                  </a:lnTo>
                  <a:cubicBezTo>
                    <a:pt x="10796777" y="0"/>
                    <a:pt x="10887837" y="90932"/>
                    <a:pt x="10887837" y="203200"/>
                  </a:cubicBezTo>
                  <a:lnTo>
                    <a:pt x="10887837" y="6620637"/>
                  </a:lnTo>
                  <a:cubicBezTo>
                    <a:pt x="10887837" y="6732905"/>
                    <a:pt x="10796777" y="6823837"/>
                    <a:pt x="10684383" y="6823837"/>
                  </a:cubicBezTo>
                  <a:lnTo>
                    <a:pt x="203454" y="6823837"/>
                  </a:lnTo>
                  <a:cubicBezTo>
                    <a:pt x="91059" y="6823837"/>
                    <a:pt x="0" y="6732905"/>
                    <a:pt x="0" y="6620637"/>
                  </a:cubicBezTo>
                  <a:close/>
                </a:path>
              </a:pathLst>
            </a:custGeom>
            <a:solidFill>
              <a:srgbClr val="122236"/>
            </a:solidFill>
          </p:spPr>
          <p:txBody>
            <a:bodyPr/>
            <a:lstStyle/>
            <a:p>
              <a:endParaRPr lang="en-US"/>
            </a:p>
          </p:txBody>
        </p:sp>
        <p:sp>
          <p:nvSpPr>
            <p:cNvPr id="6" name="Freeform 6"/>
            <p:cNvSpPr/>
            <p:nvPr/>
          </p:nvSpPr>
          <p:spPr>
            <a:xfrm>
              <a:off x="0" y="0"/>
              <a:ext cx="10913237" cy="6849237"/>
            </a:xfrm>
            <a:custGeom>
              <a:avLst/>
              <a:gdLst/>
              <a:ahLst/>
              <a:cxnLst/>
              <a:rect l="l" t="t" r="r" b="b"/>
              <a:pathLst>
                <a:path w="10913237" h="6849237">
                  <a:moveTo>
                    <a:pt x="0" y="215900"/>
                  </a:moveTo>
                  <a:cubicBezTo>
                    <a:pt x="0" y="96647"/>
                    <a:pt x="96774" y="0"/>
                    <a:pt x="216154" y="0"/>
                  </a:cubicBezTo>
                  <a:lnTo>
                    <a:pt x="10697083" y="0"/>
                  </a:lnTo>
                  <a:lnTo>
                    <a:pt x="10697083" y="12700"/>
                  </a:lnTo>
                  <a:lnTo>
                    <a:pt x="10697083" y="0"/>
                  </a:lnTo>
                  <a:cubicBezTo>
                    <a:pt x="10816463" y="0"/>
                    <a:pt x="10913237" y="96647"/>
                    <a:pt x="10913237" y="215900"/>
                  </a:cubicBezTo>
                  <a:lnTo>
                    <a:pt x="10900537" y="215900"/>
                  </a:lnTo>
                  <a:lnTo>
                    <a:pt x="10913237" y="215900"/>
                  </a:lnTo>
                  <a:lnTo>
                    <a:pt x="10913237" y="6633337"/>
                  </a:lnTo>
                  <a:lnTo>
                    <a:pt x="10900537" y="6633337"/>
                  </a:lnTo>
                  <a:lnTo>
                    <a:pt x="10913237" y="6633337"/>
                  </a:lnTo>
                  <a:cubicBezTo>
                    <a:pt x="10913237" y="6752590"/>
                    <a:pt x="10816463" y="6849237"/>
                    <a:pt x="10697083" y="6849237"/>
                  </a:cubicBezTo>
                  <a:lnTo>
                    <a:pt x="10697083" y="6836537"/>
                  </a:lnTo>
                  <a:lnTo>
                    <a:pt x="10697083" y="6849237"/>
                  </a:lnTo>
                  <a:lnTo>
                    <a:pt x="216154" y="6849237"/>
                  </a:lnTo>
                  <a:lnTo>
                    <a:pt x="216154" y="6836537"/>
                  </a:lnTo>
                  <a:lnTo>
                    <a:pt x="216154" y="6849237"/>
                  </a:lnTo>
                  <a:cubicBezTo>
                    <a:pt x="96774" y="6849237"/>
                    <a:pt x="0" y="6752590"/>
                    <a:pt x="0" y="6633337"/>
                  </a:cubicBezTo>
                  <a:lnTo>
                    <a:pt x="0" y="215900"/>
                  </a:lnTo>
                  <a:lnTo>
                    <a:pt x="12700" y="215900"/>
                  </a:lnTo>
                  <a:lnTo>
                    <a:pt x="0" y="215900"/>
                  </a:lnTo>
                  <a:moveTo>
                    <a:pt x="25400" y="215900"/>
                  </a:moveTo>
                  <a:lnTo>
                    <a:pt x="25400" y="6633337"/>
                  </a:lnTo>
                  <a:lnTo>
                    <a:pt x="12700" y="6633337"/>
                  </a:lnTo>
                  <a:lnTo>
                    <a:pt x="25400" y="6633337"/>
                  </a:lnTo>
                  <a:cubicBezTo>
                    <a:pt x="25400" y="6738493"/>
                    <a:pt x="110744" y="6823837"/>
                    <a:pt x="216154" y="6823837"/>
                  </a:cubicBezTo>
                  <a:lnTo>
                    <a:pt x="10697083" y="6823837"/>
                  </a:lnTo>
                  <a:cubicBezTo>
                    <a:pt x="10802493" y="6823837"/>
                    <a:pt x="10887837" y="6738493"/>
                    <a:pt x="10887837" y="6633337"/>
                  </a:cubicBezTo>
                  <a:lnTo>
                    <a:pt x="10887837" y="215900"/>
                  </a:lnTo>
                  <a:cubicBezTo>
                    <a:pt x="10887837" y="110744"/>
                    <a:pt x="10802493" y="25400"/>
                    <a:pt x="10697083" y="25400"/>
                  </a:cubicBezTo>
                  <a:lnTo>
                    <a:pt x="216154" y="25400"/>
                  </a:lnTo>
                  <a:lnTo>
                    <a:pt x="216154" y="12700"/>
                  </a:lnTo>
                  <a:lnTo>
                    <a:pt x="216154" y="25400"/>
                  </a:lnTo>
                  <a:cubicBezTo>
                    <a:pt x="110744" y="25400"/>
                    <a:pt x="25400" y="110744"/>
                    <a:pt x="25400" y="215900"/>
                  </a:cubicBezTo>
                  <a:close/>
                </a:path>
              </a:pathLst>
            </a:custGeom>
            <a:solidFill>
              <a:srgbClr val="1E3A5F"/>
            </a:solidFill>
          </p:spPr>
          <p:txBody>
            <a:bodyPr/>
            <a:lstStyle/>
            <a:p>
              <a:endParaRPr lang="en-US"/>
            </a:p>
          </p:txBody>
        </p:sp>
      </p:grpSp>
      <p:grpSp>
        <p:nvGrpSpPr>
          <p:cNvPr id="7" name="Group 7"/>
          <p:cNvGrpSpPr/>
          <p:nvPr/>
        </p:nvGrpSpPr>
        <p:grpSpPr>
          <a:xfrm>
            <a:off x="2774756" y="4806848"/>
            <a:ext cx="5702198" cy="3924300"/>
            <a:chOff x="0" y="0"/>
            <a:chExt cx="7602931" cy="5232400"/>
          </a:xfrm>
        </p:grpSpPr>
        <p:sp>
          <p:nvSpPr>
            <p:cNvPr id="8" name="Freeform 8"/>
            <p:cNvSpPr/>
            <p:nvPr/>
          </p:nvSpPr>
          <p:spPr>
            <a:xfrm>
              <a:off x="0" y="0"/>
              <a:ext cx="7602982" cy="5232400"/>
            </a:xfrm>
            <a:custGeom>
              <a:avLst/>
              <a:gdLst/>
              <a:ahLst/>
              <a:cxnLst/>
              <a:rect l="l" t="t" r="r" b="b"/>
              <a:pathLst>
                <a:path w="7602982" h="5232400">
                  <a:moveTo>
                    <a:pt x="25400" y="0"/>
                  </a:moveTo>
                  <a:lnTo>
                    <a:pt x="7577582" y="0"/>
                  </a:lnTo>
                  <a:cubicBezTo>
                    <a:pt x="7591551" y="0"/>
                    <a:pt x="7602982" y="11430"/>
                    <a:pt x="7602982" y="25400"/>
                  </a:cubicBezTo>
                  <a:lnTo>
                    <a:pt x="7602982" y="5207000"/>
                  </a:lnTo>
                  <a:cubicBezTo>
                    <a:pt x="7602982" y="5220970"/>
                    <a:pt x="7591551" y="5232400"/>
                    <a:pt x="7577582" y="5232400"/>
                  </a:cubicBezTo>
                  <a:lnTo>
                    <a:pt x="25400" y="5232400"/>
                  </a:lnTo>
                  <a:cubicBezTo>
                    <a:pt x="11430" y="5232400"/>
                    <a:pt x="0" y="5220970"/>
                    <a:pt x="0" y="5207000"/>
                  </a:cubicBezTo>
                  <a:lnTo>
                    <a:pt x="0" y="25400"/>
                  </a:lnTo>
                  <a:cubicBezTo>
                    <a:pt x="0" y="11430"/>
                    <a:pt x="11430" y="0"/>
                    <a:pt x="25400" y="0"/>
                  </a:cubicBezTo>
                  <a:moveTo>
                    <a:pt x="25400" y="50800"/>
                  </a:moveTo>
                  <a:lnTo>
                    <a:pt x="25400" y="25400"/>
                  </a:lnTo>
                  <a:lnTo>
                    <a:pt x="50800" y="25400"/>
                  </a:lnTo>
                  <a:lnTo>
                    <a:pt x="50800" y="5207000"/>
                  </a:lnTo>
                  <a:lnTo>
                    <a:pt x="25400" y="5207000"/>
                  </a:lnTo>
                  <a:lnTo>
                    <a:pt x="25400" y="5181600"/>
                  </a:lnTo>
                  <a:lnTo>
                    <a:pt x="7577582" y="5181600"/>
                  </a:lnTo>
                  <a:lnTo>
                    <a:pt x="7577582" y="5207000"/>
                  </a:lnTo>
                  <a:lnTo>
                    <a:pt x="7552182" y="5207000"/>
                  </a:lnTo>
                  <a:lnTo>
                    <a:pt x="7552182" y="25400"/>
                  </a:lnTo>
                  <a:lnTo>
                    <a:pt x="7577582" y="25400"/>
                  </a:lnTo>
                  <a:lnTo>
                    <a:pt x="7577582" y="50800"/>
                  </a:lnTo>
                  <a:lnTo>
                    <a:pt x="25400" y="50800"/>
                  </a:lnTo>
                  <a:close/>
                </a:path>
              </a:pathLst>
            </a:custGeom>
            <a:solidFill>
              <a:srgbClr val="94A3B8"/>
            </a:solidFill>
          </p:spPr>
          <p:txBody>
            <a:bodyPr/>
            <a:lstStyle/>
            <a:p>
              <a:endParaRPr lang="en-US"/>
            </a:p>
          </p:txBody>
        </p:sp>
      </p:grpSp>
      <p:grpSp>
        <p:nvGrpSpPr>
          <p:cNvPr id="9" name="Group 9"/>
          <p:cNvGrpSpPr/>
          <p:nvPr/>
        </p:nvGrpSpPr>
        <p:grpSpPr>
          <a:xfrm>
            <a:off x="4267200" y="6477000"/>
            <a:ext cx="228600" cy="228600"/>
            <a:chOff x="0" y="0"/>
            <a:chExt cx="304800" cy="304800"/>
          </a:xfrm>
        </p:grpSpPr>
        <p:sp>
          <p:nvSpPr>
            <p:cNvPr id="10" name="Freeform 10"/>
            <p:cNvSpPr/>
            <p:nvPr/>
          </p:nvSpPr>
          <p:spPr>
            <a:xfrm>
              <a:off x="0" y="0"/>
              <a:ext cx="304800" cy="304800"/>
            </a:xfrm>
            <a:custGeom>
              <a:avLst/>
              <a:gdLst/>
              <a:ahLst/>
              <a:cxnLst/>
              <a:rect l="l" t="t" r="r" b="b"/>
              <a:pathLst>
                <a:path w="304800" h="304800">
                  <a:moveTo>
                    <a:pt x="0" y="152400"/>
                  </a:moveTo>
                  <a:cubicBezTo>
                    <a:pt x="0" y="68199"/>
                    <a:pt x="68199" y="0"/>
                    <a:pt x="152400" y="0"/>
                  </a:cubicBezTo>
                  <a:cubicBezTo>
                    <a:pt x="236601" y="0"/>
                    <a:pt x="304800" y="68199"/>
                    <a:pt x="304800" y="152400"/>
                  </a:cubicBezTo>
                  <a:cubicBezTo>
                    <a:pt x="304800" y="236601"/>
                    <a:pt x="236601" y="304800"/>
                    <a:pt x="152400" y="304800"/>
                  </a:cubicBezTo>
                  <a:cubicBezTo>
                    <a:pt x="68199" y="304800"/>
                    <a:pt x="0" y="236601"/>
                    <a:pt x="0" y="152400"/>
                  </a:cubicBezTo>
                  <a:close/>
                </a:path>
              </a:pathLst>
            </a:custGeom>
            <a:solidFill>
              <a:srgbClr val="22D3EE"/>
            </a:solidFill>
          </p:spPr>
          <p:txBody>
            <a:bodyPr/>
            <a:lstStyle/>
            <a:p>
              <a:endParaRPr lang="en-US"/>
            </a:p>
          </p:txBody>
        </p:sp>
      </p:grpSp>
      <p:sp>
        <p:nvSpPr>
          <p:cNvPr id="11" name="TextBox 11"/>
          <p:cNvSpPr txBox="1"/>
          <p:nvPr/>
        </p:nvSpPr>
        <p:spPr>
          <a:xfrm>
            <a:off x="3682898" y="5959373"/>
            <a:ext cx="1243584" cy="295275"/>
          </a:xfrm>
          <a:prstGeom prst="rect">
            <a:avLst/>
          </a:prstGeom>
        </p:spPr>
        <p:txBody>
          <a:bodyPr lIns="0" tIns="0" rIns="0" bIns="0" rtlCol="0" anchor="t">
            <a:spAutoFit/>
          </a:bodyPr>
          <a:lstStyle/>
          <a:p>
            <a:pPr algn="l">
              <a:lnSpc>
                <a:spcPts val="2400"/>
              </a:lnSpc>
            </a:pPr>
            <a:r>
              <a:rPr lang="en-US" sz="2000" b="1">
                <a:solidFill>
                  <a:srgbClr val="22D3EE"/>
                </a:solidFill>
                <a:latin typeface="Courier New Bold"/>
                <a:ea typeface="Courier New Bold"/>
                <a:cs typeface="Courier New Bold"/>
                <a:sym typeface="Courier New Bold"/>
              </a:rPr>
              <a:t>P (5, 3)</a:t>
            </a:r>
          </a:p>
        </p:txBody>
      </p:sp>
      <p:grpSp>
        <p:nvGrpSpPr>
          <p:cNvPr id="12" name="Group 12"/>
          <p:cNvGrpSpPr/>
          <p:nvPr/>
        </p:nvGrpSpPr>
        <p:grpSpPr>
          <a:xfrm>
            <a:off x="4495800" y="6578498"/>
            <a:ext cx="4191000" cy="50606"/>
            <a:chOff x="0" y="0"/>
            <a:chExt cx="5588000" cy="67475"/>
          </a:xfrm>
        </p:grpSpPr>
        <p:sp>
          <p:nvSpPr>
            <p:cNvPr id="13" name="Freeform 13"/>
            <p:cNvSpPr/>
            <p:nvPr/>
          </p:nvSpPr>
          <p:spPr>
            <a:xfrm>
              <a:off x="0" y="0"/>
              <a:ext cx="5588000" cy="67437"/>
            </a:xfrm>
            <a:custGeom>
              <a:avLst/>
              <a:gdLst/>
              <a:ahLst/>
              <a:cxnLst/>
              <a:rect l="l" t="t" r="r" b="b"/>
              <a:pathLst>
                <a:path w="5588000" h="67437">
                  <a:moveTo>
                    <a:pt x="0" y="0"/>
                  </a:moveTo>
                  <a:lnTo>
                    <a:pt x="5588000" y="0"/>
                  </a:lnTo>
                  <a:lnTo>
                    <a:pt x="5588000" y="67437"/>
                  </a:lnTo>
                  <a:lnTo>
                    <a:pt x="0" y="67437"/>
                  </a:lnTo>
                  <a:close/>
                </a:path>
              </a:pathLst>
            </a:custGeom>
            <a:solidFill>
              <a:srgbClr val="22D3EE"/>
            </a:solidFill>
          </p:spPr>
          <p:txBody>
            <a:bodyPr/>
            <a:lstStyle/>
            <a:p>
              <a:endParaRPr lang="en-US"/>
            </a:p>
          </p:txBody>
        </p:sp>
      </p:grpSp>
      <p:grpSp>
        <p:nvGrpSpPr>
          <p:cNvPr id="14" name="Group 14"/>
          <p:cNvGrpSpPr/>
          <p:nvPr/>
        </p:nvGrpSpPr>
        <p:grpSpPr>
          <a:xfrm>
            <a:off x="8524875" y="6426098"/>
            <a:ext cx="361950" cy="171450"/>
            <a:chOff x="0" y="0"/>
            <a:chExt cx="482600" cy="228600"/>
          </a:xfrm>
        </p:grpSpPr>
        <p:sp>
          <p:nvSpPr>
            <p:cNvPr id="15" name="Freeform 15"/>
            <p:cNvSpPr/>
            <p:nvPr/>
          </p:nvSpPr>
          <p:spPr>
            <a:xfrm>
              <a:off x="114300" y="0"/>
              <a:ext cx="254000" cy="228600"/>
            </a:xfrm>
            <a:custGeom>
              <a:avLst/>
              <a:gdLst/>
              <a:ahLst/>
              <a:cxnLst/>
              <a:rect l="l" t="t" r="r" b="b"/>
              <a:pathLst>
                <a:path w="254000" h="228600">
                  <a:moveTo>
                    <a:pt x="0" y="0"/>
                  </a:moveTo>
                  <a:lnTo>
                    <a:pt x="254000" y="0"/>
                  </a:lnTo>
                  <a:lnTo>
                    <a:pt x="254000" y="228600"/>
                  </a:lnTo>
                  <a:lnTo>
                    <a:pt x="0" y="228600"/>
                  </a:lnTo>
                  <a:close/>
                </a:path>
              </a:pathLst>
            </a:custGeom>
            <a:solidFill>
              <a:srgbClr val="FFFFFF"/>
            </a:solidFill>
          </p:spPr>
          <p:txBody>
            <a:bodyPr/>
            <a:lstStyle/>
            <a:p>
              <a:endParaRPr lang="en-US"/>
            </a:p>
          </p:txBody>
        </p:sp>
      </p:grpSp>
      <p:grpSp>
        <p:nvGrpSpPr>
          <p:cNvPr id="16" name="Group 16"/>
          <p:cNvGrpSpPr/>
          <p:nvPr/>
        </p:nvGrpSpPr>
        <p:grpSpPr>
          <a:xfrm>
            <a:off x="8524875" y="6597548"/>
            <a:ext cx="361950" cy="171450"/>
            <a:chOff x="0" y="0"/>
            <a:chExt cx="482600" cy="228600"/>
          </a:xfrm>
        </p:grpSpPr>
        <p:sp>
          <p:nvSpPr>
            <p:cNvPr id="17" name="Freeform 17"/>
            <p:cNvSpPr/>
            <p:nvPr/>
          </p:nvSpPr>
          <p:spPr>
            <a:xfrm>
              <a:off x="114300" y="0"/>
              <a:ext cx="254000" cy="228600"/>
            </a:xfrm>
            <a:custGeom>
              <a:avLst/>
              <a:gdLst/>
              <a:ahLst/>
              <a:cxnLst/>
              <a:rect l="l" t="t" r="r" b="b"/>
              <a:pathLst>
                <a:path w="254000" h="228600">
                  <a:moveTo>
                    <a:pt x="0" y="0"/>
                  </a:moveTo>
                  <a:lnTo>
                    <a:pt x="254000" y="0"/>
                  </a:lnTo>
                  <a:lnTo>
                    <a:pt x="254000" y="228600"/>
                  </a:lnTo>
                  <a:lnTo>
                    <a:pt x="0" y="228600"/>
                  </a:lnTo>
                  <a:close/>
                </a:path>
              </a:pathLst>
            </a:custGeom>
            <a:solidFill>
              <a:srgbClr val="FFFFFF"/>
            </a:solidFill>
          </p:spPr>
          <p:txBody>
            <a:bodyPr/>
            <a:lstStyle/>
            <a:p>
              <a:endParaRPr lang="en-US"/>
            </a:p>
          </p:txBody>
        </p:sp>
      </p:grpSp>
      <p:grpSp>
        <p:nvGrpSpPr>
          <p:cNvPr id="18" name="Group 18"/>
          <p:cNvGrpSpPr/>
          <p:nvPr/>
        </p:nvGrpSpPr>
        <p:grpSpPr>
          <a:xfrm>
            <a:off x="8610600" y="6330848"/>
            <a:ext cx="190500" cy="533400"/>
            <a:chOff x="0" y="0"/>
            <a:chExt cx="254000" cy="711200"/>
          </a:xfrm>
        </p:grpSpPr>
        <p:sp>
          <p:nvSpPr>
            <p:cNvPr id="19" name="Freeform 19"/>
            <p:cNvSpPr/>
            <p:nvPr/>
          </p:nvSpPr>
          <p:spPr>
            <a:xfrm>
              <a:off x="0" y="127000"/>
              <a:ext cx="254000" cy="457200"/>
            </a:xfrm>
            <a:custGeom>
              <a:avLst/>
              <a:gdLst/>
              <a:ahLst/>
              <a:cxnLst/>
              <a:rect l="l" t="t" r="r" b="b"/>
              <a:pathLst>
                <a:path w="254000" h="457200">
                  <a:moveTo>
                    <a:pt x="254000" y="0"/>
                  </a:moveTo>
                  <a:lnTo>
                    <a:pt x="254000" y="457200"/>
                  </a:lnTo>
                  <a:lnTo>
                    <a:pt x="0" y="457200"/>
                  </a:lnTo>
                  <a:lnTo>
                    <a:pt x="0" y="0"/>
                  </a:lnTo>
                  <a:close/>
                </a:path>
              </a:pathLst>
            </a:custGeom>
            <a:solidFill>
              <a:srgbClr val="22D3EE"/>
            </a:solidFill>
          </p:spPr>
          <p:txBody>
            <a:bodyPr/>
            <a:lstStyle/>
            <a:p>
              <a:endParaRPr lang="en-US"/>
            </a:p>
          </p:txBody>
        </p:sp>
      </p:grpSp>
      <p:grpSp>
        <p:nvGrpSpPr>
          <p:cNvPr id="20" name="Group 20"/>
          <p:cNvGrpSpPr/>
          <p:nvPr/>
        </p:nvGrpSpPr>
        <p:grpSpPr>
          <a:xfrm>
            <a:off x="5492648" y="6432356"/>
            <a:ext cx="419100" cy="419100"/>
            <a:chOff x="0" y="0"/>
            <a:chExt cx="558800" cy="558800"/>
          </a:xfrm>
        </p:grpSpPr>
        <p:sp>
          <p:nvSpPr>
            <p:cNvPr id="21" name="Freeform 21"/>
            <p:cNvSpPr/>
            <p:nvPr/>
          </p:nvSpPr>
          <p:spPr>
            <a:xfrm>
              <a:off x="25400" y="25400"/>
              <a:ext cx="508000" cy="508000"/>
            </a:xfrm>
            <a:custGeom>
              <a:avLst/>
              <a:gdLst/>
              <a:ahLst/>
              <a:cxnLst/>
              <a:rect l="l" t="t" r="r" b="b"/>
              <a:pathLst>
                <a:path w="508000" h="508000">
                  <a:moveTo>
                    <a:pt x="0" y="254000"/>
                  </a:moveTo>
                  <a:cubicBezTo>
                    <a:pt x="0" y="113665"/>
                    <a:pt x="113665" y="0"/>
                    <a:pt x="254000" y="0"/>
                  </a:cubicBezTo>
                  <a:cubicBezTo>
                    <a:pt x="394335" y="0"/>
                    <a:pt x="508000" y="113665"/>
                    <a:pt x="508000" y="254000"/>
                  </a:cubicBezTo>
                  <a:cubicBezTo>
                    <a:pt x="508000" y="394335"/>
                    <a:pt x="394335" y="508000"/>
                    <a:pt x="254000" y="508000"/>
                  </a:cubicBezTo>
                  <a:cubicBezTo>
                    <a:pt x="113665" y="508000"/>
                    <a:pt x="0" y="394335"/>
                    <a:pt x="0" y="254000"/>
                  </a:cubicBezTo>
                  <a:close/>
                </a:path>
              </a:pathLst>
            </a:custGeom>
            <a:solidFill>
              <a:srgbClr val="FBBF24"/>
            </a:solidFill>
          </p:spPr>
          <p:txBody>
            <a:bodyPr/>
            <a:lstStyle/>
            <a:p>
              <a:endParaRPr lang="en-US"/>
            </a:p>
          </p:txBody>
        </p:sp>
        <p:sp>
          <p:nvSpPr>
            <p:cNvPr id="22" name="Freeform 22"/>
            <p:cNvSpPr/>
            <p:nvPr/>
          </p:nvSpPr>
          <p:spPr>
            <a:xfrm>
              <a:off x="0" y="0"/>
              <a:ext cx="558800" cy="558800"/>
            </a:xfrm>
            <a:custGeom>
              <a:avLst/>
              <a:gdLst/>
              <a:ahLst/>
              <a:cxnLst/>
              <a:rect l="l" t="t" r="r" b="b"/>
              <a:pathLst>
                <a:path w="558800" h="558800">
                  <a:moveTo>
                    <a:pt x="0" y="279400"/>
                  </a:moveTo>
                  <a:cubicBezTo>
                    <a:pt x="0" y="125095"/>
                    <a:pt x="125095" y="0"/>
                    <a:pt x="279400" y="0"/>
                  </a:cubicBezTo>
                  <a:cubicBezTo>
                    <a:pt x="286893" y="0"/>
                    <a:pt x="294005" y="3302"/>
                    <a:pt x="298831" y="9017"/>
                  </a:cubicBezTo>
                  <a:lnTo>
                    <a:pt x="279400" y="25400"/>
                  </a:lnTo>
                  <a:lnTo>
                    <a:pt x="279400" y="0"/>
                  </a:lnTo>
                  <a:lnTo>
                    <a:pt x="279400" y="25400"/>
                  </a:lnTo>
                  <a:lnTo>
                    <a:pt x="279400" y="0"/>
                  </a:lnTo>
                  <a:cubicBezTo>
                    <a:pt x="433705" y="0"/>
                    <a:pt x="558800" y="125095"/>
                    <a:pt x="558800" y="279400"/>
                  </a:cubicBezTo>
                  <a:cubicBezTo>
                    <a:pt x="558800" y="291084"/>
                    <a:pt x="550926" y="301244"/>
                    <a:pt x="539623" y="304038"/>
                  </a:cubicBezTo>
                  <a:lnTo>
                    <a:pt x="533400" y="279400"/>
                  </a:lnTo>
                  <a:lnTo>
                    <a:pt x="558800" y="279400"/>
                  </a:lnTo>
                  <a:cubicBezTo>
                    <a:pt x="558800" y="433705"/>
                    <a:pt x="433705" y="558800"/>
                    <a:pt x="279400" y="558800"/>
                  </a:cubicBezTo>
                  <a:lnTo>
                    <a:pt x="279400" y="533400"/>
                  </a:lnTo>
                  <a:lnTo>
                    <a:pt x="279400" y="558800"/>
                  </a:lnTo>
                  <a:cubicBezTo>
                    <a:pt x="125095" y="558800"/>
                    <a:pt x="0" y="433705"/>
                    <a:pt x="0" y="279400"/>
                  </a:cubicBezTo>
                  <a:lnTo>
                    <a:pt x="25400" y="279400"/>
                  </a:lnTo>
                  <a:lnTo>
                    <a:pt x="0" y="279400"/>
                  </a:lnTo>
                  <a:moveTo>
                    <a:pt x="50800" y="279400"/>
                  </a:moveTo>
                  <a:lnTo>
                    <a:pt x="25400" y="279400"/>
                  </a:lnTo>
                  <a:lnTo>
                    <a:pt x="50800" y="279400"/>
                  </a:lnTo>
                  <a:cubicBezTo>
                    <a:pt x="50800" y="405638"/>
                    <a:pt x="153162" y="508000"/>
                    <a:pt x="279400" y="508000"/>
                  </a:cubicBezTo>
                  <a:cubicBezTo>
                    <a:pt x="405638" y="508000"/>
                    <a:pt x="508000" y="405638"/>
                    <a:pt x="508000" y="279400"/>
                  </a:cubicBezTo>
                  <a:cubicBezTo>
                    <a:pt x="508000" y="267716"/>
                    <a:pt x="515874" y="257556"/>
                    <a:pt x="527177" y="254762"/>
                  </a:cubicBezTo>
                  <a:lnTo>
                    <a:pt x="533400" y="279400"/>
                  </a:lnTo>
                  <a:lnTo>
                    <a:pt x="508000" y="279400"/>
                  </a:lnTo>
                  <a:cubicBezTo>
                    <a:pt x="508000" y="153162"/>
                    <a:pt x="405638" y="50800"/>
                    <a:pt x="279400" y="50800"/>
                  </a:cubicBezTo>
                  <a:cubicBezTo>
                    <a:pt x="271907" y="50800"/>
                    <a:pt x="264795" y="47498"/>
                    <a:pt x="259969" y="41783"/>
                  </a:cubicBezTo>
                  <a:lnTo>
                    <a:pt x="279400" y="25400"/>
                  </a:lnTo>
                  <a:lnTo>
                    <a:pt x="279400" y="50800"/>
                  </a:lnTo>
                  <a:cubicBezTo>
                    <a:pt x="153162" y="50800"/>
                    <a:pt x="50800" y="153162"/>
                    <a:pt x="50800" y="279400"/>
                  </a:cubicBezTo>
                  <a:close/>
                </a:path>
              </a:pathLst>
            </a:custGeom>
            <a:solidFill>
              <a:srgbClr val="0A1628"/>
            </a:solidFill>
          </p:spPr>
          <p:txBody>
            <a:bodyPr/>
            <a:lstStyle/>
            <a:p>
              <a:endParaRPr lang="en-US"/>
            </a:p>
          </p:txBody>
        </p:sp>
      </p:grpSp>
      <p:grpSp>
        <p:nvGrpSpPr>
          <p:cNvPr id="23" name="Group 23"/>
          <p:cNvGrpSpPr/>
          <p:nvPr/>
        </p:nvGrpSpPr>
        <p:grpSpPr>
          <a:xfrm>
            <a:off x="8159648" y="6432356"/>
            <a:ext cx="419100" cy="419100"/>
            <a:chOff x="0" y="0"/>
            <a:chExt cx="558800" cy="558800"/>
          </a:xfrm>
        </p:grpSpPr>
        <p:sp>
          <p:nvSpPr>
            <p:cNvPr id="24" name="Freeform 24"/>
            <p:cNvSpPr/>
            <p:nvPr/>
          </p:nvSpPr>
          <p:spPr>
            <a:xfrm>
              <a:off x="25400" y="25400"/>
              <a:ext cx="508000" cy="508000"/>
            </a:xfrm>
            <a:custGeom>
              <a:avLst/>
              <a:gdLst/>
              <a:ahLst/>
              <a:cxnLst/>
              <a:rect l="l" t="t" r="r" b="b"/>
              <a:pathLst>
                <a:path w="508000" h="508000">
                  <a:moveTo>
                    <a:pt x="0" y="254000"/>
                  </a:moveTo>
                  <a:cubicBezTo>
                    <a:pt x="0" y="113665"/>
                    <a:pt x="113665" y="0"/>
                    <a:pt x="254000" y="0"/>
                  </a:cubicBezTo>
                  <a:cubicBezTo>
                    <a:pt x="394335" y="0"/>
                    <a:pt x="508000" y="113665"/>
                    <a:pt x="508000" y="254000"/>
                  </a:cubicBezTo>
                  <a:cubicBezTo>
                    <a:pt x="508000" y="394335"/>
                    <a:pt x="394335" y="508000"/>
                    <a:pt x="254000" y="508000"/>
                  </a:cubicBezTo>
                  <a:cubicBezTo>
                    <a:pt x="113665" y="508000"/>
                    <a:pt x="0" y="394335"/>
                    <a:pt x="0" y="254000"/>
                  </a:cubicBezTo>
                  <a:close/>
                </a:path>
              </a:pathLst>
            </a:custGeom>
            <a:solidFill>
              <a:srgbClr val="FBBF24"/>
            </a:solidFill>
          </p:spPr>
          <p:txBody>
            <a:bodyPr/>
            <a:lstStyle/>
            <a:p>
              <a:endParaRPr lang="en-US"/>
            </a:p>
          </p:txBody>
        </p:sp>
        <p:sp>
          <p:nvSpPr>
            <p:cNvPr id="25" name="Freeform 25"/>
            <p:cNvSpPr/>
            <p:nvPr/>
          </p:nvSpPr>
          <p:spPr>
            <a:xfrm>
              <a:off x="0" y="0"/>
              <a:ext cx="558800" cy="558800"/>
            </a:xfrm>
            <a:custGeom>
              <a:avLst/>
              <a:gdLst/>
              <a:ahLst/>
              <a:cxnLst/>
              <a:rect l="l" t="t" r="r" b="b"/>
              <a:pathLst>
                <a:path w="558800" h="558800">
                  <a:moveTo>
                    <a:pt x="0" y="279400"/>
                  </a:moveTo>
                  <a:cubicBezTo>
                    <a:pt x="0" y="125095"/>
                    <a:pt x="125095" y="0"/>
                    <a:pt x="279400" y="0"/>
                  </a:cubicBezTo>
                  <a:cubicBezTo>
                    <a:pt x="286893" y="0"/>
                    <a:pt x="294005" y="3302"/>
                    <a:pt x="298831" y="9017"/>
                  </a:cubicBezTo>
                  <a:lnTo>
                    <a:pt x="279400" y="25400"/>
                  </a:lnTo>
                  <a:lnTo>
                    <a:pt x="279400" y="0"/>
                  </a:lnTo>
                  <a:lnTo>
                    <a:pt x="279400" y="25400"/>
                  </a:lnTo>
                  <a:lnTo>
                    <a:pt x="279400" y="0"/>
                  </a:lnTo>
                  <a:cubicBezTo>
                    <a:pt x="433705" y="0"/>
                    <a:pt x="558800" y="125095"/>
                    <a:pt x="558800" y="279400"/>
                  </a:cubicBezTo>
                  <a:cubicBezTo>
                    <a:pt x="558800" y="291084"/>
                    <a:pt x="550926" y="301244"/>
                    <a:pt x="539623" y="304038"/>
                  </a:cubicBezTo>
                  <a:lnTo>
                    <a:pt x="533400" y="279400"/>
                  </a:lnTo>
                  <a:lnTo>
                    <a:pt x="558800" y="279400"/>
                  </a:lnTo>
                  <a:cubicBezTo>
                    <a:pt x="558800" y="433705"/>
                    <a:pt x="433705" y="558800"/>
                    <a:pt x="279400" y="558800"/>
                  </a:cubicBezTo>
                  <a:lnTo>
                    <a:pt x="279400" y="533400"/>
                  </a:lnTo>
                  <a:lnTo>
                    <a:pt x="279400" y="558800"/>
                  </a:lnTo>
                  <a:cubicBezTo>
                    <a:pt x="125095" y="558800"/>
                    <a:pt x="0" y="433705"/>
                    <a:pt x="0" y="279400"/>
                  </a:cubicBezTo>
                  <a:lnTo>
                    <a:pt x="25400" y="279400"/>
                  </a:lnTo>
                  <a:lnTo>
                    <a:pt x="0" y="279400"/>
                  </a:lnTo>
                  <a:moveTo>
                    <a:pt x="50800" y="279400"/>
                  </a:moveTo>
                  <a:lnTo>
                    <a:pt x="25400" y="279400"/>
                  </a:lnTo>
                  <a:lnTo>
                    <a:pt x="50800" y="279400"/>
                  </a:lnTo>
                  <a:cubicBezTo>
                    <a:pt x="50800" y="405638"/>
                    <a:pt x="153162" y="508000"/>
                    <a:pt x="279400" y="508000"/>
                  </a:cubicBezTo>
                  <a:cubicBezTo>
                    <a:pt x="405638" y="508000"/>
                    <a:pt x="508000" y="405638"/>
                    <a:pt x="508000" y="279400"/>
                  </a:cubicBezTo>
                  <a:cubicBezTo>
                    <a:pt x="508000" y="267716"/>
                    <a:pt x="515874" y="257556"/>
                    <a:pt x="527177" y="254762"/>
                  </a:cubicBezTo>
                  <a:lnTo>
                    <a:pt x="533400" y="279400"/>
                  </a:lnTo>
                  <a:lnTo>
                    <a:pt x="508000" y="279400"/>
                  </a:lnTo>
                  <a:cubicBezTo>
                    <a:pt x="508000" y="153162"/>
                    <a:pt x="405638" y="50800"/>
                    <a:pt x="279400" y="50800"/>
                  </a:cubicBezTo>
                  <a:cubicBezTo>
                    <a:pt x="271907" y="50800"/>
                    <a:pt x="264795" y="47498"/>
                    <a:pt x="259969" y="41783"/>
                  </a:cubicBezTo>
                  <a:lnTo>
                    <a:pt x="279400" y="25400"/>
                  </a:lnTo>
                  <a:lnTo>
                    <a:pt x="279400" y="50800"/>
                  </a:lnTo>
                  <a:cubicBezTo>
                    <a:pt x="153162" y="50800"/>
                    <a:pt x="50800" y="153162"/>
                    <a:pt x="50800" y="279400"/>
                  </a:cubicBezTo>
                  <a:close/>
                </a:path>
              </a:pathLst>
            </a:custGeom>
            <a:solidFill>
              <a:srgbClr val="0A1628"/>
            </a:solidFill>
          </p:spPr>
          <p:txBody>
            <a:bodyPr/>
            <a:lstStyle/>
            <a:p>
              <a:endParaRPr lang="en-US"/>
            </a:p>
          </p:txBody>
        </p:sp>
      </p:grpSp>
      <p:sp>
        <p:nvSpPr>
          <p:cNvPr id="26" name="TextBox 26"/>
          <p:cNvSpPr txBox="1"/>
          <p:nvPr/>
        </p:nvSpPr>
        <p:spPr>
          <a:xfrm>
            <a:off x="5257800" y="6838950"/>
            <a:ext cx="816712" cy="285750"/>
          </a:xfrm>
          <a:prstGeom prst="rect">
            <a:avLst/>
          </a:prstGeom>
        </p:spPr>
        <p:txBody>
          <a:bodyPr lIns="0" tIns="0" rIns="0" bIns="0" rtlCol="0" anchor="t">
            <a:spAutoFit/>
          </a:bodyPr>
          <a:lstStyle/>
          <a:p>
            <a:pPr algn="l">
              <a:lnSpc>
                <a:spcPts val="2160"/>
              </a:lnSpc>
            </a:pPr>
            <a:r>
              <a:rPr lang="en-US" sz="1800" b="1">
                <a:solidFill>
                  <a:srgbClr val="FBBF24"/>
                </a:solidFill>
                <a:latin typeface="Arial Bold"/>
                <a:ea typeface="Arial Bold"/>
                <a:cs typeface="Arial Bold"/>
                <a:sym typeface="Arial Bold"/>
              </a:rPr>
              <a:t>cross 1</a:t>
            </a:r>
          </a:p>
        </p:txBody>
      </p:sp>
      <p:sp>
        <p:nvSpPr>
          <p:cNvPr id="27" name="TextBox 27"/>
          <p:cNvSpPr txBox="1"/>
          <p:nvPr/>
        </p:nvSpPr>
        <p:spPr>
          <a:xfrm>
            <a:off x="7924800" y="6838950"/>
            <a:ext cx="816712" cy="285750"/>
          </a:xfrm>
          <a:prstGeom prst="rect">
            <a:avLst/>
          </a:prstGeom>
        </p:spPr>
        <p:txBody>
          <a:bodyPr lIns="0" tIns="0" rIns="0" bIns="0" rtlCol="0" anchor="t">
            <a:spAutoFit/>
          </a:bodyPr>
          <a:lstStyle/>
          <a:p>
            <a:pPr algn="l">
              <a:lnSpc>
                <a:spcPts val="2160"/>
              </a:lnSpc>
            </a:pPr>
            <a:r>
              <a:rPr lang="en-US" sz="1800" b="1">
                <a:solidFill>
                  <a:srgbClr val="FBBF24"/>
                </a:solidFill>
                <a:latin typeface="Arial Bold"/>
                <a:ea typeface="Arial Bold"/>
                <a:cs typeface="Arial Bold"/>
                <a:sym typeface="Arial Bold"/>
              </a:rPr>
              <a:t>cross 2</a:t>
            </a:r>
          </a:p>
        </p:txBody>
      </p:sp>
      <p:grpSp>
        <p:nvGrpSpPr>
          <p:cNvPr id="28" name="Group 28"/>
          <p:cNvGrpSpPr/>
          <p:nvPr/>
        </p:nvGrpSpPr>
        <p:grpSpPr>
          <a:xfrm>
            <a:off x="10413806" y="4191000"/>
            <a:ext cx="6349898" cy="1438866"/>
            <a:chOff x="0" y="0"/>
            <a:chExt cx="8466531" cy="1918487"/>
          </a:xfrm>
        </p:grpSpPr>
        <p:sp>
          <p:nvSpPr>
            <p:cNvPr id="29" name="Freeform 29"/>
            <p:cNvSpPr/>
            <p:nvPr/>
          </p:nvSpPr>
          <p:spPr>
            <a:xfrm>
              <a:off x="0" y="0"/>
              <a:ext cx="8466582" cy="1918462"/>
            </a:xfrm>
            <a:custGeom>
              <a:avLst/>
              <a:gdLst/>
              <a:ahLst/>
              <a:cxnLst/>
              <a:rect l="l" t="t" r="r" b="b"/>
              <a:pathLst>
                <a:path w="8466582" h="1918462">
                  <a:moveTo>
                    <a:pt x="0" y="0"/>
                  </a:moveTo>
                  <a:lnTo>
                    <a:pt x="8466582" y="0"/>
                  </a:lnTo>
                  <a:lnTo>
                    <a:pt x="8466582" y="1918462"/>
                  </a:lnTo>
                  <a:lnTo>
                    <a:pt x="0" y="1918462"/>
                  </a:lnTo>
                  <a:close/>
                </a:path>
              </a:pathLst>
            </a:custGeom>
            <a:solidFill>
              <a:srgbClr val="122236"/>
            </a:solidFill>
          </p:spPr>
          <p:txBody>
            <a:bodyPr/>
            <a:lstStyle/>
            <a:p>
              <a:endParaRPr lang="en-US"/>
            </a:p>
          </p:txBody>
        </p:sp>
      </p:grpSp>
      <p:grpSp>
        <p:nvGrpSpPr>
          <p:cNvPr id="30" name="Group 30"/>
          <p:cNvGrpSpPr/>
          <p:nvPr/>
        </p:nvGrpSpPr>
        <p:grpSpPr>
          <a:xfrm>
            <a:off x="10413797" y="4143375"/>
            <a:ext cx="95250" cy="1534116"/>
            <a:chOff x="0" y="0"/>
            <a:chExt cx="127000" cy="2045487"/>
          </a:xfrm>
        </p:grpSpPr>
        <p:sp>
          <p:nvSpPr>
            <p:cNvPr id="31" name="Freeform 31"/>
            <p:cNvSpPr/>
            <p:nvPr/>
          </p:nvSpPr>
          <p:spPr>
            <a:xfrm>
              <a:off x="0" y="63500"/>
              <a:ext cx="127000" cy="1918462"/>
            </a:xfrm>
            <a:custGeom>
              <a:avLst/>
              <a:gdLst/>
              <a:ahLst/>
              <a:cxnLst/>
              <a:rect l="l" t="t" r="r" b="b"/>
              <a:pathLst>
                <a:path w="127000" h="1918462">
                  <a:moveTo>
                    <a:pt x="127000" y="0"/>
                  </a:moveTo>
                  <a:lnTo>
                    <a:pt x="127000" y="1918462"/>
                  </a:lnTo>
                  <a:lnTo>
                    <a:pt x="0" y="1918462"/>
                  </a:lnTo>
                  <a:lnTo>
                    <a:pt x="0" y="0"/>
                  </a:lnTo>
                  <a:close/>
                </a:path>
              </a:pathLst>
            </a:custGeom>
            <a:solidFill>
              <a:srgbClr val="22D3EE"/>
            </a:solidFill>
          </p:spPr>
          <p:txBody>
            <a:bodyPr/>
            <a:lstStyle/>
            <a:p>
              <a:endParaRPr lang="en-US"/>
            </a:p>
          </p:txBody>
        </p:sp>
      </p:grpSp>
      <p:sp>
        <p:nvSpPr>
          <p:cNvPr id="32" name="TextBox 32"/>
          <p:cNvSpPr txBox="1"/>
          <p:nvPr/>
        </p:nvSpPr>
        <p:spPr>
          <a:xfrm>
            <a:off x="10813856" y="4365431"/>
            <a:ext cx="5757948" cy="325631"/>
          </a:xfrm>
          <a:prstGeom prst="rect">
            <a:avLst/>
          </a:prstGeom>
        </p:spPr>
        <p:txBody>
          <a:bodyPr lIns="0" tIns="0" rIns="0" bIns="0" rtlCol="0" anchor="t">
            <a:spAutoFit/>
          </a:bodyPr>
          <a:lstStyle/>
          <a:p>
            <a:pPr algn="l">
              <a:lnSpc>
                <a:spcPts val="2340"/>
              </a:lnSpc>
            </a:pPr>
            <a:r>
              <a:rPr lang="en-US" sz="1800" b="1">
                <a:solidFill>
                  <a:srgbClr val="22D3EE"/>
                </a:solidFill>
                <a:latin typeface="Courier New Bold"/>
                <a:ea typeface="Courier New Bold"/>
                <a:cs typeface="Courier New Bold"/>
                <a:sym typeface="Courier New Bold"/>
              </a:rPr>
              <a:t>STEP 1</a:t>
            </a:r>
          </a:p>
        </p:txBody>
      </p:sp>
      <p:sp>
        <p:nvSpPr>
          <p:cNvPr id="33" name="TextBox 33"/>
          <p:cNvSpPr txBox="1"/>
          <p:nvPr/>
        </p:nvSpPr>
        <p:spPr>
          <a:xfrm>
            <a:off x="10813856" y="4722609"/>
            <a:ext cx="5757948" cy="323850"/>
          </a:xfrm>
          <a:prstGeom prst="rect">
            <a:avLst/>
          </a:prstGeom>
        </p:spPr>
        <p:txBody>
          <a:bodyPr lIns="0" tIns="0" rIns="0" bIns="0" rtlCol="0" anchor="t">
            <a:spAutoFit/>
          </a:bodyPr>
          <a:lstStyle/>
          <a:p>
            <a:pPr algn="l">
              <a:lnSpc>
                <a:spcPts val="2640"/>
              </a:lnSpc>
            </a:pPr>
            <a:r>
              <a:rPr lang="en-US" sz="2200" b="1">
                <a:solidFill>
                  <a:srgbClr val="F1F5F9"/>
                </a:solidFill>
                <a:latin typeface="Arial Bold"/>
                <a:ea typeface="Arial Bold"/>
                <a:cs typeface="Arial Bold"/>
                <a:sym typeface="Arial Bold"/>
              </a:rPr>
              <a:t>Cast ray rightward</a:t>
            </a:r>
          </a:p>
        </p:txBody>
      </p:sp>
      <p:sp>
        <p:nvSpPr>
          <p:cNvPr id="34" name="TextBox 34"/>
          <p:cNvSpPr txBox="1"/>
          <p:nvPr/>
        </p:nvSpPr>
        <p:spPr>
          <a:xfrm>
            <a:off x="10813856" y="5068491"/>
            <a:ext cx="5757948" cy="358378"/>
          </a:xfrm>
          <a:prstGeom prst="rect">
            <a:avLst/>
          </a:prstGeom>
        </p:spPr>
        <p:txBody>
          <a:bodyPr lIns="0" tIns="0" rIns="0" bIns="0" rtlCol="0" anchor="t">
            <a:spAutoFit/>
          </a:bodyPr>
          <a:lstStyle/>
          <a:p>
            <a:pPr algn="l">
              <a:lnSpc>
                <a:spcPts val="2600"/>
              </a:lnSpc>
            </a:pPr>
            <a:r>
              <a:rPr lang="en-US" sz="2000">
                <a:solidFill>
                  <a:srgbClr val="94A3B8"/>
                </a:solidFill>
                <a:latin typeface="Arial"/>
                <a:ea typeface="Arial"/>
                <a:cs typeface="Arial"/>
                <a:sym typeface="Arial"/>
              </a:rPr>
              <a:t>From point P along +x direction</a:t>
            </a:r>
          </a:p>
        </p:txBody>
      </p:sp>
      <p:grpSp>
        <p:nvGrpSpPr>
          <p:cNvPr id="35" name="Group 35"/>
          <p:cNvGrpSpPr/>
          <p:nvPr/>
        </p:nvGrpSpPr>
        <p:grpSpPr>
          <a:xfrm>
            <a:off x="10413806" y="5782266"/>
            <a:ext cx="6349898" cy="1438866"/>
            <a:chOff x="0" y="0"/>
            <a:chExt cx="8466531" cy="1918487"/>
          </a:xfrm>
        </p:grpSpPr>
        <p:sp>
          <p:nvSpPr>
            <p:cNvPr id="36" name="Freeform 36"/>
            <p:cNvSpPr/>
            <p:nvPr/>
          </p:nvSpPr>
          <p:spPr>
            <a:xfrm>
              <a:off x="0" y="0"/>
              <a:ext cx="8466582" cy="1918462"/>
            </a:xfrm>
            <a:custGeom>
              <a:avLst/>
              <a:gdLst/>
              <a:ahLst/>
              <a:cxnLst/>
              <a:rect l="l" t="t" r="r" b="b"/>
              <a:pathLst>
                <a:path w="8466582" h="1918462">
                  <a:moveTo>
                    <a:pt x="0" y="0"/>
                  </a:moveTo>
                  <a:lnTo>
                    <a:pt x="8466582" y="0"/>
                  </a:lnTo>
                  <a:lnTo>
                    <a:pt x="8466582" y="1918462"/>
                  </a:lnTo>
                  <a:lnTo>
                    <a:pt x="0" y="1918462"/>
                  </a:lnTo>
                  <a:close/>
                </a:path>
              </a:pathLst>
            </a:custGeom>
            <a:solidFill>
              <a:srgbClr val="122236"/>
            </a:solidFill>
          </p:spPr>
          <p:txBody>
            <a:bodyPr/>
            <a:lstStyle/>
            <a:p>
              <a:endParaRPr lang="en-US"/>
            </a:p>
          </p:txBody>
        </p:sp>
      </p:grpSp>
      <p:grpSp>
        <p:nvGrpSpPr>
          <p:cNvPr id="37" name="Group 37"/>
          <p:cNvGrpSpPr/>
          <p:nvPr/>
        </p:nvGrpSpPr>
        <p:grpSpPr>
          <a:xfrm>
            <a:off x="10413797" y="5734641"/>
            <a:ext cx="95250" cy="1534116"/>
            <a:chOff x="0" y="0"/>
            <a:chExt cx="127000" cy="2045487"/>
          </a:xfrm>
        </p:grpSpPr>
        <p:sp>
          <p:nvSpPr>
            <p:cNvPr id="38" name="Freeform 38"/>
            <p:cNvSpPr/>
            <p:nvPr/>
          </p:nvSpPr>
          <p:spPr>
            <a:xfrm>
              <a:off x="0" y="63500"/>
              <a:ext cx="127000" cy="1918462"/>
            </a:xfrm>
            <a:custGeom>
              <a:avLst/>
              <a:gdLst/>
              <a:ahLst/>
              <a:cxnLst/>
              <a:rect l="l" t="t" r="r" b="b"/>
              <a:pathLst>
                <a:path w="127000" h="1918462">
                  <a:moveTo>
                    <a:pt x="127000" y="0"/>
                  </a:moveTo>
                  <a:lnTo>
                    <a:pt x="127000" y="1918462"/>
                  </a:lnTo>
                  <a:lnTo>
                    <a:pt x="0" y="1918462"/>
                  </a:lnTo>
                  <a:lnTo>
                    <a:pt x="0" y="0"/>
                  </a:lnTo>
                  <a:close/>
                </a:path>
              </a:pathLst>
            </a:custGeom>
            <a:solidFill>
              <a:srgbClr val="22D3EE"/>
            </a:solidFill>
          </p:spPr>
          <p:txBody>
            <a:bodyPr/>
            <a:lstStyle/>
            <a:p>
              <a:endParaRPr lang="en-US"/>
            </a:p>
          </p:txBody>
        </p:sp>
      </p:grpSp>
      <p:sp>
        <p:nvSpPr>
          <p:cNvPr id="39" name="TextBox 39"/>
          <p:cNvSpPr txBox="1"/>
          <p:nvPr/>
        </p:nvSpPr>
        <p:spPr>
          <a:xfrm>
            <a:off x="10813856" y="5956697"/>
            <a:ext cx="5757948" cy="325631"/>
          </a:xfrm>
          <a:prstGeom prst="rect">
            <a:avLst/>
          </a:prstGeom>
        </p:spPr>
        <p:txBody>
          <a:bodyPr lIns="0" tIns="0" rIns="0" bIns="0" rtlCol="0" anchor="t">
            <a:spAutoFit/>
          </a:bodyPr>
          <a:lstStyle/>
          <a:p>
            <a:pPr algn="l">
              <a:lnSpc>
                <a:spcPts val="2340"/>
              </a:lnSpc>
            </a:pPr>
            <a:r>
              <a:rPr lang="en-US" sz="1800" b="1">
                <a:solidFill>
                  <a:srgbClr val="22D3EE"/>
                </a:solidFill>
                <a:latin typeface="Courier New Bold"/>
                <a:ea typeface="Courier New Bold"/>
                <a:cs typeface="Courier New Bold"/>
                <a:sym typeface="Courier New Bold"/>
              </a:rPr>
              <a:t>STEP 2</a:t>
            </a:r>
          </a:p>
        </p:txBody>
      </p:sp>
      <p:sp>
        <p:nvSpPr>
          <p:cNvPr id="40" name="TextBox 40"/>
          <p:cNvSpPr txBox="1"/>
          <p:nvPr/>
        </p:nvSpPr>
        <p:spPr>
          <a:xfrm>
            <a:off x="10813856" y="6313884"/>
            <a:ext cx="5757948" cy="323850"/>
          </a:xfrm>
          <a:prstGeom prst="rect">
            <a:avLst/>
          </a:prstGeom>
        </p:spPr>
        <p:txBody>
          <a:bodyPr lIns="0" tIns="0" rIns="0" bIns="0" rtlCol="0" anchor="t">
            <a:spAutoFit/>
          </a:bodyPr>
          <a:lstStyle/>
          <a:p>
            <a:pPr algn="l">
              <a:lnSpc>
                <a:spcPts val="2640"/>
              </a:lnSpc>
            </a:pPr>
            <a:r>
              <a:rPr lang="en-US" sz="2200" b="1">
                <a:solidFill>
                  <a:srgbClr val="F1F5F9"/>
                </a:solidFill>
                <a:latin typeface="Arial Bold"/>
                <a:ea typeface="Arial Bold"/>
                <a:cs typeface="Arial Bold"/>
                <a:sym typeface="Arial Bold"/>
              </a:rPr>
              <a:t>Count edge crossings</a:t>
            </a:r>
          </a:p>
        </p:txBody>
      </p:sp>
      <p:sp>
        <p:nvSpPr>
          <p:cNvPr id="41" name="TextBox 41"/>
          <p:cNvSpPr txBox="1"/>
          <p:nvPr/>
        </p:nvSpPr>
        <p:spPr>
          <a:xfrm>
            <a:off x="10813856" y="6659766"/>
            <a:ext cx="5757948" cy="358378"/>
          </a:xfrm>
          <a:prstGeom prst="rect">
            <a:avLst/>
          </a:prstGeom>
        </p:spPr>
        <p:txBody>
          <a:bodyPr lIns="0" tIns="0" rIns="0" bIns="0" rtlCol="0" anchor="t">
            <a:spAutoFit/>
          </a:bodyPr>
          <a:lstStyle/>
          <a:p>
            <a:pPr algn="l">
              <a:lnSpc>
                <a:spcPts val="2600"/>
              </a:lnSpc>
            </a:pPr>
            <a:r>
              <a:rPr lang="en-US" sz="2000">
                <a:solidFill>
                  <a:srgbClr val="94A3B8"/>
                </a:solidFill>
                <a:latin typeface="Arial"/>
                <a:ea typeface="Arial"/>
                <a:cs typeface="Arial"/>
                <a:sym typeface="Arial"/>
              </a:rPr>
              <a:t>Found </a:t>
            </a:r>
            <a:r>
              <a:rPr lang="en-US" sz="2000" b="1">
                <a:solidFill>
                  <a:srgbClr val="FBBF24"/>
                </a:solidFill>
                <a:latin typeface="Arial Bold"/>
                <a:ea typeface="Arial Bold"/>
                <a:cs typeface="Arial Bold"/>
                <a:sym typeface="Arial Bold"/>
              </a:rPr>
              <a:t>2</a:t>
            </a:r>
            <a:r>
              <a:rPr lang="en-US" sz="2000">
                <a:solidFill>
                  <a:srgbClr val="94A3B8"/>
                </a:solidFill>
                <a:latin typeface="Arial"/>
                <a:ea typeface="Arial"/>
                <a:cs typeface="Arial"/>
                <a:sym typeface="Arial"/>
              </a:rPr>
              <a:t> intersections with polygon edges</a:t>
            </a:r>
          </a:p>
        </p:txBody>
      </p:sp>
      <p:grpSp>
        <p:nvGrpSpPr>
          <p:cNvPr id="42" name="Group 42"/>
          <p:cNvGrpSpPr/>
          <p:nvPr/>
        </p:nvGrpSpPr>
        <p:grpSpPr>
          <a:xfrm>
            <a:off x="10413806" y="7373541"/>
            <a:ext cx="6349898" cy="1438866"/>
            <a:chOff x="0" y="0"/>
            <a:chExt cx="8466531" cy="1918487"/>
          </a:xfrm>
        </p:grpSpPr>
        <p:sp>
          <p:nvSpPr>
            <p:cNvPr id="43" name="Freeform 43"/>
            <p:cNvSpPr/>
            <p:nvPr/>
          </p:nvSpPr>
          <p:spPr>
            <a:xfrm>
              <a:off x="0" y="0"/>
              <a:ext cx="8466582" cy="1918462"/>
            </a:xfrm>
            <a:custGeom>
              <a:avLst/>
              <a:gdLst/>
              <a:ahLst/>
              <a:cxnLst/>
              <a:rect l="l" t="t" r="r" b="b"/>
              <a:pathLst>
                <a:path w="8466582" h="1918462">
                  <a:moveTo>
                    <a:pt x="0" y="0"/>
                  </a:moveTo>
                  <a:lnTo>
                    <a:pt x="8466582" y="0"/>
                  </a:lnTo>
                  <a:lnTo>
                    <a:pt x="8466582" y="1918462"/>
                  </a:lnTo>
                  <a:lnTo>
                    <a:pt x="0" y="1918462"/>
                  </a:lnTo>
                  <a:close/>
                </a:path>
              </a:pathLst>
            </a:custGeom>
            <a:solidFill>
              <a:srgbClr val="122236"/>
            </a:solidFill>
          </p:spPr>
          <p:txBody>
            <a:bodyPr/>
            <a:lstStyle/>
            <a:p>
              <a:endParaRPr lang="en-US"/>
            </a:p>
          </p:txBody>
        </p:sp>
      </p:grpSp>
      <p:grpSp>
        <p:nvGrpSpPr>
          <p:cNvPr id="44" name="Group 44"/>
          <p:cNvGrpSpPr/>
          <p:nvPr/>
        </p:nvGrpSpPr>
        <p:grpSpPr>
          <a:xfrm>
            <a:off x="10413797" y="7325916"/>
            <a:ext cx="95250" cy="1534116"/>
            <a:chOff x="0" y="0"/>
            <a:chExt cx="127000" cy="2045487"/>
          </a:xfrm>
        </p:grpSpPr>
        <p:sp>
          <p:nvSpPr>
            <p:cNvPr id="45" name="Freeform 45"/>
            <p:cNvSpPr/>
            <p:nvPr/>
          </p:nvSpPr>
          <p:spPr>
            <a:xfrm>
              <a:off x="0" y="63500"/>
              <a:ext cx="127000" cy="1918462"/>
            </a:xfrm>
            <a:custGeom>
              <a:avLst/>
              <a:gdLst/>
              <a:ahLst/>
              <a:cxnLst/>
              <a:rect l="l" t="t" r="r" b="b"/>
              <a:pathLst>
                <a:path w="127000" h="1918462">
                  <a:moveTo>
                    <a:pt x="127000" y="0"/>
                  </a:moveTo>
                  <a:lnTo>
                    <a:pt x="127000" y="1918462"/>
                  </a:lnTo>
                  <a:lnTo>
                    <a:pt x="0" y="1918462"/>
                  </a:lnTo>
                  <a:lnTo>
                    <a:pt x="0" y="0"/>
                  </a:lnTo>
                  <a:close/>
                </a:path>
              </a:pathLst>
            </a:custGeom>
            <a:solidFill>
              <a:srgbClr val="22D3EE"/>
            </a:solidFill>
          </p:spPr>
          <p:txBody>
            <a:bodyPr/>
            <a:lstStyle/>
            <a:p>
              <a:endParaRPr lang="en-US"/>
            </a:p>
          </p:txBody>
        </p:sp>
      </p:grpSp>
      <p:sp>
        <p:nvSpPr>
          <p:cNvPr id="46" name="TextBox 46"/>
          <p:cNvSpPr txBox="1"/>
          <p:nvPr/>
        </p:nvSpPr>
        <p:spPr>
          <a:xfrm>
            <a:off x="10813856" y="7547962"/>
            <a:ext cx="5757948" cy="325631"/>
          </a:xfrm>
          <a:prstGeom prst="rect">
            <a:avLst/>
          </a:prstGeom>
        </p:spPr>
        <p:txBody>
          <a:bodyPr lIns="0" tIns="0" rIns="0" bIns="0" rtlCol="0" anchor="t">
            <a:spAutoFit/>
          </a:bodyPr>
          <a:lstStyle/>
          <a:p>
            <a:pPr algn="l">
              <a:lnSpc>
                <a:spcPts val="2340"/>
              </a:lnSpc>
            </a:pPr>
            <a:r>
              <a:rPr lang="en-US" sz="1800" b="1">
                <a:solidFill>
                  <a:srgbClr val="22D3EE"/>
                </a:solidFill>
                <a:latin typeface="Courier New Bold"/>
                <a:ea typeface="Courier New Bold"/>
                <a:cs typeface="Courier New Bold"/>
                <a:sym typeface="Courier New Bold"/>
              </a:rPr>
              <a:t>STEP 3</a:t>
            </a:r>
          </a:p>
        </p:txBody>
      </p:sp>
      <p:sp>
        <p:nvSpPr>
          <p:cNvPr id="47" name="TextBox 47"/>
          <p:cNvSpPr txBox="1"/>
          <p:nvPr/>
        </p:nvSpPr>
        <p:spPr>
          <a:xfrm>
            <a:off x="10813856" y="7905150"/>
            <a:ext cx="5757948" cy="323850"/>
          </a:xfrm>
          <a:prstGeom prst="rect">
            <a:avLst/>
          </a:prstGeom>
        </p:spPr>
        <p:txBody>
          <a:bodyPr lIns="0" tIns="0" rIns="0" bIns="0" rtlCol="0" anchor="t">
            <a:spAutoFit/>
          </a:bodyPr>
          <a:lstStyle/>
          <a:p>
            <a:pPr algn="l">
              <a:lnSpc>
                <a:spcPts val="2640"/>
              </a:lnSpc>
            </a:pPr>
            <a:r>
              <a:rPr lang="en-US" sz="2200" b="1">
                <a:solidFill>
                  <a:srgbClr val="F1F5F9"/>
                </a:solidFill>
                <a:latin typeface="Arial Bold"/>
                <a:ea typeface="Arial Bold"/>
                <a:cs typeface="Arial Bold"/>
                <a:sym typeface="Arial Bold"/>
              </a:rPr>
              <a:t>Apply odd / even rule</a:t>
            </a:r>
          </a:p>
        </p:txBody>
      </p:sp>
      <p:sp>
        <p:nvSpPr>
          <p:cNvPr id="48" name="TextBox 48"/>
          <p:cNvSpPr txBox="1"/>
          <p:nvPr/>
        </p:nvSpPr>
        <p:spPr>
          <a:xfrm>
            <a:off x="10813856" y="8251031"/>
            <a:ext cx="5757948" cy="358378"/>
          </a:xfrm>
          <a:prstGeom prst="rect">
            <a:avLst/>
          </a:prstGeom>
        </p:spPr>
        <p:txBody>
          <a:bodyPr lIns="0" tIns="0" rIns="0" bIns="0" rtlCol="0" anchor="t">
            <a:spAutoFit/>
          </a:bodyPr>
          <a:lstStyle/>
          <a:p>
            <a:pPr algn="l">
              <a:lnSpc>
                <a:spcPts val="2600"/>
              </a:lnSpc>
            </a:pPr>
            <a:r>
              <a:rPr lang="en-US" sz="2000">
                <a:solidFill>
                  <a:srgbClr val="94A3B8"/>
                </a:solidFill>
                <a:latin typeface="Arial"/>
                <a:ea typeface="Arial"/>
                <a:cs typeface="Arial"/>
                <a:sym typeface="Arial"/>
              </a:rPr>
              <a:t>2 is even  →  point is OUTSIDE</a:t>
            </a:r>
          </a:p>
        </p:txBody>
      </p:sp>
      <p:grpSp>
        <p:nvGrpSpPr>
          <p:cNvPr id="49" name="Group 49"/>
          <p:cNvGrpSpPr/>
          <p:nvPr/>
        </p:nvGrpSpPr>
        <p:grpSpPr>
          <a:xfrm>
            <a:off x="10413806" y="8964806"/>
            <a:ext cx="6349898" cy="748903"/>
            <a:chOff x="0" y="0"/>
            <a:chExt cx="8466531" cy="998538"/>
          </a:xfrm>
        </p:grpSpPr>
        <p:sp>
          <p:nvSpPr>
            <p:cNvPr id="50" name="Freeform 50"/>
            <p:cNvSpPr/>
            <p:nvPr/>
          </p:nvSpPr>
          <p:spPr>
            <a:xfrm>
              <a:off x="0" y="0"/>
              <a:ext cx="8466582" cy="998601"/>
            </a:xfrm>
            <a:custGeom>
              <a:avLst/>
              <a:gdLst/>
              <a:ahLst/>
              <a:cxnLst/>
              <a:rect l="l" t="t" r="r" b="b"/>
              <a:pathLst>
                <a:path w="8466582" h="998601">
                  <a:moveTo>
                    <a:pt x="0" y="135509"/>
                  </a:moveTo>
                  <a:cubicBezTo>
                    <a:pt x="0" y="60706"/>
                    <a:pt x="60706" y="0"/>
                    <a:pt x="135509" y="0"/>
                  </a:cubicBezTo>
                  <a:lnTo>
                    <a:pt x="8331073" y="0"/>
                  </a:lnTo>
                  <a:cubicBezTo>
                    <a:pt x="8405876" y="0"/>
                    <a:pt x="8466582" y="60706"/>
                    <a:pt x="8466582" y="135509"/>
                  </a:cubicBezTo>
                  <a:lnTo>
                    <a:pt x="8466582" y="863092"/>
                  </a:lnTo>
                  <a:cubicBezTo>
                    <a:pt x="8466582" y="937895"/>
                    <a:pt x="8405876" y="998601"/>
                    <a:pt x="8331073" y="998601"/>
                  </a:cubicBezTo>
                  <a:lnTo>
                    <a:pt x="135509" y="998601"/>
                  </a:lnTo>
                  <a:cubicBezTo>
                    <a:pt x="60706" y="998601"/>
                    <a:pt x="0" y="937895"/>
                    <a:pt x="0" y="863092"/>
                  </a:cubicBezTo>
                  <a:close/>
                </a:path>
              </a:pathLst>
            </a:custGeom>
            <a:solidFill>
              <a:srgbClr val="06B6D4"/>
            </a:solidFill>
          </p:spPr>
          <p:txBody>
            <a:bodyPr/>
            <a:lstStyle/>
            <a:p>
              <a:endParaRPr lang="en-US"/>
            </a:p>
          </p:txBody>
        </p:sp>
      </p:grpSp>
      <p:sp>
        <p:nvSpPr>
          <p:cNvPr id="51" name="TextBox 51"/>
          <p:cNvSpPr txBox="1"/>
          <p:nvPr/>
        </p:nvSpPr>
        <p:spPr>
          <a:xfrm>
            <a:off x="10718606" y="9158287"/>
            <a:ext cx="5855103" cy="352425"/>
          </a:xfrm>
          <a:prstGeom prst="rect">
            <a:avLst/>
          </a:prstGeom>
        </p:spPr>
        <p:txBody>
          <a:bodyPr lIns="0" tIns="0" rIns="0" bIns="0" rtlCol="0" anchor="t">
            <a:spAutoFit/>
          </a:bodyPr>
          <a:lstStyle/>
          <a:p>
            <a:pPr algn="l">
              <a:lnSpc>
                <a:spcPts val="2879"/>
              </a:lnSpc>
            </a:pPr>
            <a:r>
              <a:rPr lang="en-US" sz="2400" b="1">
                <a:solidFill>
                  <a:srgbClr val="0A1628"/>
                </a:solidFill>
                <a:latin typeface="Arial Bold"/>
                <a:ea typeface="Arial Bold"/>
                <a:cs typeface="Arial Bold"/>
                <a:sym typeface="Arial Bold"/>
              </a:rPr>
              <a:t>OUTSIDE  ·  O(edges) per polygon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grpSp>
        <p:nvGrpSpPr>
          <p:cNvPr id="2" name="Group 2"/>
          <p:cNvGrpSpPr/>
          <p:nvPr/>
        </p:nvGrpSpPr>
        <p:grpSpPr>
          <a:xfrm>
            <a:off x="1514475" y="4181475"/>
            <a:ext cx="6915150" cy="2850956"/>
            <a:chOff x="0" y="0"/>
            <a:chExt cx="9220200" cy="3801275"/>
          </a:xfrm>
        </p:grpSpPr>
        <p:sp>
          <p:nvSpPr>
            <p:cNvPr id="3" name="Freeform 3"/>
            <p:cNvSpPr/>
            <p:nvPr/>
          </p:nvSpPr>
          <p:spPr>
            <a:xfrm>
              <a:off x="12700" y="12700"/>
              <a:ext cx="9194800" cy="3775837"/>
            </a:xfrm>
            <a:custGeom>
              <a:avLst/>
              <a:gdLst/>
              <a:ahLst/>
              <a:cxnLst/>
              <a:rect l="l" t="t" r="r" b="b"/>
              <a:pathLst>
                <a:path w="9194800" h="3775837">
                  <a:moveTo>
                    <a:pt x="0" y="203200"/>
                  </a:moveTo>
                  <a:cubicBezTo>
                    <a:pt x="0" y="90932"/>
                    <a:pt x="91313" y="0"/>
                    <a:pt x="203962" y="0"/>
                  </a:cubicBezTo>
                  <a:lnTo>
                    <a:pt x="8990838" y="0"/>
                  </a:lnTo>
                  <a:cubicBezTo>
                    <a:pt x="9103487" y="0"/>
                    <a:pt x="9194800" y="90932"/>
                    <a:pt x="9194800" y="203200"/>
                  </a:cubicBezTo>
                  <a:lnTo>
                    <a:pt x="9194800" y="3572637"/>
                  </a:lnTo>
                  <a:cubicBezTo>
                    <a:pt x="9194800" y="3684905"/>
                    <a:pt x="9103487" y="3775837"/>
                    <a:pt x="8990838" y="3775837"/>
                  </a:cubicBezTo>
                  <a:lnTo>
                    <a:pt x="203962" y="3775837"/>
                  </a:lnTo>
                  <a:cubicBezTo>
                    <a:pt x="91313" y="3775837"/>
                    <a:pt x="0" y="3684905"/>
                    <a:pt x="0" y="3572637"/>
                  </a:cubicBezTo>
                  <a:close/>
                </a:path>
              </a:pathLst>
            </a:custGeom>
            <a:solidFill>
              <a:srgbClr val="122236"/>
            </a:solidFill>
          </p:spPr>
          <p:txBody>
            <a:bodyPr/>
            <a:lstStyle/>
            <a:p>
              <a:endParaRPr lang="en-US"/>
            </a:p>
          </p:txBody>
        </p:sp>
        <p:sp>
          <p:nvSpPr>
            <p:cNvPr id="4" name="Freeform 4"/>
            <p:cNvSpPr/>
            <p:nvPr/>
          </p:nvSpPr>
          <p:spPr>
            <a:xfrm>
              <a:off x="0" y="0"/>
              <a:ext cx="9220200" cy="3801237"/>
            </a:xfrm>
            <a:custGeom>
              <a:avLst/>
              <a:gdLst/>
              <a:ahLst/>
              <a:cxnLst/>
              <a:rect l="l" t="t" r="r" b="b"/>
              <a:pathLst>
                <a:path w="9220200" h="3801237">
                  <a:moveTo>
                    <a:pt x="0" y="215900"/>
                  </a:moveTo>
                  <a:cubicBezTo>
                    <a:pt x="0" y="96647"/>
                    <a:pt x="97028" y="0"/>
                    <a:pt x="216662" y="0"/>
                  </a:cubicBezTo>
                  <a:lnTo>
                    <a:pt x="9003538" y="0"/>
                  </a:lnTo>
                  <a:lnTo>
                    <a:pt x="9003538" y="12700"/>
                  </a:lnTo>
                  <a:lnTo>
                    <a:pt x="9003538" y="0"/>
                  </a:lnTo>
                  <a:cubicBezTo>
                    <a:pt x="9123172" y="0"/>
                    <a:pt x="9220200" y="96647"/>
                    <a:pt x="9220200" y="215900"/>
                  </a:cubicBezTo>
                  <a:lnTo>
                    <a:pt x="9207500" y="215900"/>
                  </a:lnTo>
                  <a:lnTo>
                    <a:pt x="9220200" y="215900"/>
                  </a:lnTo>
                  <a:lnTo>
                    <a:pt x="9220200" y="3585337"/>
                  </a:lnTo>
                  <a:lnTo>
                    <a:pt x="9207500" y="3585337"/>
                  </a:lnTo>
                  <a:lnTo>
                    <a:pt x="9220200" y="3585337"/>
                  </a:lnTo>
                  <a:cubicBezTo>
                    <a:pt x="9220200" y="3704590"/>
                    <a:pt x="9123172" y="3801237"/>
                    <a:pt x="9003538" y="3801237"/>
                  </a:cubicBezTo>
                  <a:lnTo>
                    <a:pt x="9003538" y="3788537"/>
                  </a:lnTo>
                  <a:lnTo>
                    <a:pt x="9003538" y="3801237"/>
                  </a:lnTo>
                  <a:lnTo>
                    <a:pt x="216662" y="3801237"/>
                  </a:lnTo>
                  <a:lnTo>
                    <a:pt x="216662" y="3788537"/>
                  </a:lnTo>
                  <a:lnTo>
                    <a:pt x="216662" y="3801237"/>
                  </a:lnTo>
                  <a:cubicBezTo>
                    <a:pt x="97028" y="3801237"/>
                    <a:pt x="0" y="3704590"/>
                    <a:pt x="0" y="3585337"/>
                  </a:cubicBezTo>
                  <a:lnTo>
                    <a:pt x="0" y="215900"/>
                  </a:lnTo>
                  <a:lnTo>
                    <a:pt x="12700" y="215900"/>
                  </a:lnTo>
                  <a:lnTo>
                    <a:pt x="0" y="215900"/>
                  </a:lnTo>
                  <a:moveTo>
                    <a:pt x="25400" y="215900"/>
                  </a:moveTo>
                  <a:lnTo>
                    <a:pt x="25400" y="3585337"/>
                  </a:lnTo>
                  <a:lnTo>
                    <a:pt x="12700" y="3585337"/>
                  </a:lnTo>
                  <a:lnTo>
                    <a:pt x="25400" y="3585337"/>
                  </a:lnTo>
                  <a:cubicBezTo>
                    <a:pt x="25400" y="3690493"/>
                    <a:pt x="110998" y="3775837"/>
                    <a:pt x="216662" y="3775837"/>
                  </a:cubicBezTo>
                  <a:lnTo>
                    <a:pt x="9003538" y="3775837"/>
                  </a:lnTo>
                  <a:cubicBezTo>
                    <a:pt x="9109202" y="3775837"/>
                    <a:pt x="9194800" y="3690493"/>
                    <a:pt x="9194800" y="3585337"/>
                  </a:cubicBezTo>
                  <a:lnTo>
                    <a:pt x="9194800" y="215900"/>
                  </a:lnTo>
                  <a:cubicBezTo>
                    <a:pt x="9194800" y="110744"/>
                    <a:pt x="9109202" y="25400"/>
                    <a:pt x="9003538" y="25400"/>
                  </a:cubicBezTo>
                  <a:lnTo>
                    <a:pt x="216662" y="25400"/>
                  </a:lnTo>
                  <a:lnTo>
                    <a:pt x="216662" y="12700"/>
                  </a:lnTo>
                  <a:lnTo>
                    <a:pt x="216662" y="25400"/>
                  </a:lnTo>
                  <a:cubicBezTo>
                    <a:pt x="110998" y="25400"/>
                    <a:pt x="25400" y="110744"/>
                    <a:pt x="25400" y="215900"/>
                  </a:cubicBezTo>
                  <a:close/>
                </a:path>
              </a:pathLst>
            </a:custGeom>
            <a:solidFill>
              <a:srgbClr val="1E3A5F"/>
            </a:solidFill>
          </p:spPr>
          <p:txBody>
            <a:bodyPr/>
            <a:lstStyle/>
            <a:p>
              <a:endParaRPr lang="en-US"/>
            </a:p>
          </p:txBody>
        </p:sp>
      </p:grpSp>
      <p:grpSp>
        <p:nvGrpSpPr>
          <p:cNvPr id="5" name="Group 5"/>
          <p:cNvGrpSpPr/>
          <p:nvPr/>
        </p:nvGrpSpPr>
        <p:grpSpPr>
          <a:xfrm>
            <a:off x="9896475" y="4181475"/>
            <a:ext cx="6915150" cy="2850956"/>
            <a:chOff x="0" y="0"/>
            <a:chExt cx="9220200" cy="3801275"/>
          </a:xfrm>
        </p:grpSpPr>
        <p:sp>
          <p:nvSpPr>
            <p:cNvPr id="6" name="Freeform 6"/>
            <p:cNvSpPr/>
            <p:nvPr/>
          </p:nvSpPr>
          <p:spPr>
            <a:xfrm>
              <a:off x="12700" y="12700"/>
              <a:ext cx="9194800" cy="3775837"/>
            </a:xfrm>
            <a:custGeom>
              <a:avLst/>
              <a:gdLst/>
              <a:ahLst/>
              <a:cxnLst/>
              <a:rect l="l" t="t" r="r" b="b"/>
              <a:pathLst>
                <a:path w="9194800" h="3775837">
                  <a:moveTo>
                    <a:pt x="0" y="203200"/>
                  </a:moveTo>
                  <a:cubicBezTo>
                    <a:pt x="0" y="90932"/>
                    <a:pt x="91313" y="0"/>
                    <a:pt x="203962" y="0"/>
                  </a:cubicBezTo>
                  <a:lnTo>
                    <a:pt x="8990838" y="0"/>
                  </a:lnTo>
                  <a:cubicBezTo>
                    <a:pt x="9103487" y="0"/>
                    <a:pt x="9194800" y="90932"/>
                    <a:pt x="9194800" y="203200"/>
                  </a:cubicBezTo>
                  <a:lnTo>
                    <a:pt x="9194800" y="3572637"/>
                  </a:lnTo>
                  <a:cubicBezTo>
                    <a:pt x="9194800" y="3684905"/>
                    <a:pt x="9103487" y="3775837"/>
                    <a:pt x="8990838" y="3775837"/>
                  </a:cubicBezTo>
                  <a:lnTo>
                    <a:pt x="203962" y="3775837"/>
                  </a:lnTo>
                  <a:cubicBezTo>
                    <a:pt x="91313" y="3775837"/>
                    <a:pt x="0" y="3684905"/>
                    <a:pt x="0" y="3572637"/>
                  </a:cubicBezTo>
                  <a:close/>
                </a:path>
              </a:pathLst>
            </a:custGeom>
            <a:solidFill>
              <a:srgbClr val="122236"/>
            </a:solidFill>
          </p:spPr>
          <p:txBody>
            <a:bodyPr/>
            <a:lstStyle/>
            <a:p>
              <a:endParaRPr lang="en-US"/>
            </a:p>
          </p:txBody>
        </p:sp>
        <p:sp>
          <p:nvSpPr>
            <p:cNvPr id="7" name="Freeform 7"/>
            <p:cNvSpPr/>
            <p:nvPr/>
          </p:nvSpPr>
          <p:spPr>
            <a:xfrm>
              <a:off x="0" y="0"/>
              <a:ext cx="9220200" cy="3801237"/>
            </a:xfrm>
            <a:custGeom>
              <a:avLst/>
              <a:gdLst/>
              <a:ahLst/>
              <a:cxnLst/>
              <a:rect l="l" t="t" r="r" b="b"/>
              <a:pathLst>
                <a:path w="9220200" h="3801237">
                  <a:moveTo>
                    <a:pt x="0" y="215900"/>
                  </a:moveTo>
                  <a:cubicBezTo>
                    <a:pt x="0" y="96647"/>
                    <a:pt x="97028" y="0"/>
                    <a:pt x="216662" y="0"/>
                  </a:cubicBezTo>
                  <a:lnTo>
                    <a:pt x="9003538" y="0"/>
                  </a:lnTo>
                  <a:lnTo>
                    <a:pt x="9003538" y="12700"/>
                  </a:lnTo>
                  <a:lnTo>
                    <a:pt x="9003538" y="0"/>
                  </a:lnTo>
                  <a:cubicBezTo>
                    <a:pt x="9123172" y="0"/>
                    <a:pt x="9220200" y="96647"/>
                    <a:pt x="9220200" y="215900"/>
                  </a:cubicBezTo>
                  <a:lnTo>
                    <a:pt x="9207500" y="215900"/>
                  </a:lnTo>
                  <a:lnTo>
                    <a:pt x="9220200" y="215900"/>
                  </a:lnTo>
                  <a:lnTo>
                    <a:pt x="9220200" y="3585337"/>
                  </a:lnTo>
                  <a:lnTo>
                    <a:pt x="9207500" y="3585337"/>
                  </a:lnTo>
                  <a:lnTo>
                    <a:pt x="9220200" y="3585337"/>
                  </a:lnTo>
                  <a:cubicBezTo>
                    <a:pt x="9220200" y="3704590"/>
                    <a:pt x="9123172" y="3801237"/>
                    <a:pt x="9003538" y="3801237"/>
                  </a:cubicBezTo>
                  <a:lnTo>
                    <a:pt x="9003538" y="3788537"/>
                  </a:lnTo>
                  <a:lnTo>
                    <a:pt x="9003538" y="3801237"/>
                  </a:lnTo>
                  <a:lnTo>
                    <a:pt x="216662" y="3801237"/>
                  </a:lnTo>
                  <a:lnTo>
                    <a:pt x="216662" y="3788537"/>
                  </a:lnTo>
                  <a:lnTo>
                    <a:pt x="216662" y="3801237"/>
                  </a:lnTo>
                  <a:cubicBezTo>
                    <a:pt x="97028" y="3801237"/>
                    <a:pt x="0" y="3704590"/>
                    <a:pt x="0" y="3585337"/>
                  </a:cubicBezTo>
                  <a:lnTo>
                    <a:pt x="0" y="215900"/>
                  </a:lnTo>
                  <a:lnTo>
                    <a:pt x="12700" y="215900"/>
                  </a:lnTo>
                  <a:lnTo>
                    <a:pt x="0" y="215900"/>
                  </a:lnTo>
                  <a:moveTo>
                    <a:pt x="25400" y="215900"/>
                  </a:moveTo>
                  <a:lnTo>
                    <a:pt x="25400" y="3585337"/>
                  </a:lnTo>
                  <a:lnTo>
                    <a:pt x="12700" y="3585337"/>
                  </a:lnTo>
                  <a:lnTo>
                    <a:pt x="25400" y="3585337"/>
                  </a:lnTo>
                  <a:cubicBezTo>
                    <a:pt x="25400" y="3690493"/>
                    <a:pt x="110998" y="3775837"/>
                    <a:pt x="216662" y="3775837"/>
                  </a:cubicBezTo>
                  <a:lnTo>
                    <a:pt x="9003538" y="3775837"/>
                  </a:lnTo>
                  <a:cubicBezTo>
                    <a:pt x="9109202" y="3775837"/>
                    <a:pt x="9194800" y="3690493"/>
                    <a:pt x="9194800" y="3585337"/>
                  </a:cubicBezTo>
                  <a:lnTo>
                    <a:pt x="9194800" y="215900"/>
                  </a:lnTo>
                  <a:cubicBezTo>
                    <a:pt x="9194800" y="110744"/>
                    <a:pt x="9109202" y="25400"/>
                    <a:pt x="9003538" y="25400"/>
                  </a:cubicBezTo>
                  <a:lnTo>
                    <a:pt x="216662" y="25400"/>
                  </a:lnTo>
                  <a:lnTo>
                    <a:pt x="216662" y="12700"/>
                  </a:lnTo>
                  <a:lnTo>
                    <a:pt x="216662" y="25400"/>
                  </a:lnTo>
                  <a:cubicBezTo>
                    <a:pt x="110998" y="25400"/>
                    <a:pt x="25400" y="110744"/>
                    <a:pt x="25400" y="215900"/>
                  </a:cubicBezTo>
                  <a:close/>
                </a:path>
              </a:pathLst>
            </a:custGeom>
            <a:solidFill>
              <a:srgbClr val="1E3A5F"/>
            </a:solidFill>
          </p:spPr>
          <p:txBody>
            <a:bodyPr/>
            <a:lstStyle/>
            <a:p>
              <a:endParaRPr lang="en-US"/>
            </a:p>
          </p:txBody>
        </p:sp>
      </p:grpSp>
      <p:grpSp>
        <p:nvGrpSpPr>
          <p:cNvPr id="8" name="Group 8"/>
          <p:cNvGrpSpPr/>
          <p:nvPr/>
        </p:nvGrpSpPr>
        <p:grpSpPr>
          <a:xfrm>
            <a:off x="1514475" y="7356281"/>
            <a:ext cx="6915150" cy="2850956"/>
            <a:chOff x="0" y="0"/>
            <a:chExt cx="9220200" cy="3801275"/>
          </a:xfrm>
        </p:grpSpPr>
        <p:sp>
          <p:nvSpPr>
            <p:cNvPr id="9" name="Freeform 9"/>
            <p:cNvSpPr/>
            <p:nvPr/>
          </p:nvSpPr>
          <p:spPr>
            <a:xfrm>
              <a:off x="12700" y="12700"/>
              <a:ext cx="9194800" cy="3775837"/>
            </a:xfrm>
            <a:custGeom>
              <a:avLst/>
              <a:gdLst/>
              <a:ahLst/>
              <a:cxnLst/>
              <a:rect l="l" t="t" r="r" b="b"/>
              <a:pathLst>
                <a:path w="9194800" h="3775837">
                  <a:moveTo>
                    <a:pt x="0" y="203200"/>
                  </a:moveTo>
                  <a:cubicBezTo>
                    <a:pt x="0" y="90932"/>
                    <a:pt x="91313" y="0"/>
                    <a:pt x="203962" y="0"/>
                  </a:cubicBezTo>
                  <a:lnTo>
                    <a:pt x="8990838" y="0"/>
                  </a:lnTo>
                  <a:cubicBezTo>
                    <a:pt x="9103487" y="0"/>
                    <a:pt x="9194800" y="90932"/>
                    <a:pt x="9194800" y="203200"/>
                  </a:cubicBezTo>
                  <a:lnTo>
                    <a:pt x="9194800" y="3572637"/>
                  </a:lnTo>
                  <a:cubicBezTo>
                    <a:pt x="9194800" y="3684905"/>
                    <a:pt x="9103487" y="3775837"/>
                    <a:pt x="8990838" y="3775837"/>
                  </a:cubicBezTo>
                  <a:lnTo>
                    <a:pt x="203962" y="3775837"/>
                  </a:lnTo>
                  <a:cubicBezTo>
                    <a:pt x="91313" y="3775837"/>
                    <a:pt x="0" y="3684905"/>
                    <a:pt x="0" y="3572637"/>
                  </a:cubicBezTo>
                  <a:close/>
                </a:path>
              </a:pathLst>
            </a:custGeom>
            <a:solidFill>
              <a:srgbClr val="122236"/>
            </a:solidFill>
          </p:spPr>
          <p:txBody>
            <a:bodyPr/>
            <a:lstStyle/>
            <a:p>
              <a:endParaRPr lang="en-US"/>
            </a:p>
          </p:txBody>
        </p:sp>
        <p:sp>
          <p:nvSpPr>
            <p:cNvPr id="10" name="Freeform 10"/>
            <p:cNvSpPr/>
            <p:nvPr/>
          </p:nvSpPr>
          <p:spPr>
            <a:xfrm>
              <a:off x="0" y="0"/>
              <a:ext cx="9220200" cy="3801237"/>
            </a:xfrm>
            <a:custGeom>
              <a:avLst/>
              <a:gdLst/>
              <a:ahLst/>
              <a:cxnLst/>
              <a:rect l="l" t="t" r="r" b="b"/>
              <a:pathLst>
                <a:path w="9220200" h="3801237">
                  <a:moveTo>
                    <a:pt x="0" y="215900"/>
                  </a:moveTo>
                  <a:cubicBezTo>
                    <a:pt x="0" y="96647"/>
                    <a:pt x="97028" y="0"/>
                    <a:pt x="216662" y="0"/>
                  </a:cubicBezTo>
                  <a:lnTo>
                    <a:pt x="9003538" y="0"/>
                  </a:lnTo>
                  <a:lnTo>
                    <a:pt x="9003538" y="12700"/>
                  </a:lnTo>
                  <a:lnTo>
                    <a:pt x="9003538" y="0"/>
                  </a:lnTo>
                  <a:cubicBezTo>
                    <a:pt x="9123172" y="0"/>
                    <a:pt x="9220200" y="96647"/>
                    <a:pt x="9220200" y="215900"/>
                  </a:cubicBezTo>
                  <a:lnTo>
                    <a:pt x="9207500" y="215900"/>
                  </a:lnTo>
                  <a:lnTo>
                    <a:pt x="9220200" y="215900"/>
                  </a:lnTo>
                  <a:lnTo>
                    <a:pt x="9220200" y="3585337"/>
                  </a:lnTo>
                  <a:lnTo>
                    <a:pt x="9207500" y="3585337"/>
                  </a:lnTo>
                  <a:lnTo>
                    <a:pt x="9220200" y="3585337"/>
                  </a:lnTo>
                  <a:cubicBezTo>
                    <a:pt x="9220200" y="3704590"/>
                    <a:pt x="9123172" y="3801237"/>
                    <a:pt x="9003538" y="3801237"/>
                  </a:cubicBezTo>
                  <a:lnTo>
                    <a:pt x="9003538" y="3788537"/>
                  </a:lnTo>
                  <a:lnTo>
                    <a:pt x="9003538" y="3801237"/>
                  </a:lnTo>
                  <a:lnTo>
                    <a:pt x="216662" y="3801237"/>
                  </a:lnTo>
                  <a:lnTo>
                    <a:pt x="216662" y="3788537"/>
                  </a:lnTo>
                  <a:lnTo>
                    <a:pt x="216662" y="3801237"/>
                  </a:lnTo>
                  <a:cubicBezTo>
                    <a:pt x="97028" y="3801237"/>
                    <a:pt x="0" y="3704590"/>
                    <a:pt x="0" y="3585337"/>
                  </a:cubicBezTo>
                  <a:lnTo>
                    <a:pt x="0" y="215900"/>
                  </a:lnTo>
                  <a:lnTo>
                    <a:pt x="12700" y="215900"/>
                  </a:lnTo>
                  <a:lnTo>
                    <a:pt x="0" y="215900"/>
                  </a:lnTo>
                  <a:moveTo>
                    <a:pt x="25400" y="215900"/>
                  </a:moveTo>
                  <a:lnTo>
                    <a:pt x="25400" y="3585337"/>
                  </a:lnTo>
                  <a:lnTo>
                    <a:pt x="12700" y="3585337"/>
                  </a:lnTo>
                  <a:lnTo>
                    <a:pt x="25400" y="3585337"/>
                  </a:lnTo>
                  <a:cubicBezTo>
                    <a:pt x="25400" y="3690493"/>
                    <a:pt x="110998" y="3775837"/>
                    <a:pt x="216662" y="3775837"/>
                  </a:cubicBezTo>
                  <a:lnTo>
                    <a:pt x="9003538" y="3775837"/>
                  </a:lnTo>
                  <a:cubicBezTo>
                    <a:pt x="9109202" y="3775837"/>
                    <a:pt x="9194800" y="3690493"/>
                    <a:pt x="9194800" y="3585337"/>
                  </a:cubicBezTo>
                  <a:lnTo>
                    <a:pt x="9194800" y="215900"/>
                  </a:lnTo>
                  <a:cubicBezTo>
                    <a:pt x="9194800" y="110744"/>
                    <a:pt x="9109202" y="25400"/>
                    <a:pt x="9003538" y="25400"/>
                  </a:cubicBezTo>
                  <a:lnTo>
                    <a:pt x="216662" y="25400"/>
                  </a:lnTo>
                  <a:lnTo>
                    <a:pt x="216662" y="12700"/>
                  </a:lnTo>
                  <a:lnTo>
                    <a:pt x="216662" y="25400"/>
                  </a:lnTo>
                  <a:cubicBezTo>
                    <a:pt x="110998" y="25400"/>
                    <a:pt x="25400" y="110744"/>
                    <a:pt x="25400" y="215900"/>
                  </a:cubicBezTo>
                  <a:close/>
                </a:path>
              </a:pathLst>
            </a:custGeom>
            <a:solidFill>
              <a:srgbClr val="1E3A5F"/>
            </a:solidFill>
          </p:spPr>
          <p:txBody>
            <a:bodyPr/>
            <a:lstStyle/>
            <a:p>
              <a:endParaRPr lang="en-US"/>
            </a:p>
          </p:txBody>
        </p:sp>
      </p:grpSp>
      <p:grpSp>
        <p:nvGrpSpPr>
          <p:cNvPr id="11" name="Group 11"/>
          <p:cNvGrpSpPr/>
          <p:nvPr/>
        </p:nvGrpSpPr>
        <p:grpSpPr>
          <a:xfrm>
            <a:off x="9896475" y="7356281"/>
            <a:ext cx="6915150" cy="2850956"/>
            <a:chOff x="0" y="0"/>
            <a:chExt cx="9220200" cy="3801275"/>
          </a:xfrm>
        </p:grpSpPr>
        <p:sp>
          <p:nvSpPr>
            <p:cNvPr id="12" name="Freeform 12"/>
            <p:cNvSpPr/>
            <p:nvPr/>
          </p:nvSpPr>
          <p:spPr>
            <a:xfrm>
              <a:off x="12700" y="12700"/>
              <a:ext cx="9194800" cy="3775837"/>
            </a:xfrm>
            <a:custGeom>
              <a:avLst/>
              <a:gdLst/>
              <a:ahLst/>
              <a:cxnLst/>
              <a:rect l="l" t="t" r="r" b="b"/>
              <a:pathLst>
                <a:path w="9194800" h="3775837">
                  <a:moveTo>
                    <a:pt x="0" y="203200"/>
                  </a:moveTo>
                  <a:cubicBezTo>
                    <a:pt x="0" y="90932"/>
                    <a:pt x="91313" y="0"/>
                    <a:pt x="203962" y="0"/>
                  </a:cubicBezTo>
                  <a:lnTo>
                    <a:pt x="8990838" y="0"/>
                  </a:lnTo>
                  <a:cubicBezTo>
                    <a:pt x="9103487" y="0"/>
                    <a:pt x="9194800" y="90932"/>
                    <a:pt x="9194800" y="203200"/>
                  </a:cubicBezTo>
                  <a:lnTo>
                    <a:pt x="9194800" y="3572637"/>
                  </a:lnTo>
                  <a:cubicBezTo>
                    <a:pt x="9194800" y="3684905"/>
                    <a:pt x="9103487" y="3775837"/>
                    <a:pt x="8990838" y="3775837"/>
                  </a:cubicBezTo>
                  <a:lnTo>
                    <a:pt x="203962" y="3775837"/>
                  </a:lnTo>
                  <a:cubicBezTo>
                    <a:pt x="91313" y="3775837"/>
                    <a:pt x="0" y="3684905"/>
                    <a:pt x="0" y="3572637"/>
                  </a:cubicBezTo>
                  <a:close/>
                </a:path>
              </a:pathLst>
            </a:custGeom>
            <a:solidFill>
              <a:srgbClr val="122236"/>
            </a:solidFill>
          </p:spPr>
          <p:txBody>
            <a:bodyPr/>
            <a:lstStyle/>
            <a:p>
              <a:endParaRPr lang="en-US"/>
            </a:p>
          </p:txBody>
        </p:sp>
        <p:sp>
          <p:nvSpPr>
            <p:cNvPr id="13" name="Freeform 13"/>
            <p:cNvSpPr/>
            <p:nvPr/>
          </p:nvSpPr>
          <p:spPr>
            <a:xfrm>
              <a:off x="0" y="0"/>
              <a:ext cx="9220200" cy="3801237"/>
            </a:xfrm>
            <a:custGeom>
              <a:avLst/>
              <a:gdLst/>
              <a:ahLst/>
              <a:cxnLst/>
              <a:rect l="l" t="t" r="r" b="b"/>
              <a:pathLst>
                <a:path w="9220200" h="3801237">
                  <a:moveTo>
                    <a:pt x="0" y="215900"/>
                  </a:moveTo>
                  <a:cubicBezTo>
                    <a:pt x="0" y="96647"/>
                    <a:pt x="97028" y="0"/>
                    <a:pt x="216662" y="0"/>
                  </a:cubicBezTo>
                  <a:lnTo>
                    <a:pt x="9003538" y="0"/>
                  </a:lnTo>
                  <a:lnTo>
                    <a:pt x="9003538" y="12700"/>
                  </a:lnTo>
                  <a:lnTo>
                    <a:pt x="9003538" y="0"/>
                  </a:lnTo>
                  <a:cubicBezTo>
                    <a:pt x="9123172" y="0"/>
                    <a:pt x="9220200" y="96647"/>
                    <a:pt x="9220200" y="215900"/>
                  </a:cubicBezTo>
                  <a:lnTo>
                    <a:pt x="9207500" y="215900"/>
                  </a:lnTo>
                  <a:lnTo>
                    <a:pt x="9220200" y="215900"/>
                  </a:lnTo>
                  <a:lnTo>
                    <a:pt x="9220200" y="3585337"/>
                  </a:lnTo>
                  <a:lnTo>
                    <a:pt x="9207500" y="3585337"/>
                  </a:lnTo>
                  <a:lnTo>
                    <a:pt x="9220200" y="3585337"/>
                  </a:lnTo>
                  <a:cubicBezTo>
                    <a:pt x="9220200" y="3704590"/>
                    <a:pt x="9123172" y="3801237"/>
                    <a:pt x="9003538" y="3801237"/>
                  </a:cubicBezTo>
                  <a:lnTo>
                    <a:pt x="9003538" y="3788537"/>
                  </a:lnTo>
                  <a:lnTo>
                    <a:pt x="9003538" y="3801237"/>
                  </a:lnTo>
                  <a:lnTo>
                    <a:pt x="216662" y="3801237"/>
                  </a:lnTo>
                  <a:lnTo>
                    <a:pt x="216662" y="3788537"/>
                  </a:lnTo>
                  <a:lnTo>
                    <a:pt x="216662" y="3801237"/>
                  </a:lnTo>
                  <a:cubicBezTo>
                    <a:pt x="97028" y="3801237"/>
                    <a:pt x="0" y="3704590"/>
                    <a:pt x="0" y="3585337"/>
                  </a:cubicBezTo>
                  <a:lnTo>
                    <a:pt x="0" y="215900"/>
                  </a:lnTo>
                  <a:lnTo>
                    <a:pt x="12700" y="215900"/>
                  </a:lnTo>
                  <a:lnTo>
                    <a:pt x="0" y="215900"/>
                  </a:lnTo>
                  <a:moveTo>
                    <a:pt x="25400" y="215900"/>
                  </a:moveTo>
                  <a:lnTo>
                    <a:pt x="25400" y="3585337"/>
                  </a:lnTo>
                  <a:lnTo>
                    <a:pt x="12700" y="3585337"/>
                  </a:lnTo>
                  <a:lnTo>
                    <a:pt x="25400" y="3585337"/>
                  </a:lnTo>
                  <a:cubicBezTo>
                    <a:pt x="25400" y="3690493"/>
                    <a:pt x="110998" y="3775837"/>
                    <a:pt x="216662" y="3775837"/>
                  </a:cubicBezTo>
                  <a:lnTo>
                    <a:pt x="9003538" y="3775837"/>
                  </a:lnTo>
                  <a:cubicBezTo>
                    <a:pt x="9109202" y="3775837"/>
                    <a:pt x="9194800" y="3690493"/>
                    <a:pt x="9194800" y="3585337"/>
                  </a:cubicBezTo>
                  <a:lnTo>
                    <a:pt x="9194800" y="215900"/>
                  </a:lnTo>
                  <a:cubicBezTo>
                    <a:pt x="9194800" y="110744"/>
                    <a:pt x="9109202" y="25400"/>
                    <a:pt x="9003538" y="25400"/>
                  </a:cubicBezTo>
                  <a:lnTo>
                    <a:pt x="216662" y="25400"/>
                  </a:lnTo>
                  <a:lnTo>
                    <a:pt x="216662" y="12700"/>
                  </a:lnTo>
                  <a:lnTo>
                    <a:pt x="216662" y="25400"/>
                  </a:lnTo>
                  <a:cubicBezTo>
                    <a:pt x="110998" y="25400"/>
                    <a:pt x="25400" y="110744"/>
                    <a:pt x="25400" y="215900"/>
                  </a:cubicBezTo>
                  <a:close/>
                </a:path>
              </a:pathLst>
            </a:custGeom>
            <a:solidFill>
              <a:srgbClr val="1E3A5F"/>
            </a:solidFill>
          </p:spPr>
          <p:txBody>
            <a:bodyPr/>
            <a:lstStyle/>
            <a:p>
              <a:endParaRPr lang="en-US"/>
            </a:p>
          </p:txBody>
        </p:sp>
      </p:grpSp>
      <p:grpSp>
        <p:nvGrpSpPr>
          <p:cNvPr id="14" name="Group 14"/>
          <p:cNvGrpSpPr/>
          <p:nvPr/>
        </p:nvGrpSpPr>
        <p:grpSpPr>
          <a:xfrm>
            <a:off x="2031806" y="4714318"/>
            <a:ext cx="1015898" cy="1015898"/>
            <a:chOff x="0" y="0"/>
            <a:chExt cx="1354531" cy="1354531"/>
          </a:xfrm>
        </p:grpSpPr>
        <p:sp>
          <p:nvSpPr>
            <p:cNvPr id="15" name="Freeform 15"/>
            <p:cNvSpPr/>
            <p:nvPr/>
          </p:nvSpPr>
          <p:spPr>
            <a:xfrm>
              <a:off x="0" y="0"/>
              <a:ext cx="1354455" cy="1354455"/>
            </a:xfrm>
            <a:custGeom>
              <a:avLst/>
              <a:gdLst/>
              <a:ahLst/>
              <a:cxnLst/>
              <a:rect l="l" t="t" r="r" b="b"/>
              <a:pathLst>
                <a:path w="1354455" h="1354455">
                  <a:moveTo>
                    <a:pt x="0" y="270891"/>
                  </a:moveTo>
                  <a:cubicBezTo>
                    <a:pt x="0" y="121285"/>
                    <a:pt x="121285" y="0"/>
                    <a:pt x="270891" y="0"/>
                  </a:cubicBezTo>
                  <a:lnTo>
                    <a:pt x="1083564" y="0"/>
                  </a:lnTo>
                  <a:cubicBezTo>
                    <a:pt x="1233170" y="0"/>
                    <a:pt x="1354455" y="121285"/>
                    <a:pt x="1354455" y="270891"/>
                  </a:cubicBezTo>
                  <a:lnTo>
                    <a:pt x="1354455" y="1083564"/>
                  </a:lnTo>
                  <a:cubicBezTo>
                    <a:pt x="1354455" y="1233170"/>
                    <a:pt x="1233170" y="1354455"/>
                    <a:pt x="1083564" y="1354455"/>
                  </a:cubicBezTo>
                  <a:lnTo>
                    <a:pt x="270891" y="1354455"/>
                  </a:lnTo>
                  <a:cubicBezTo>
                    <a:pt x="121285" y="1354582"/>
                    <a:pt x="0" y="1233170"/>
                    <a:pt x="0" y="1083564"/>
                  </a:cubicBezTo>
                  <a:close/>
                </a:path>
              </a:pathLst>
            </a:custGeom>
            <a:solidFill>
              <a:srgbClr val="22D3EE"/>
            </a:solidFill>
          </p:spPr>
          <p:txBody>
            <a:bodyPr/>
            <a:lstStyle/>
            <a:p>
              <a:endParaRPr lang="en-US"/>
            </a:p>
          </p:txBody>
        </p:sp>
      </p:grpSp>
      <p:grpSp>
        <p:nvGrpSpPr>
          <p:cNvPr id="16" name="Group 16"/>
          <p:cNvGrpSpPr/>
          <p:nvPr/>
        </p:nvGrpSpPr>
        <p:grpSpPr>
          <a:xfrm>
            <a:off x="2031806" y="4698806"/>
            <a:ext cx="1015898" cy="1015898"/>
            <a:chOff x="0" y="0"/>
            <a:chExt cx="1354531" cy="1354531"/>
          </a:xfrm>
        </p:grpSpPr>
        <p:sp>
          <p:nvSpPr>
            <p:cNvPr id="17" name="Freeform 17"/>
            <p:cNvSpPr/>
            <p:nvPr/>
          </p:nvSpPr>
          <p:spPr>
            <a:xfrm>
              <a:off x="0" y="0"/>
              <a:ext cx="1354455" cy="1354455"/>
            </a:xfrm>
            <a:custGeom>
              <a:avLst/>
              <a:gdLst/>
              <a:ahLst/>
              <a:cxnLst/>
              <a:rect l="l" t="t" r="r" b="b"/>
              <a:pathLst>
                <a:path w="1354455" h="1354455">
                  <a:moveTo>
                    <a:pt x="0" y="270891"/>
                  </a:moveTo>
                  <a:cubicBezTo>
                    <a:pt x="0" y="121285"/>
                    <a:pt x="121285" y="0"/>
                    <a:pt x="270891" y="0"/>
                  </a:cubicBezTo>
                  <a:lnTo>
                    <a:pt x="1083564" y="0"/>
                  </a:lnTo>
                  <a:cubicBezTo>
                    <a:pt x="1233170" y="0"/>
                    <a:pt x="1354455" y="121285"/>
                    <a:pt x="1354455" y="270891"/>
                  </a:cubicBezTo>
                  <a:lnTo>
                    <a:pt x="1354455" y="1083564"/>
                  </a:lnTo>
                  <a:cubicBezTo>
                    <a:pt x="1354455" y="1233170"/>
                    <a:pt x="1233170" y="1354455"/>
                    <a:pt x="1083564" y="1354455"/>
                  </a:cubicBezTo>
                  <a:lnTo>
                    <a:pt x="270891" y="1354455"/>
                  </a:lnTo>
                  <a:cubicBezTo>
                    <a:pt x="121285" y="1354582"/>
                    <a:pt x="0" y="1233170"/>
                    <a:pt x="0" y="1083564"/>
                  </a:cubicBezTo>
                  <a:close/>
                </a:path>
              </a:pathLst>
            </a:custGeom>
            <a:blipFill>
              <a:blip r:embed="rId3"/>
              <a:stretch>
                <a:fillRect l="-40119" r="-40119"/>
              </a:stretch>
            </a:blipFill>
          </p:spPr>
          <p:txBody>
            <a:bodyPr/>
            <a:lstStyle/>
            <a:p>
              <a:endParaRPr lang="en-US"/>
            </a:p>
          </p:txBody>
        </p:sp>
      </p:grpSp>
      <p:grpSp>
        <p:nvGrpSpPr>
          <p:cNvPr id="18" name="Group 18"/>
          <p:cNvGrpSpPr/>
          <p:nvPr/>
        </p:nvGrpSpPr>
        <p:grpSpPr>
          <a:xfrm>
            <a:off x="10509304" y="4698806"/>
            <a:ext cx="1015898" cy="1015898"/>
            <a:chOff x="0" y="0"/>
            <a:chExt cx="1354531" cy="1354531"/>
          </a:xfrm>
        </p:grpSpPr>
        <p:sp>
          <p:nvSpPr>
            <p:cNvPr id="19" name="Freeform 19"/>
            <p:cNvSpPr/>
            <p:nvPr/>
          </p:nvSpPr>
          <p:spPr>
            <a:xfrm>
              <a:off x="0" y="0"/>
              <a:ext cx="1354455" cy="1354455"/>
            </a:xfrm>
            <a:custGeom>
              <a:avLst/>
              <a:gdLst/>
              <a:ahLst/>
              <a:cxnLst/>
              <a:rect l="l" t="t" r="r" b="b"/>
              <a:pathLst>
                <a:path w="1354455" h="1354455">
                  <a:moveTo>
                    <a:pt x="0" y="270891"/>
                  </a:moveTo>
                  <a:cubicBezTo>
                    <a:pt x="0" y="121285"/>
                    <a:pt x="121285" y="0"/>
                    <a:pt x="270891" y="0"/>
                  </a:cubicBezTo>
                  <a:lnTo>
                    <a:pt x="1083564" y="0"/>
                  </a:lnTo>
                  <a:cubicBezTo>
                    <a:pt x="1233170" y="0"/>
                    <a:pt x="1354455" y="121285"/>
                    <a:pt x="1354455" y="270891"/>
                  </a:cubicBezTo>
                  <a:lnTo>
                    <a:pt x="1354455" y="1083564"/>
                  </a:lnTo>
                  <a:cubicBezTo>
                    <a:pt x="1354455" y="1233170"/>
                    <a:pt x="1233170" y="1354455"/>
                    <a:pt x="1083564" y="1354455"/>
                  </a:cubicBezTo>
                  <a:lnTo>
                    <a:pt x="270891" y="1354455"/>
                  </a:lnTo>
                  <a:cubicBezTo>
                    <a:pt x="121285" y="1354582"/>
                    <a:pt x="0" y="1233170"/>
                    <a:pt x="0" y="1083564"/>
                  </a:cubicBezTo>
                  <a:close/>
                </a:path>
              </a:pathLst>
            </a:custGeom>
            <a:solidFill>
              <a:srgbClr val="22D3EE"/>
            </a:solidFill>
          </p:spPr>
          <p:txBody>
            <a:bodyPr/>
            <a:lstStyle/>
            <a:p>
              <a:endParaRPr lang="en-US"/>
            </a:p>
          </p:txBody>
        </p:sp>
      </p:grpSp>
      <p:grpSp>
        <p:nvGrpSpPr>
          <p:cNvPr id="20" name="Group 20"/>
          <p:cNvGrpSpPr/>
          <p:nvPr/>
        </p:nvGrpSpPr>
        <p:grpSpPr>
          <a:xfrm>
            <a:off x="10509304" y="4714318"/>
            <a:ext cx="1015898" cy="1015898"/>
            <a:chOff x="0" y="0"/>
            <a:chExt cx="1354531" cy="1354531"/>
          </a:xfrm>
        </p:grpSpPr>
        <p:sp>
          <p:nvSpPr>
            <p:cNvPr id="21" name="Freeform 21"/>
            <p:cNvSpPr/>
            <p:nvPr/>
          </p:nvSpPr>
          <p:spPr>
            <a:xfrm>
              <a:off x="0" y="0"/>
              <a:ext cx="1354455" cy="1354455"/>
            </a:xfrm>
            <a:custGeom>
              <a:avLst/>
              <a:gdLst/>
              <a:ahLst/>
              <a:cxnLst/>
              <a:rect l="l" t="t" r="r" b="b"/>
              <a:pathLst>
                <a:path w="1354455" h="1354455">
                  <a:moveTo>
                    <a:pt x="0" y="270891"/>
                  </a:moveTo>
                  <a:cubicBezTo>
                    <a:pt x="0" y="121285"/>
                    <a:pt x="121285" y="0"/>
                    <a:pt x="270891" y="0"/>
                  </a:cubicBezTo>
                  <a:lnTo>
                    <a:pt x="1083564" y="0"/>
                  </a:lnTo>
                  <a:cubicBezTo>
                    <a:pt x="1233170" y="0"/>
                    <a:pt x="1354455" y="121285"/>
                    <a:pt x="1354455" y="270891"/>
                  </a:cubicBezTo>
                  <a:lnTo>
                    <a:pt x="1354455" y="1083564"/>
                  </a:lnTo>
                  <a:cubicBezTo>
                    <a:pt x="1354455" y="1233170"/>
                    <a:pt x="1233170" y="1354455"/>
                    <a:pt x="1083564" y="1354455"/>
                  </a:cubicBezTo>
                  <a:lnTo>
                    <a:pt x="270891" y="1354455"/>
                  </a:lnTo>
                  <a:cubicBezTo>
                    <a:pt x="121285" y="1354582"/>
                    <a:pt x="0" y="1233170"/>
                    <a:pt x="0" y="1083564"/>
                  </a:cubicBezTo>
                  <a:close/>
                </a:path>
              </a:pathLst>
            </a:custGeom>
            <a:blipFill>
              <a:blip r:embed="rId4"/>
              <a:stretch>
                <a:fillRect/>
              </a:stretch>
            </a:blipFill>
          </p:spPr>
          <p:txBody>
            <a:bodyPr/>
            <a:lstStyle/>
            <a:p>
              <a:endParaRPr lang="en-US"/>
            </a:p>
          </p:txBody>
        </p:sp>
      </p:grpSp>
      <p:grpSp>
        <p:nvGrpSpPr>
          <p:cNvPr id="22" name="Group 22"/>
          <p:cNvGrpSpPr/>
          <p:nvPr/>
        </p:nvGrpSpPr>
        <p:grpSpPr>
          <a:xfrm>
            <a:off x="2031806" y="7873898"/>
            <a:ext cx="1015898" cy="1015898"/>
            <a:chOff x="0" y="0"/>
            <a:chExt cx="1354531" cy="1354531"/>
          </a:xfrm>
        </p:grpSpPr>
        <p:sp>
          <p:nvSpPr>
            <p:cNvPr id="23" name="Freeform 23"/>
            <p:cNvSpPr/>
            <p:nvPr/>
          </p:nvSpPr>
          <p:spPr>
            <a:xfrm>
              <a:off x="0" y="0"/>
              <a:ext cx="1354455" cy="1354455"/>
            </a:xfrm>
            <a:custGeom>
              <a:avLst/>
              <a:gdLst/>
              <a:ahLst/>
              <a:cxnLst/>
              <a:rect l="l" t="t" r="r" b="b"/>
              <a:pathLst>
                <a:path w="1354455" h="1354455">
                  <a:moveTo>
                    <a:pt x="0" y="270891"/>
                  </a:moveTo>
                  <a:cubicBezTo>
                    <a:pt x="0" y="121285"/>
                    <a:pt x="121285" y="0"/>
                    <a:pt x="270891" y="0"/>
                  </a:cubicBezTo>
                  <a:lnTo>
                    <a:pt x="1083564" y="0"/>
                  </a:lnTo>
                  <a:cubicBezTo>
                    <a:pt x="1233170" y="0"/>
                    <a:pt x="1354455" y="121285"/>
                    <a:pt x="1354455" y="270891"/>
                  </a:cubicBezTo>
                  <a:lnTo>
                    <a:pt x="1354455" y="1083564"/>
                  </a:lnTo>
                  <a:cubicBezTo>
                    <a:pt x="1354455" y="1233170"/>
                    <a:pt x="1233170" y="1354455"/>
                    <a:pt x="1083564" y="1354455"/>
                  </a:cubicBezTo>
                  <a:lnTo>
                    <a:pt x="270891" y="1354455"/>
                  </a:lnTo>
                  <a:cubicBezTo>
                    <a:pt x="121285" y="1354582"/>
                    <a:pt x="0" y="1233170"/>
                    <a:pt x="0" y="1083564"/>
                  </a:cubicBezTo>
                  <a:close/>
                </a:path>
              </a:pathLst>
            </a:custGeom>
            <a:solidFill>
              <a:srgbClr val="22D3EE"/>
            </a:solidFill>
          </p:spPr>
          <p:txBody>
            <a:bodyPr/>
            <a:lstStyle/>
            <a:p>
              <a:endParaRPr lang="en-US"/>
            </a:p>
          </p:txBody>
        </p:sp>
      </p:grpSp>
      <p:grpSp>
        <p:nvGrpSpPr>
          <p:cNvPr id="24" name="Group 24"/>
          <p:cNvGrpSpPr/>
          <p:nvPr/>
        </p:nvGrpSpPr>
        <p:grpSpPr>
          <a:xfrm>
            <a:off x="2031806" y="7873898"/>
            <a:ext cx="1015898" cy="1015898"/>
            <a:chOff x="0" y="0"/>
            <a:chExt cx="1354531" cy="1354531"/>
          </a:xfrm>
        </p:grpSpPr>
        <p:sp>
          <p:nvSpPr>
            <p:cNvPr id="25" name="Freeform 25"/>
            <p:cNvSpPr/>
            <p:nvPr/>
          </p:nvSpPr>
          <p:spPr>
            <a:xfrm>
              <a:off x="0" y="0"/>
              <a:ext cx="1354455" cy="1354455"/>
            </a:xfrm>
            <a:custGeom>
              <a:avLst/>
              <a:gdLst/>
              <a:ahLst/>
              <a:cxnLst/>
              <a:rect l="l" t="t" r="r" b="b"/>
              <a:pathLst>
                <a:path w="1354455" h="1354455">
                  <a:moveTo>
                    <a:pt x="0" y="270891"/>
                  </a:moveTo>
                  <a:cubicBezTo>
                    <a:pt x="0" y="121285"/>
                    <a:pt x="121285" y="0"/>
                    <a:pt x="270891" y="0"/>
                  </a:cubicBezTo>
                  <a:lnTo>
                    <a:pt x="1083564" y="0"/>
                  </a:lnTo>
                  <a:cubicBezTo>
                    <a:pt x="1233170" y="0"/>
                    <a:pt x="1354455" y="121285"/>
                    <a:pt x="1354455" y="270891"/>
                  </a:cubicBezTo>
                  <a:lnTo>
                    <a:pt x="1354455" y="1083564"/>
                  </a:lnTo>
                  <a:cubicBezTo>
                    <a:pt x="1354455" y="1233170"/>
                    <a:pt x="1233170" y="1354455"/>
                    <a:pt x="1083564" y="1354455"/>
                  </a:cubicBezTo>
                  <a:lnTo>
                    <a:pt x="270891" y="1354455"/>
                  </a:lnTo>
                  <a:cubicBezTo>
                    <a:pt x="121285" y="1354582"/>
                    <a:pt x="0" y="1233170"/>
                    <a:pt x="0" y="1083564"/>
                  </a:cubicBezTo>
                  <a:close/>
                </a:path>
              </a:pathLst>
            </a:custGeom>
            <a:blipFill>
              <a:blip r:embed="rId5"/>
              <a:stretch>
                <a:fillRect/>
              </a:stretch>
            </a:blipFill>
          </p:spPr>
          <p:txBody>
            <a:bodyPr/>
            <a:lstStyle/>
            <a:p>
              <a:endParaRPr lang="en-US"/>
            </a:p>
          </p:txBody>
        </p:sp>
      </p:grpSp>
      <p:grpSp>
        <p:nvGrpSpPr>
          <p:cNvPr id="26" name="Group 26"/>
          <p:cNvGrpSpPr/>
          <p:nvPr/>
        </p:nvGrpSpPr>
        <p:grpSpPr>
          <a:xfrm>
            <a:off x="10413806" y="7845923"/>
            <a:ext cx="1015898" cy="1015898"/>
            <a:chOff x="0" y="0"/>
            <a:chExt cx="1354531" cy="1354531"/>
          </a:xfrm>
        </p:grpSpPr>
        <p:sp>
          <p:nvSpPr>
            <p:cNvPr id="27" name="Freeform 27"/>
            <p:cNvSpPr/>
            <p:nvPr/>
          </p:nvSpPr>
          <p:spPr>
            <a:xfrm>
              <a:off x="0" y="0"/>
              <a:ext cx="1354455" cy="1354455"/>
            </a:xfrm>
            <a:custGeom>
              <a:avLst/>
              <a:gdLst/>
              <a:ahLst/>
              <a:cxnLst/>
              <a:rect l="l" t="t" r="r" b="b"/>
              <a:pathLst>
                <a:path w="1354455" h="1354455">
                  <a:moveTo>
                    <a:pt x="0" y="270891"/>
                  </a:moveTo>
                  <a:cubicBezTo>
                    <a:pt x="0" y="121285"/>
                    <a:pt x="121285" y="0"/>
                    <a:pt x="270891" y="0"/>
                  </a:cubicBezTo>
                  <a:lnTo>
                    <a:pt x="1083564" y="0"/>
                  </a:lnTo>
                  <a:cubicBezTo>
                    <a:pt x="1233170" y="0"/>
                    <a:pt x="1354455" y="121285"/>
                    <a:pt x="1354455" y="270891"/>
                  </a:cubicBezTo>
                  <a:lnTo>
                    <a:pt x="1354455" y="1083564"/>
                  </a:lnTo>
                  <a:cubicBezTo>
                    <a:pt x="1354455" y="1233170"/>
                    <a:pt x="1233170" y="1354455"/>
                    <a:pt x="1083564" y="1354455"/>
                  </a:cubicBezTo>
                  <a:lnTo>
                    <a:pt x="270891" y="1354455"/>
                  </a:lnTo>
                  <a:cubicBezTo>
                    <a:pt x="121285" y="1354582"/>
                    <a:pt x="0" y="1233170"/>
                    <a:pt x="0" y="1083564"/>
                  </a:cubicBezTo>
                  <a:close/>
                </a:path>
              </a:pathLst>
            </a:custGeom>
            <a:solidFill>
              <a:srgbClr val="22D3EE"/>
            </a:solidFill>
          </p:spPr>
          <p:txBody>
            <a:bodyPr/>
            <a:lstStyle/>
            <a:p>
              <a:endParaRPr lang="en-US"/>
            </a:p>
          </p:txBody>
        </p:sp>
      </p:grpSp>
      <p:grpSp>
        <p:nvGrpSpPr>
          <p:cNvPr id="28" name="Group 28"/>
          <p:cNvGrpSpPr/>
          <p:nvPr/>
        </p:nvGrpSpPr>
        <p:grpSpPr>
          <a:xfrm>
            <a:off x="10314343" y="7746460"/>
            <a:ext cx="1214826" cy="1214826"/>
            <a:chOff x="0" y="0"/>
            <a:chExt cx="1354531" cy="1354531"/>
          </a:xfrm>
        </p:grpSpPr>
        <p:sp>
          <p:nvSpPr>
            <p:cNvPr id="29" name="Freeform 29"/>
            <p:cNvSpPr/>
            <p:nvPr/>
          </p:nvSpPr>
          <p:spPr>
            <a:xfrm>
              <a:off x="0" y="0"/>
              <a:ext cx="1354455" cy="1354455"/>
            </a:xfrm>
            <a:custGeom>
              <a:avLst/>
              <a:gdLst/>
              <a:ahLst/>
              <a:cxnLst/>
              <a:rect l="l" t="t" r="r" b="b"/>
              <a:pathLst>
                <a:path w="1354455" h="1354455">
                  <a:moveTo>
                    <a:pt x="0" y="270891"/>
                  </a:moveTo>
                  <a:cubicBezTo>
                    <a:pt x="0" y="121285"/>
                    <a:pt x="121285" y="0"/>
                    <a:pt x="270891" y="0"/>
                  </a:cubicBezTo>
                  <a:lnTo>
                    <a:pt x="1083564" y="0"/>
                  </a:lnTo>
                  <a:cubicBezTo>
                    <a:pt x="1233170" y="0"/>
                    <a:pt x="1354455" y="121285"/>
                    <a:pt x="1354455" y="270891"/>
                  </a:cubicBezTo>
                  <a:lnTo>
                    <a:pt x="1354455" y="1083564"/>
                  </a:lnTo>
                  <a:cubicBezTo>
                    <a:pt x="1354455" y="1233170"/>
                    <a:pt x="1233170" y="1354455"/>
                    <a:pt x="1083564" y="1354455"/>
                  </a:cubicBezTo>
                  <a:lnTo>
                    <a:pt x="270891" y="1354455"/>
                  </a:lnTo>
                  <a:cubicBezTo>
                    <a:pt x="121285" y="1354582"/>
                    <a:pt x="0" y="1233170"/>
                    <a:pt x="0" y="1083564"/>
                  </a:cubicBezTo>
                  <a:close/>
                </a:path>
              </a:pathLst>
            </a:custGeom>
            <a:blipFill>
              <a:blip r:embed="rId6"/>
              <a:stretch>
                <a:fillRect/>
              </a:stretch>
            </a:blipFill>
          </p:spPr>
          <p:txBody>
            <a:bodyPr/>
            <a:lstStyle/>
            <a:p>
              <a:endParaRPr lang="en-US"/>
            </a:p>
          </p:txBody>
        </p:sp>
      </p:grpSp>
      <p:sp>
        <p:nvSpPr>
          <p:cNvPr id="30" name="TextBox 30"/>
          <p:cNvSpPr txBox="1"/>
          <p:nvPr/>
        </p:nvSpPr>
        <p:spPr>
          <a:xfrm>
            <a:off x="1524000" y="1260281"/>
            <a:ext cx="4000967" cy="295275"/>
          </a:xfrm>
          <a:prstGeom prst="rect">
            <a:avLst/>
          </a:prstGeom>
        </p:spPr>
        <p:txBody>
          <a:bodyPr lIns="0" tIns="0" rIns="0" bIns="0" rtlCol="0" anchor="t">
            <a:spAutoFit/>
          </a:bodyPr>
          <a:lstStyle/>
          <a:p>
            <a:pPr algn="l">
              <a:lnSpc>
                <a:spcPts val="2400"/>
              </a:lnSpc>
            </a:pPr>
            <a:r>
              <a:rPr lang="en-US" sz="2000">
                <a:solidFill>
                  <a:srgbClr val="22D3EE"/>
                </a:solidFill>
                <a:latin typeface="Arial"/>
                <a:ea typeface="Arial"/>
                <a:cs typeface="Arial"/>
                <a:sym typeface="Arial"/>
              </a:rPr>
              <a:t>WHY IT MATTERS</a:t>
            </a:r>
          </a:p>
        </p:txBody>
      </p:sp>
      <p:sp>
        <p:nvSpPr>
          <p:cNvPr id="31" name="TextBox 31"/>
          <p:cNvSpPr txBox="1"/>
          <p:nvPr/>
        </p:nvSpPr>
        <p:spPr>
          <a:xfrm>
            <a:off x="1524000" y="2003231"/>
            <a:ext cx="15544800" cy="962025"/>
          </a:xfrm>
          <a:prstGeom prst="rect">
            <a:avLst/>
          </a:prstGeom>
        </p:spPr>
        <p:txBody>
          <a:bodyPr lIns="0" tIns="0" rIns="0" bIns="0" rtlCol="0" anchor="t">
            <a:spAutoFit/>
          </a:bodyPr>
          <a:lstStyle/>
          <a:p>
            <a:pPr algn="l">
              <a:lnSpc>
                <a:spcPts val="7680"/>
              </a:lnSpc>
            </a:pPr>
            <a:r>
              <a:rPr lang="en-US" sz="6400" b="1">
                <a:solidFill>
                  <a:srgbClr val="F1F5F9"/>
                </a:solidFill>
                <a:latin typeface="Arial Bold"/>
                <a:ea typeface="Arial Bold"/>
                <a:cs typeface="Arial Bold"/>
                <a:sym typeface="Arial Bold"/>
              </a:rPr>
              <a:t>Real-world use cases</a:t>
            </a:r>
          </a:p>
        </p:txBody>
      </p:sp>
      <p:sp>
        <p:nvSpPr>
          <p:cNvPr id="32" name="TextBox 32"/>
          <p:cNvSpPr txBox="1"/>
          <p:nvPr/>
        </p:nvSpPr>
        <p:spPr>
          <a:xfrm>
            <a:off x="3555806" y="4755956"/>
            <a:ext cx="5181400" cy="438150"/>
          </a:xfrm>
          <a:prstGeom prst="rect">
            <a:avLst/>
          </a:prstGeom>
        </p:spPr>
        <p:txBody>
          <a:bodyPr lIns="0" tIns="0" rIns="0" bIns="0" rtlCol="0" anchor="t">
            <a:spAutoFit/>
          </a:bodyPr>
          <a:lstStyle/>
          <a:p>
            <a:pPr algn="l">
              <a:lnSpc>
                <a:spcPts val="3359"/>
              </a:lnSpc>
            </a:pPr>
            <a:r>
              <a:rPr lang="en-US" sz="2799" b="1">
                <a:solidFill>
                  <a:srgbClr val="F1F5F9"/>
                </a:solidFill>
                <a:latin typeface="Arial Bold"/>
                <a:ea typeface="Arial Bold"/>
                <a:cs typeface="Arial Bold"/>
                <a:sym typeface="Arial Bold"/>
              </a:rPr>
              <a:t>Geofencing</a:t>
            </a:r>
          </a:p>
        </p:txBody>
      </p:sp>
      <p:sp>
        <p:nvSpPr>
          <p:cNvPr id="33" name="TextBox 33"/>
          <p:cNvSpPr txBox="1"/>
          <p:nvPr/>
        </p:nvSpPr>
        <p:spPr>
          <a:xfrm>
            <a:off x="3200600" y="5281946"/>
            <a:ext cx="5181400" cy="839391"/>
          </a:xfrm>
          <a:prstGeom prst="rect">
            <a:avLst/>
          </a:prstGeom>
        </p:spPr>
        <p:txBody>
          <a:bodyPr lIns="0" tIns="0" rIns="0" bIns="0" rtlCol="0" anchor="t">
            <a:spAutoFit/>
          </a:bodyPr>
          <a:lstStyle/>
          <a:p>
            <a:pPr algn="l">
              <a:lnSpc>
                <a:spcPts val="3079"/>
              </a:lnSpc>
            </a:pPr>
            <a:r>
              <a:rPr lang="en-US" sz="2200">
                <a:solidFill>
                  <a:srgbClr val="94A3B8"/>
                </a:solidFill>
                <a:latin typeface="Arial"/>
                <a:ea typeface="Arial"/>
                <a:cs typeface="Arial"/>
                <a:sym typeface="Arial"/>
              </a:rPr>
              <a:t>Trigger events when devices enter zones</a:t>
            </a:r>
          </a:p>
        </p:txBody>
      </p:sp>
      <p:sp>
        <p:nvSpPr>
          <p:cNvPr id="34" name="TextBox 34"/>
          <p:cNvSpPr txBox="1"/>
          <p:nvPr/>
        </p:nvSpPr>
        <p:spPr>
          <a:xfrm>
            <a:off x="11937806" y="4755956"/>
            <a:ext cx="5181400" cy="438150"/>
          </a:xfrm>
          <a:prstGeom prst="rect">
            <a:avLst/>
          </a:prstGeom>
        </p:spPr>
        <p:txBody>
          <a:bodyPr lIns="0" tIns="0" rIns="0" bIns="0" rtlCol="0" anchor="t">
            <a:spAutoFit/>
          </a:bodyPr>
          <a:lstStyle/>
          <a:p>
            <a:pPr algn="l">
              <a:lnSpc>
                <a:spcPts val="3359"/>
              </a:lnSpc>
            </a:pPr>
            <a:r>
              <a:rPr lang="en-US" sz="2799" b="1">
                <a:solidFill>
                  <a:srgbClr val="F1F5F9"/>
                </a:solidFill>
                <a:latin typeface="Arial Bold"/>
                <a:ea typeface="Arial Bold"/>
                <a:cs typeface="Arial Bold"/>
                <a:sym typeface="Arial Bold"/>
              </a:rPr>
              <a:t>Logistics</a:t>
            </a:r>
          </a:p>
        </p:txBody>
      </p:sp>
      <p:sp>
        <p:nvSpPr>
          <p:cNvPr id="35" name="TextBox 35"/>
          <p:cNvSpPr txBox="1"/>
          <p:nvPr/>
        </p:nvSpPr>
        <p:spPr>
          <a:xfrm>
            <a:off x="11937806" y="5238455"/>
            <a:ext cx="5181400" cy="448266"/>
          </a:xfrm>
          <a:prstGeom prst="rect">
            <a:avLst/>
          </a:prstGeom>
        </p:spPr>
        <p:txBody>
          <a:bodyPr lIns="0" tIns="0" rIns="0" bIns="0" rtlCol="0" anchor="t">
            <a:spAutoFit/>
          </a:bodyPr>
          <a:lstStyle/>
          <a:p>
            <a:pPr algn="l">
              <a:lnSpc>
                <a:spcPts val="3079"/>
              </a:lnSpc>
            </a:pPr>
            <a:r>
              <a:rPr lang="en-US" sz="2200">
                <a:solidFill>
                  <a:srgbClr val="94A3B8"/>
                </a:solidFill>
                <a:latin typeface="Arial"/>
                <a:ea typeface="Arial"/>
                <a:cs typeface="Arial"/>
                <a:sym typeface="Arial"/>
              </a:rPr>
              <a:t>Route trucks within delivery regions</a:t>
            </a:r>
          </a:p>
        </p:txBody>
      </p:sp>
      <p:sp>
        <p:nvSpPr>
          <p:cNvPr id="36" name="TextBox 36"/>
          <p:cNvSpPr txBox="1"/>
          <p:nvPr/>
        </p:nvSpPr>
        <p:spPr>
          <a:xfrm>
            <a:off x="3555806" y="7931048"/>
            <a:ext cx="5181400" cy="438150"/>
          </a:xfrm>
          <a:prstGeom prst="rect">
            <a:avLst/>
          </a:prstGeom>
        </p:spPr>
        <p:txBody>
          <a:bodyPr lIns="0" tIns="0" rIns="0" bIns="0" rtlCol="0" anchor="t">
            <a:spAutoFit/>
          </a:bodyPr>
          <a:lstStyle/>
          <a:p>
            <a:pPr algn="l">
              <a:lnSpc>
                <a:spcPts val="3359"/>
              </a:lnSpc>
            </a:pPr>
            <a:r>
              <a:rPr lang="en-US" sz="2799" b="1">
                <a:solidFill>
                  <a:srgbClr val="F1F5F9"/>
                </a:solidFill>
                <a:latin typeface="Arial Bold"/>
                <a:ea typeface="Arial Bold"/>
                <a:cs typeface="Arial Bold"/>
                <a:sym typeface="Arial Bold"/>
              </a:rPr>
              <a:t>Telecom Coverage</a:t>
            </a:r>
          </a:p>
        </p:txBody>
      </p:sp>
      <p:sp>
        <p:nvSpPr>
          <p:cNvPr id="37" name="TextBox 37"/>
          <p:cNvSpPr txBox="1"/>
          <p:nvPr/>
        </p:nvSpPr>
        <p:spPr>
          <a:xfrm>
            <a:off x="3555806" y="8413556"/>
            <a:ext cx="5181400" cy="448266"/>
          </a:xfrm>
          <a:prstGeom prst="rect">
            <a:avLst/>
          </a:prstGeom>
        </p:spPr>
        <p:txBody>
          <a:bodyPr lIns="0" tIns="0" rIns="0" bIns="0" rtlCol="0" anchor="t">
            <a:spAutoFit/>
          </a:bodyPr>
          <a:lstStyle/>
          <a:p>
            <a:pPr algn="l">
              <a:lnSpc>
                <a:spcPts val="3079"/>
              </a:lnSpc>
            </a:pPr>
            <a:r>
              <a:rPr lang="en-US" sz="2200">
                <a:solidFill>
                  <a:srgbClr val="94A3B8"/>
                </a:solidFill>
                <a:latin typeface="Arial"/>
                <a:ea typeface="Arial"/>
                <a:cs typeface="Arial"/>
                <a:sym typeface="Arial"/>
              </a:rPr>
              <a:t>Map subscribers to cell tower zones</a:t>
            </a:r>
          </a:p>
        </p:txBody>
      </p:sp>
      <p:sp>
        <p:nvSpPr>
          <p:cNvPr id="38" name="TextBox 38"/>
          <p:cNvSpPr txBox="1"/>
          <p:nvPr/>
        </p:nvSpPr>
        <p:spPr>
          <a:xfrm>
            <a:off x="11937806" y="7931048"/>
            <a:ext cx="5181400" cy="438150"/>
          </a:xfrm>
          <a:prstGeom prst="rect">
            <a:avLst/>
          </a:prstGeom>
        </p:spPr>
        <p:txBody>
          <a:bodyPr lIns="0" tIns="0" rIns="0" bIns="0" rtlCol="0" anchor="t">
            <a:spAutoFit/>
          </a:bodyPr>
          <a:lstStyle/>
          <a:p>
            <a:pPr algn="l">
              <a:lnSpc>
                <a:spcPts val="3359"/>
              </a:lnSpc>
            </a:pPr>
            <a:r>
              <a:rPr lang="en-US" sz="2799" b="1">
                <a:solidFill>
                  <a:srgbClr val="F1F5F9"/>
                </a:solidFill>
                <a:latin typeface="Arial Bold"/>
                <a:ea typeface="Arial Bold"/>
                <a:cs typeface="Arial Bold"/>
                <a:sym typeface="Arial Bold"/>
              </a:rPr>
              <a:t>Census &amp; Admin</a:t>
            </a:r>
          </a:p>
        </p:txBody>
      </p:sp>
      <p:sp>
        <p:nvSpPr>
          <p:cNvPr id="39" name="TextBox 39"/>
          <p:cNvSpPr txBox="1"/>
          <p:nvPr/>
        </p:nvSpPr>
        <p:spPr>
          <a:xfrm>
            <a:off x="11525202" y="8384381"/>
            <a:ext cx="5181400" cy="448266"/>
          </a:xfrm>
          <a:prstGeom prst="rect">
            <a:avLst/>
          </a:prstGeom>
        </p:spPr>
        <p:txBody>
          <a:bodyPr lIns="0" tIns="0" rIns="0" bIns="0" rtlCol="0" anchor="t">
            <a:spAutoFit/>
          </a:bodyPr>
          <a:lstStyle/>
          <a:p>
            <a:pPr algn="l">
              <a:lnSpc>
                <a:spcPts val="3079"/>
              </a:lnSpc>
            </a:pPr>
            <a:r>
              <a:rPr lang="en-US" sz="2200">
                <a:solidFill>
                  <a:srgbClr val="94A3B8"/>
                </a:solidFill>
                <a:latin typeface="Arial"/>
                <a:ea typeface="Arial"/>
                <a:cs typeface="Arial"/>
                <a:sym typeface="Arial"/>
              </a:rPr>
              <a:t>Aggregate data into administrative areas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TextBox 2"/>
          <p:cNvSpPr txBox="1"/>
          <p:nvPr/>
        </p:nvSpPr>
        <p:spPr>
          <a:xfrm>
            <a:off x="1524000" y="1260281"/>
            <a:ext cx="4528937" cy="295275"/>
          </a:xfrm>
          <a:prstGeom prst="rect">
            <a:avLst/>
          </a:prstGeom>
        </p:spPr>
        <p:txBody>
          <a:bodyPr lIns="0" tIns="0" rIns="0" bIns="0" rtlCol="0" anchor="t">
            <a:spAutoFit/>
          </a:bodyPr>
          <a:lstStyle/>
          <a:p>
            <a:pPr algn="l">
              <a:lnSpc>
                <a:spcPts val="2400"/>
              </a:lnSpc>
            </a:pPr>
            <a:r>
              <a:rPr lang="en-US" sz="2000">
                <a:solidFill>
                  <a:srgbClr val="22D3EE"/>
                </a:solidFill>
                <a:latin typeface="Arial"/>
                <a:ea typeface="Arial"/>
                <a:cs typeface="Arial"/>
                <a:sym typeface="Arial"/>
              </a:rPr>
              <a:t>PROJECT ROADMAP</a:t>
            </a:r>
          </a:p>
        </p:txBody>
      </p:sp>
      <p:sp>
        <p:nvSpPr>
          <p:cNvPr id="3" name="TextBox 3"/>
          <p:cNvSpPr txBox="1"/>
          <p:nvPr/>
        </p:nvSpPr>
        <p:spPr>
          <a:xfrm>
            <a:off x="1524000" y="2003231"/>
            <a:ext cx="15544800" cy="962025"/>
          </a:xfrm>
          <a:prstGeom prst="rect">
            <a:avLst/>
          </a:prstGeom>
        </p:spPr>
        <p:txBody>
          <a:bodyPr lIns="0" tIns="0" rIns="0" bIns="0" rtlCol="0" anchor="t">
            <a:spAutoFit/>
          </a:bodyPr>
          <a:lstStyle/>
          <a:p>
            <a:pPr algn="l">
              <a:lnSpc>
                <a:spcPts val="7680"/>
              </a:lnSpc>
            </a:pPr>
            <a:r>
              <a:rPr lang="en-US" sz="6400" b="1">
                <a:solidFill>
                  <a:srgbClr val="F1F5F9"/>
                </a:solidFill>
                <a:latin typeface="Arial Bold"/>
                <a:ea typeface="Arial Bold"/>
                <a:cs typeface="Arial Bold"/>
                <a:sym typeface="Arial Bold"/>
              </a:rPr>
              <a:t>Three milestones</a:t>
            </a:r>
          </a:p>
        </p:txBody>
      </p:sp>
      <p:grpSp>
        <p:nvGrpSpPr>
          <p:cNvPr id="4" name="Group 4"/>
          <p:cNvGrpSpPr/>
          <p:nvPr/>
        </p:nvGrpSpPr>
        <p:grpSpPr>
          <a:xfrm>
            <a:off x="2667000" y="6222806"/>
            <a:ext cx="12954000" cy="50606"/>
            <a:chOff x="0" y="0"/>
            <a:chExt cx="17272000" cy="67475"/>
          </a:xfrm>
        </p:grpSpPr>
        <p:sp>
          <p:nvSpPr>
            <p:cNvPr id="5" name="Freeform 5"/>
            <p:cNvSpPr/>
            <p:nvPr/>
          </p:nvSpPr>
          <p:spPr>
            <a:xfrm>
              <a:off x="0" y="0"/>
              <a:ext cx="17272000" cy="67437"/>
            </a:xfrm>
            <a:custGeom>
              <a:avLst/>
              <a:gdLst/>
              <a:ahLst/>
              <a:cxnLst/>
              <a:rect l="l" t="t" r="r" b="b"/>
              <a:pathLst>
                <a:path w="17272000" h="67437">
                  <a:moveTo>
                    <a:pt x="0" y="0"/>
                  </a:moveTo>
                  <a:lnTo>
                    <a:pt x="17272000" y="0"/>
                  </a:lnTo>
                  <a:lnTo>
                    <a:pt x="17272000" y="67437"/>
                  </a:lnTo>
                  <a:lnTo>
                    <a:pt x="0" y="67437"/>
                  </a:lnTo>
                  <a:close/>
                </a:path>
              </a:pathLst>
            </a:custGeom>
            <a:solidFill>
              <a:srgbClr val="22D3EE"/>
            </a:solidFill>
          </p:spPr>
          <p:txBody>
            <a:bodyPr/>
            <a:lstStyle/>
            <a:p>
              <a:endParaRPr lang="en-US"/>
            </a:p>
          </p:txBody>
        </p:sp>
      </p:grpSp>
      <p:grpSp>
        <p:nvGrpSpPr>
          <p:cNvPr id="6" name="Group 6"/>
          <p:cNvGrpSpPr/>
          <p:nvPr/>
        </p:nvGrpSpPr>
        <p:grpSpPr>
          <a:xfrm>
            <a:off x="1993706" y="5041706"/>
            <a:ext cx="2514600" cy="2514600"/>
            <a:chOff x="0" y="0"/>
            <a:chExt cx="3352800" cy="3352800"/>
          </a:xfrm>
        </p:grpSpPr>
        <p:sp>
          <p:nvSpPr>
            <p:cNvPr id="7" name="Freeform 7"/>
            <p:cNvSpPr/>
            <p:nvPr/>
          </p:nvSpPr>
          <p:spPr>
            <a:xfrm>
              <a:off x="50800" y="50800"/>
              <a:ext cx="3251200" cy="3251200"/>
            </a:xfrm>
            <a:custGeom>
              <a:avLst/>
              <a:gdLst/>
              <a:ahLst/>
              <a:cxnLst/>
              <a:rect l="l" t="t" r="r" b="b"/>
              <a:pathLst>
                <a:path w="3251200" h="3251200">
                  <a:moveTo>
                    <a:pt x="0" y="1625600"/>
                  </a:moveTo>
                  <a:cubicBezTo>
                    <a:pt x="0" y="727837"/>
                    <a:pt x="727837" y="0"/>
                    <a:pt x="1625600" y="0"/>
                  </a:cubicBezTo>
                  <a:cubicBezTo>
                    <a:pt x="2523363" y="0"/>
                    <a:pt x="3251200" y="727837"/>
                    <a:pt x="3251200" y="1625600"/>
                  </a:cubicBezTo>
                  <a:cubicBezTo>
                    <a:pt x="3251200" y="2523363"/>
                    <a:pt x="2523363" y="3251200"/>
                    <a:pt x="1625600" y="3251200"/>
                  </a:cubicBezTo>
                  <a:cubicBezTo>
                    <a:pt x="727837" y="3251200"/>
                    <a:pt x="0" y="2523363"/>
                    <a:pt x="0" y="1625600"/>
                  </a:cubicBezTo>
                  <a:close/>
                </a:path>
              </a:pathLst>
            </a:custGeom>
            <a:solidFill>
              <a:srgbClr val="122236"/>
            </a:solidFill>
          </p:spPr>
          <p:txBody>
            <a:bodyPr/>
            <a:lstStyle/>
            <a:p>
              <a:endParaRPr lang="en-US"/>
            </a:p>
          </p:txBody>
        </p:sp>
        <p:sp>
          <p:nvSpPr>
            <p:cNvPr id="8" name="Freeform 8"/>
            <p:cNvSpPr/>
            <p:nvPr/>
          </p:nvSpPr>
          <p:spPr>
            <a:xfrm>
              <a:off x="0" y="0"/>
              <a:ext cx="3352800" cy="3352800"/>
            </a:xfrm>
            <a:custGeom>
              <a:avLst/>
              <a:gdLst/>
              <a:ahLst/>
              <a:cxnLst/>
              <a:rect l="l" t="t" r="r" b="b"/>
              <a:pathLst>
                <a:path w="3352800" h="3352800">
                  <a:moveTo>
                    <a:pt x="0" y="1676400"/>
                  </a:moveTo>
                  <a:cubicBezTo>
                    <a:pt x="0" y="750570"/>
                    <a:pt x="750570" y="0"/>
                    <a:pt x="1676400" y="0"/>
                  </a:cubicBezTo>
                  <a:cubicBezTo>
                    <a:pt x="1704467" y="0"/>
                    <a:pt x="1727200" y="22733"/>
                    <a:pt x="1727200" y="50800"/>
                  </a:cubicBezTo>
                  <a:lnTo>
                    <a:pt x="1676400" y="50800"/>
                  </a:lnTo>
                  <a:lnTo>
                    <a:pt x="1676400" y="0"/>
                  </a:lnTo>
                  <a:lnTo>
                    <a:pt x="1676400" y="50800"/>
                  </a:lnTo>
                  <a:lnTo>
                    <a:pt x="1676400" y="0"/>
                  </a:lnTo>
                  <a:cubicBezTo>
                    <a:pt x="2602230" y="0"/>
                    <a:pt x="3352800" y="750570"/>
                    <a:pt x="3352800" y="1676400"/>
                  </a:cubicBezTo>
                  <a:cubicBezTo>
                    <a:pt x="3352800" y="1689862"/>
                    <a:pt x="3347466" y="1702816"/>
                    <a:pt x="3337941" y="1712341"/>
                  </a:cubicBezTo>
                  <a:lnTo>
                    <a:pt x="3302000" y="1676400"/>
                  </a:lnTo>
                  <a:lnTo>
                    <a:pt x="3352800" y="1676400"/>
                  </a:lnTo>
                  <a:cubicBezTo>
                    <a:pt x="3352800" y="2602230"/>
                    <a:pt x="2602230" y="3352800"/>
                    <a:pt x="1676400" y="3352800"/>
                  </a:cubicBezTo>
                  <a:lnTo>
                    <a:pt x="1676400" y="3302000"/>
                  </a:lnTo>
                  <a:lnTo>
                    <a:pt x="1676400" y="3352800"/>
                  </a:lnTo>
                  <a:cubicBezTo>
                    <a:pt x="750570" y="3352800"/>
                    <a:pt x="0" y="2602230"/>
                    <a:pt x="0" y="1676400"/>
                  </a:cubicBezTo>
                  <a:lnTo>
                    <a:pt x="50800" y="1676400"/>
                  </a:lnTo>
                  <a:lnTo>
                    <a:pt x="0" y="1676400"/>
                  </a:lnTo>
                  <a:moveTo>
                    <a:pt x="101600" y="1676400"/>
                  </a:moveTo>
                  <a:lnTo>
                    <a:pt x="50800" y="1676400"/>
                  </a:lnTo>
                  <a:lnTo>
                    <a:pt x="101600" y="1676400"/>
                  </a:lnTo>
                  <a:cubicBezTo>
                    <a:pt x="101600" y="2546096"/>
                    <a:pt x="806704" y="3251200"/>
                    <a:pt x="1676400" y="3251200"/>
                  </a:cubicBezTo>
                  <a:cubicBezTo>
                    <a:pt x="2546096" y="3251200"/>
                    <a:pt x="3251200" y="2546096"/>
                    <a:pt x="3251200" y="1676400"/>
                  </a:cubicBezTo>
                  <a:cubicBezTo>
                    <a:pt x="3251200" y="1662938"/>
                    <a:pt x="3256534" y="1649984"/>
                    <a:pt x="3266059" y="1640459"/>
                  </a:cubicBezTo>
                  <a:lnTo>
                    <a:pt x="3302000" y="1676400"/>
                  </a:lnTo>
                  <a:lnTo>
                    <a:pt x="3251200" y="1676400"/>
                  </a:lnTo>
                  <a:cubicBezTo>
                    <a:pt x="3251200" y="806704"/>
                    <a:pt x="2546096" y="101600"/>
                    <a:pt x="1676400" y="101600"/>
                  </a:cubicBezTo>
                  <a:cubicBezTo>
                    <a:pt x="1648333" y="101600"/>
                    <a:pt x="1625600" y="78867"/>
                    <a:pt x="1625600" y="50800"/>
                  </a:cubicBezTo>
                  <a:lnTo>
                    <a:pt x="1676400" y="50800"/>
                  </a:lnTo>
                  <a:lnTo>
                    <a:pt x="1676400" y="101600"/>
                  </a:lnTo>
                  <a:cubicBezTo>
                    <a:pt x="806704" y="101600"/>
                    <a:pt x="101600" y="806704"/>
                    <a:pt x="101600" y="1676400"/>
                  </a:cubicBezTo>
                  <a:close/>
                </a:path>
              </a:pathLst>
            </a:custGeom>
            <a:solidFill>
              <a:srgbClr val="22D3EE"/>
            </a:solidFill>
          </p:spPr>
          <p:txBody>
            <a:bodyPr/>
            <a:lstStyle/>
            <a:p>
              <a:endParaRPr lang="en-US"/>
            </a:p>
          </p:txBody>
        </p:sp>
      </p:grpSp>
      <p:grpSp>
        <p:nvGrpSpPr>
          <p:cNvPr id="9" name="Group 9"/>
          <p:cNvGrpSpPr/>
          <p:nvPr/>
        </p:nvGrpSpPr>
        <p:grpSpPr>
          <a:xfrm>
            <a:off x="7962900" y="5041706"/>
            <a:ext cx="2514600" cy="2514600"/>
            <a:chOff x="0" y="0"/>
            <a:chExt cx="3352800" cy="3352800"/>
          </a:xfrm>
        </p:grpSpPr>
        <p:sp>
          <p:nvSpPr>
            <p:cNvPr id="10" name="Freeform 10"/>
            <p:cNvSpPr/>
            <p:nvPr/>
          </p:nvSpPr>
          <p:spPr>
            <a:xfrm>
              <a:off x="50800" y="50800"/>
              <a:ext cx="3251200" cy="3251200"/>
            </a:xfrm>
            <a:custGeom>
              <a:avLst/>
              <a:gdLst/>
              <a:ahLst/>
              <a:cxnLst/>
              <a:rect l="l" t="t" r="r" b="b"/>
              <a:pathLst>
                <a:path w="3251200" h="3251200">
                  <a:moveTo>
                    <a:pt x="0" y="1625600"/>
                  </a:moveTo>
                  <a:cubicBezTo>
                    <a:pt x="0" y="727837"/>
                    <a:pt x="727837" y="0"/>
                    <a:pt x="1625600" y="0"/>
                  </a:cubicBezTo>
                  <a:cubicBezTo>
                    <a:pt x="2523363" y="0"/>
                    <a:pt x="3251200" y="727837"/>
                    <a:pt x="3251200" y="1625600"/>
                  </a:cubicBezTo>
                  <a:cubicBezTo>
                    <a:pt x="3251200" y="2523363"/>
                    <a:pt x="2523363" y="3251200"/>
                    <a:pt x="1625600" y="3251200"/>
                  </a:cubicBezTo>
                  <a:cubicBezTo>
                    <a:pt x="727837" y="3251200"/>
                    <a:pt x="0" y="2523363"/>
                    <a:pt x="0" y="1625600"/>
                  </a:cubicBezTo>
                  <a:close/>
                </a:path>
              </a:pathLst>
            </a:custGeom>
            <a:solidFill>
              <a:srgbClr val="122236"/>
            </a:solidFill>
          </p:spPr>
          <p:txBody>
            <a:bodyPr/>
            <a:lstStyle/>
            <a:p>
              <a:endParaRPr lang="en-US"/>
            </a:p>
          </p:txBody>
        </p:sp>
        <p:sp>
          <p:nvSpPr>
            <p:cNvPr id="11" name="Freeform 11"/>
            <p:cNvSpPr/>
            <p:nvPr/>
          </p:nvSpPr>
          <p:spPr>
            <a:xfrm>
              <a:off x="0" y="0"/>
              <a:ext cx="3352800" cy="3352800"/>
            </a:xfrm>
            <a:custGeom>
              <a:avLst/>
              <a:gdLst/>
              <a:ahLst/>
              <a:cxnLst/>
              <a:rect l="l" t="t" r="r" b="b"/>
              <a:pathLst>
                <a:path w="3352800" h="3352800">
                  <a:moveTo>
                    <a:pt x="0" y="1676400"/>
                  </a:moveTo>
                  <a:cubicBezTo>
                    <a:pt x="0" y="750570"/>
                    <a:pt x="750570" y="0"/>
                    <a:pt x="1676400" y="0"/>
                  </a:cubicBezTo>
                  <a:cubicBezTo>
                    <a:pt x="1704467" y="0"/>
                    <a:pt x="1727200" y="22733"/>
                    <a:pt x="1727200" y="50800"/>
                  </a:cubicBezTo>
                  <a:lnTo>
                    <a:pt x="1676400" y="50800"/>
                  </a:lnTo>
                  <a:lnTo>
                    <a:pt x="1676400" y="0"/>
                  </a:lnTo>
                  <a:lnTo>
                    <a:pt x="1676400" y="50800"/>
                  </a:lnTo>
                  <a:lnTo>
                    <a:pt x="1676400" y="0"/>
                  </a:lnTo>
                  <a:cubicBezTo>
                    <a:pt x="2602230" y="0"/>
                    <a:pt x="3352800" y="750570"/>
                    <a:pt x="3352800" y="1676400"/>
                  </a:cubicBezTo>
                  <a:cubicBezTo>
                    <a:pt x="3352800" y="1689862"/>
                    <a:pt x="3347466" y="1702816"/>
                    <a:pt x="3337941" y="1712341"/>
                  </a:cubicBezTo>
                  <a:lnTo>
                    <a:pt x="3302000" y="1676400"/>
                  </a:lnTo>
                  <a:lnTo>
                    <a:pt x="3352800" y="1676400"/>
                  </a:lnTo>
                  <a:cubicBezTo>
                    <a:pt x="3352800" y="2602230"/>
                    <a:pt x="2602230" y="3352800"/>
                    <a:pt x="1676400" y="3352800"/>
                  </a:cubicBezTo>
                  <a:lnTo>
                    <a:pt x="1676400" y="3302000"/>
                  </a:lnTo>
                  <a:lnTo>
                    <a:pt x="1676400" y="3352800"/>
                  </a:lnTo>
                  <a:cubicBezTo>
                    <a:pt x="750570" y="3352800"/>
                    <a:pt x="0" y="2602230"/>
                    <a:pt x="0" y="1676400"/>
                  </a:cubicBezTo>
                  <a:lnTo>
                    <a:pt x="50800" y="1676400"/>
                  </a:lnTo>
                  <a:lnTo>
                    <a:pt x="0" y="1676400"/>
                  </a:lnTo>
                  <a:moveTo>
                    <a:pt x="101600" y="1676400"/>
                  </a:moveTo>
                  <a:lnTo>
                    <a:pt x="50800" y="1676400"/>
                  </a:lnTo>
                  <a:lnTo>
                    <a:pt x="101600" y="1676400"/>
                  </a:lnTo>
                  <a:cubicBezTo>
                    <a:pt x="101600" y="2546096"/>
                    <a:pt x="806704" y="3251200"/>
                    <a:pt x="1676400" y="3251200"/>
                  </a:cubicBezTo>
                  <a:cubicBezTo>
                    <a:pt x="2546096" y="3251200"/>
                    <a:pt x="3251200" y="2546096"/>
                    <a:pt x="3251200" y="1676400"/>
                  </a:cubicBezTo>
                  <a:cubicBezTo>
                    <a:pt x="3251200" y="1662938"/>
                    <a:pt x="3256534" y="1649984"/>
                    <a:pt x="3266059" y="1640459"/>
                  </a:cubicBezTo>
                  <a:lnTo>
                    <a:pt x="3302000" y="1676400"/>
                  </a:lnTo>
                  <a:lnTo>
                    <a:pt x="3251200" y="1676400"/>
                  </a:lnTo>
                  <a:cubicBezTo>
                    <a:pt x="3251200" y="806704"/>
                    <a:pt x="2546096" y="101600"/>
                    <a:pt x="1676400" y="101600"/>
                  </a:cubicBezTo>
                  <a:cubicBezTo>
                    <a:pt x="1648333" y="101600"/>
                    <a:pt x="1625600" y="78867"/>
                    <a:pt x="1625600" y="50800"/>
                  </a:cubicBezTo>
                  <a:lnTo>
                    <a:pt x="1676400" y="50800"/>
                  </a:lnTo>
                  <a:lnTo>
                    <a:pt x="1676400" y="101600"/>
                  </a:lnTo>
                  <a:cubicBezTo>
                    <a:pt x="806704" y="101600"/>
                    <a:pt x="101600" y="806704"/>
                    <a:pt x="101600" y="1676400"/>
                  </a:cubicBezTo>
                  <a:close/>
                </a:path>
              </a:pathLst>
            </a:custGeom>
            <a:solidFill>
              <a:srgbClr val="22D3EE"/>
            </a:solidFill>
          </p:spPr>
          <p:txBody>
            <a:bodyPr/>
            <a:lstStyle/>
            <a:p>
              <a:endParaRPr lang="en-US"/>
            </a:p>
          </p:txBody>
        </p:sp>
      </p:grpSp>
      <p:grpSp>
        <p:nvGrpSpPr>
          <p:cNvPr id="12" name="Group 12"/>
          <p:cNvGrpSpPr/>
          <p:nvPr/>
        </p:nvGrpSpPr>
        <p:grpSpPr>
          <a:xfrm>
            <a:off x="13931798" y="5041706"/>
            <a:ext cx="2514600" cy="2514600"/>
            <a:chOff x="0" y="0"/>
            <a:chExt cx="3352800" cy="3352800"/>
          </a:xfrm>
        </p:grpSpPr>
        <p:sp>
          <p:nvSpPr>
            <p:cNvPr id="13" name="Freeform 13"/>
            <p:cNvSpPr/>
            <p:nvPr/>
          </p:nvSpPr>
          <p:spPr>
            <a:xfrm>
              <a:off x="50800" y="50800"/>
              <a:ext cx="3251200" cy="3251200"/>
            </a:xfrm>
            <a:custGeom>
              <a:avLst/>
              <a:gdLst/>
              <a:ahLst/>
              <a:cxnLst/>
              <a:rect l="l" t="t" r="r" b="b"/>
              <a:pathLst>
                <a:path w="3251200" h="3251200">
                  <a:moveTo>
                    <a:pt x="0" y="1625600"/>
                  </a:moveTo>
                  <a:cubicBezTo>
                    <a:pt x="0" y="727837"/>
                    <a:pt x="727837" y="0"/>
                    <a:pt x="1625600" y="0"/>
                  </a:cubicBezTo>
                  <a:cubicBezTo>
                    <a:pt x="2523363" y="0"/>
                    <a:pt x="3251200" y="727837"/>
                    <a:pt x="3251200" y="1625600"/>
                  </a:cubicBezTo>
                  <a:cubicBezTo>
                    <a:pt x="3251200" y="2523363"/>
                    <a:pt x="2523363" y="3251200"/>
                    <a:pt x="1625600" y="3251200"/>
                  </a:cubicBezTo>
                  <a:cubicBezTo>
                    <a:pt x="727837" y="3251200"/>
                    <a:pt x="0" y="2523363"/>
                    <a:pt x="0" y="1625600"/>
                  </a:cubicBezTo>
                  <a:close/>
                </a:path>
              </a:pathLst>
            </a:custGeom>
            <a:solidFill>
              <a:srgbClr val="122236"/>
            </a:solidFill>
          </p:spPr>
          <p:txBody>
            <a:bodyPr/>
            <a:lstStyle/>
            <a:p>
              <a:endParaRPr lang="en-US"/>
            </a:p>
          </p:txBody>
        </p:sp>
        <p:sp>
          <p:nvSpPr>
            <p:cNvPr id="14" name="Freeform 14"/>
            <p:cNvSpPr/>
            <p:nvPr/>
          </p:nvSpPr>
          <p:spPr>
            <a:xfrm>
              <a:off x="0" y="0"/>
              <a:ext cx="3352800" cy="3352800"/>
            </a:xfrm>
            <a:custGeom>
              <a:avLst/>
              <a:gdLst/>
              <a:ahLst/>
              <a:cxnLst/>
              <a:rect l="l" t="t" r="r" b="b"/>
              <a:pathLst>
                <a:path w="3352800" h="3352800">
                  <a:moveTo>
                    <a:pt x="0" y="1676400"/>
                  </a:moveTo>
                  <a:cubicBezTo>
                    <a:pt x="0" y="750570"/>
                    <a:pt x="750570" y="0"/>
                    <a:pt x="1676400" y="0"/>
                  </a:cubicBezTo>
                  <a:cubicBezTo>
                    <a:pt x="1704467" y="0"/>
                    <a:pt x="1727200" y="22733"/>
                    <a:pt x="1727200" y="50800"/>
                  </a:cubicBezTo>
                  <a:lnTo>
                    <a:pt x="1676400" y="50800"/>
                  </a:lnTo>
                  <a:lnTo>
                    <a:pt x="1676400" y="0"/>
                  </a:lnTo>
                  <a:lnTo>
                    <a:pt x="1676400" y="50800"/>
                  </a:lnTo>
                  <a:lnTo>
                    <a:pt x="1676400" y="0"/>
                  </a:lnTo>
                  <a:cubicBezTo>
                    <a:pt x="2602230" y="0"/>
                    <a:pt x="3352800" y="750570"/>
                    <a:pt x="3352800" y="1676400"/>
                  </a:cubicBezTo>
                  <a:cubicBezTo>
                    <a:pt x="3352800" y="1689862"/>
                    <a:pt x="3347466" y="1702816"/>
                    <a:pt x="3337941" y="1712341"/>
                  </a:cubicBezTo>
                  <a:lnTo>
                    <a:pt x="3302000" y="1676400"/>
                  </a:lnTo>
                  <a:lnTo>
                    <a:pt x="3352800" y="1676400"/>
                  </a:lnTo>
                  <a:cubicBezTo>
                    <a:pt x="3352800" y="2602230"/>
                    <a:pt x="2602230" y="3352800"/>
                    <a:pt x="1676400" y="3352800"/>
                  </a:cubicBezTo>
                  <a:lnTo>
                    <a:pt x="1676400" y="3302000"/>
                  </a:lnTo>
                  <a:lnTo>
                    <a:pt x="1676400" y="3352800"/>
                  </a:lnTo>
                  <a:cubicBezTo>
                    <a:pt x="750570" y="3352800"/>
                    <a:pt x="0" y="2602230"/>
                    <a:pt x="0" y="1676400"/>
                  </a:cubicBezTo>
                  <a:lnTo>
                    <a:pt x="50800" y="1676400"/>
                  </a:lnTo>
                  <a:lnTo>
                    <a:pt x="0" y="1676400"/>
                  </a:lnTo>
                  <a:moveTo>
                    <a:pt x="101600" y="1676400"/>
                  </a:moveTo>
                  <a:lnTo>
                    <a:pt x="50800" y="1676400"/>
                  </a:lnTo>
                  <a:lnTo>
                    <a:pt x="101600" y="1676400"/>
                  </a:lnTo>
                  <a:cubicBezTo>
                    <a:pt x="101600" y="2546096"/>
                    <a:pt x="806704" y="3251200"/>
                    <a:pt x="1676400" y="3251200"/>
                  </a:cubicBezTo>
                  <a:cubicBezTo>
                    <a:pt x="2546096" y="3251200"/>
                    <a:pt x="3251200" y="2546096"/>
                    <a:pt x="3251200" y="1676400"/>
                  </a:cubicBezTo>
                  <a:cubicBezTo>
                    <a:pt x="3251200" y="1662938"/>
                    <a:pt x="3256534" y="1649984"/>
                    <a:pt x="3266059" y="1640459"/>
                  </a:cubicBezTo>
                  <a:lnTo>
                    <a:pt x="3302000" y="1676400"/>
                  </a:lnTo>
                  <a:lnTo>
                    <a:pt x="3251200" y="1676400"/>
                  </a:lnTo>
                  <a:cubicBezTo>
                    <a:pt x="3251200" y="806704"/>
                    <a:pt x="2546096" y="101600"/>
                    <a:pt x="1676400" y="101600"/>
                  </a:cubicBezTo>
                  <a:cubicBezTo>
                    <a:pt x="1648333" y="101600"/>
                    <a:pt x="1625600" y="78867"/>
                    <a:pt x="1625600" y="50800"/>
                  </a:cubicBezTo>
                  <a:lnTo>
                    <a:pt x="1676400" y="50800"/>
                  </a:lnTo>
                  <a:lnTo>
                    <a:pt x="1676400" y="101600"/>
                  </a:lnTo>
                  <a:cubicBezTo>
                    <a:pt x="806704" y="101600"/>
                    <a:pt x="101600" y="806704"/>
                    <a:pt x="101600" y="1676400"/>
                  </a:cubicBezTo>
                  <a:close/>
                </a:path>
              </a:pathLst>
            </a:custGeom>
            <a:solidFill>
              <a:srgbClr val="22D3EE"/>
            </a:solidFill>
          </p:spPr>
          <p:txBody>
            <a:bodyPr/>
            <a:lstStyle/>
            <a:p>
              <a:endParaRPr lang="en-US"/>
            </a:p>
          </p:txBody>
        </p:sp>
      </p:grpSp>
      <p:sp>
        <p:nvSpPr>
          <p:cNvPr id="15" name="TextBox 15"/>
          <p:cNvSpPr txBox="1"/>
          <p:nvPr/>
        </p:nvSpPr>
        <p:spPr>
          <a:xfrm>
            <a:off x="2008946" y="5692673"/>
            <a:ext cx="2331720" cy="809625"/>
          </a:xfrm>
          <a:prstGeom prst="rect">
            <a:avLst/>
          </a:prstGeom>
        </p:spPr>
        <p:txBody>
          <a:bodyPr lIns="0" tIns="0" rIns="0" bIns="0" rtlCol="0" anchor="t">
            <a:spAutoFit/>
          </a:bodyPr>
          <a:lstStyle/>
          <a:p>
            <a:pPr algn="ctr">
              <a:lnSpc>
                <a:spcPts val="7200"/>
              </a:lnSpc>
            </a:pPr>
            <a:r>
              <a:rPr lang="en-US" sz="7200" b="1">
                <a:solidFill>
                  <a:srgbClr val="22D3EE"/>
                </a:solidFill>
                <a:latin typeface="Arial Bold"/>
                <a:ea typeface="Arial Bold"/>
                <a:cs typeface="Arial Bold"/>
                <a:sym typeface="Arial Bold"/>
              </a:rPr>
              <a:t>M1</a:t>
            </a:r>
          </a:p>
        </p:txBody>
      </p:sp>
      <p:sp>
        <p:nvSpPr>
          <p:cNvPr id="16" name="TextBox 16"/>
          <p:cNvSpPr txBox="1"/>
          <p:nvPr/>
        </p:nvSpPr>
        <p:spPr>
          <a:xfrm>
            <a:off x="2008946" y="6584756"/>
            <a:ext cx="2331720" cy="285750"/>
          </a:xfrm>
          <a:prstGeom prst="rect">
            <a:avLst/>
          </a:prstGeom>
        </p:spPr>
        <p:txBody>
          <a:bodyPr lIns="0" tIns="0" rIns="0" bIns="0" rtlCol="0" anchor="t">
            <a:spAutoFit/>
          </a:bodyPr>
          <a:lstStyle/>
          <a:p>
            <a:pPr algn="ctr">
              <a:lnSpc>
                <a:spcPts val="2160"/>
              </a:lnSpc>
            </a:pPr>
            <a:r>
              <a:rPr lang="en-US" sz="1800">
                <a:solidFill>
                  <a:srgbClr val="94A3B8"/>
                </a:solidFill>
                <a:latin typeface="Arial"/>
                <a:ea typeface="Arial"/>
                <a:cs typeface="Arial"/>
                <a:sym typeface="Arial"/>
              </a:rPr>
              <a:t>SEQUENTIAL</a:t>
            </a:r>
          </a:p>
        </p:txBody>
      </p:sp>
      <p:sp>
        <p:nvSpPr>
          <p:cNvPr id="17" name="TextBox 17"/>
          <p:cNvSpPr txBox="1"/>
          <p:nvPr/>
        </p:nvSpPr>
        <p:spPr>
          <a:xfrm>
            <a:off x="7978140" y="5692673"/>
            <a:ext cx="2331720" cy="809625"/>
          </a:xfrm>
          <a:prstGeom prst="rect">
            <a:avLst/>
          </a:prstGeom>
        </p:spPr>
        <p:txBody>
          <a:bodyPr lIns="0" tIns="0" rIns="0" bIns="0" rtlCol="0" anchor="t">
            <a:spAutoFit/>
          </a:bodyPr>
          <a:lstStyle/>
          <a:p>
            <a:pPr algn="ctr">
              <a:lnSpc>
                <a:spcPts val="7200"/>
              </a:lnSpc>
            </a:pPr>
            <a:r>
              <a:rPr lang="en-US" sz="7200" b="1">
                <a:solidFill>
                  <a:srgbClr val="22D3EE"/>
                </a:solidFill>
                <a:latin typeface="Arial Bold"/>
                <a:ea typeface="Arial Bold"/>
                <a:cs typeface="Arial Bold"/>
                <a:sym typeface="Arial Bold"/>
              </a:rPr>
              <a:t>M2</a:t>
            </a:r>
          </a:p>
        </p:txBody>
      </p:sp>
      <p:sp>
        <p:nvSpPr>
          <p:cNvPr id="18" name="TextBox 18"/>
          <p:cNvSpPr txBox="1"/>
          <p:nvPr/>
        </p:nvSpPr>
        <p:spPr>
          <a:xfrm>
            <a:off x="7978140" y="6584756"/>
            <a:ext cx="2331720" cy="285750"/>
          </a:xfrm>
          <a:prstGeom prst="rect">
            <a:avLst/>
          </a:prstGeom>
        </p:spPr>
        <p:txBody>
          <a:bodyPr lIns="0" tIns="0" rIns="0" bIns="0" rtlCol="0" anchor="t">
            <a:spAutoFit/>
          </a:bodyPr>
          <a:lstStyle/>
          <a:p>
            <a:pPr algn="ctr">
              <a:lnSpc>
                <a:spcPts val="2160"/>
              </a:lnSpc>
            </a:pPr>
            <a:r>
              <a:rPr lang="en-US" sz="1800">
                <a:solidFill>
                  <a:srgbClr val="94A3B8"/>
                </a:solidFill>
                <a:latin typeface="Arial"/>
                <a:ea typeface="Arial"/>
                <a:cs typeface="Arial"/>
                <a:sym typeface="Arial"/>
              </a:rPr>
              <a:t>PARALLEL</a:t>
            </a:r>
          </a:p>
        </p:txBody>
      </p:sp>
      <p:sp>
        <p:nvSpPr>
          <p:cNvPr id="19" name="TextBox 19"/>
          <p:cNvSpPr txBox="1"/>
          <p:nvPr/>
        </p:nvSpPr>
        <p:spPr>
          <a:xfrm>
            <a:off x="13947038" y="5692673"/>
            <a:ext cx="2331720" cy="809625"/>
          </a:xfrm>
          <a:prstGeom prst="rect">
            <a:avLst/>
          </a:prstGeom>
        </p:spPr>
        <p:txBody>
          <a:bodyPr lIns="0" tIns="0" rIns="0" bIns="0" rtlCol="0" anchor="t">
            <a:spAutoFit/>
          </a:bodyPr>
          <a:lstStyle/>
          <a:p>
            <a:pPr algn="ctr">
              <a:lnSpc>
                <a:spcPts val="7200"/>
              </a:lnSpc>
            </a:pPr>
            <a:r>
              <a:rPr lang="en-US" sz="7200" b="1">
                <a:solidFill>
                  <a:srgbClr val="22D3EE"/>
                </a:solidFill>
                <a:latin typeface="Arial Bold"/>
                <a:ea typeface="Arial Bold"/>
                <a:cs typeface="Arial Bold"/>
                <a:sym typeface="Arial Bold"/>
              </a:rPr>
              <a:t>M3</a:t>
            </a:r>
          </a:p>
        </p:txBody>
      </p:sp>
      <p:sp>
        <p:nvSpPr>
          <p:cNvPr id="20" name="TextBox 20"/>
          <p:cNvSpPr txBox="1"/>
          <p:nvPr/>
        </p:nvSpPr>
        <p:spPr>
          <a:xfrm>
            <a:off x="13947038" y="6584756"/>
            <a:ext cx="2331720" cy="285750"/>
          </a:xfrm>
          <a:prstGeom prst="rect">
            <a:avLst/>
          </a:prstGeom>
        </p:spPr>
        <p:txBody>
          <a:bodyPr lIns="0" tIns="0" rIns="0" bIns="0" rtlCol="0" anchor="t">
            <a:spAutoFit/>
          </a:bodyPr>
          <a:lstStyle/>
          <a:p>
            <a:pPr algn="ctr">
              <a:lnSpc>
                <a:spcPts val="2160"/>
              </a:lnSpc>
            </a:pPr>
            <a:r>
              <a:rPr lang="en-US" sz="1800">
                <a:solidFill>
                  <a:srgbClr val="94A3B8"/>
                </a:solidFill>
                <a:latin typeface="Arial"/>
                <a:ea typeface="Arial"/>
                <a:cs typeface="Arial"/>
                <a:sym typeface="Arial"/>
              </a:rPr>
              <a:t>DISTRIBUTED</a:t>
            </a:r>
          </a:p>
        </p:txBody>
      </p:sp>
      <p:sp>
        <p:nvSpPr>
          <p:cNvPr id="21" name="TextBox 21"/>
          <p:cNvSpPr txBox="1"/>
          <p:nvPr/>
        </p:nvSpPr>
        <p:spPr>
          <a:xfrm>
            <a:off x="843086" y="7727756"/>
            <a:ext cx="4663440" cy="438150"/>
          </a:xfrm>
          <a:prstGeom prst="rect">
            <a:avLst/>
          </a:prstGeom>
        </p:spPr>
        <p:txBody>
          <a:bodyPr lIns="0" tIns="0" rIns="0" bIns="0" rtlCol="0" anchor="t">
            <a:spAutoFit/>
          </a:bodyPr>
          <a:lstStyle/>
          <a:p>
            <a:pPr algn="ctr">
              <a:lnSpc>
                <a:spcPts val="3359"/>
              </a:lnSpc>
            </a:pPr>
            <a:r>
              <a:rPr lang="en-US" sz="2799" b="1">
                <a:solidFill>
                  <a:srgbClr val="F1F5F9"/>
                </a:solidFill>
                <a:latin typeface="Arial Bold"/>
                <a:ea typeface="Arial Bold"/>
                <a:cs typeface="Arial Bold"/>
                <a:sym typeface="Arial Bold"/>
              </a:rPr>
              <a:t>Spatial Indexing</a:t>
            </a:r>
          </a:p>
        </p:txBody>
      </p:sp>
      <p:sp>
        <p:nvSpPr>
          <p:cNvPr id="22" name="TextBox 22"/>
          <p:cNvSpPr txBox="1"/>
          <p:nvPr/>
        </p:nvSpPr>
        <p:spPr>
          <a:xfrm>
            <a:off x="843086" y="8229305"/>
            <a:ext cx="4663440" cy="764381"/>
          </a:xfrm>
          <a:prstGeom prst="rect">
            <a:avLst/>
          </a:prstGeom>
        </p:spPr>
        <p:txBody>
          <a:bodyPr lIns="0" tIns="0" rIns="0" bIns="0" rtlCol="0" anchor="t">
            <a:spAutoFit/>
          </a:bodyPr>
          <a:lstStyle/>
          <a:p>
            <a:pPr algn="ctr">
              <a:lnSpc>
                <a:spcPts val="2860"/>
              </a:lnSpc>
            </a:pPr>
            <a:r>
              <a:rPr lang="en-US" sz="2200">
                <a:solidFill>
                  <a:srgbClr val="94A3B8"/>
                </a:solidFill>
                <a:latin typeface="Arial"/>
                <a:ea typeface="Arial"/>
                <a:cs typeface="Arial"/>
                <a:sym typeface="Arial"/>
              </a:rPr>
              <a:t>Quadtree &amp; strip index over ray casting</a:t>
            </a:r>
          </a:p>
        </p:txBody>
      </p:sp>
      <p:sp>
        <p:nvSpPr>
          <p:cNvPr id="23" name="TextBox 23"/>
          <p:cNvSpPr txBox="1"/>
          <p:nvPr/>
        </p:nvSpPr>
        <p:spPr>
          <a:xfrm>
            <a:off x="6812280" y="7727756"/>
            <a:ext cx="4663440" cy="438150"/>
          </a:xfrm>
          <a:prstGeom prst="rect">
            <a:avLst/>
          </a:prstGeom>
        </p:spPr>
        <p:txBody>
          <a:bodyPr lIns="0" tIns="0" rIns="0" bIns="0" rtlCol="0" anchor="t">
            <a:spAutoFit/>
          </a:bodyPr>
          <a:lstStyle/>
          <a:p>
            <a:pPr algn="ctr">
              <a:lnSpc>
                <a:spcPts val="3359"/>
              </a:lnSpc>
            </a:pPr>
            <a:r>
              <a:rPr lang="en-US" sz="2799" b="1">
                <a:solidFill>
                  <a:srgbClr val="F1F5F9"/>
                </a:solidFill>
                <a:latin typeface="Arial Bold"/>
                <a:ea typeface="Arial Bold"/>
                <a:cs typeface="Arial Bold"/>
                <a:sym typeface="Arial Bold"/>
              </a:rPr>
              <a:t>OpenMP</a:t>
            </a:r>
          </a:p>
        </p:txBody>
      </p:sp>
      <p:sp>
        <p:nvSpPr>
          <p:cNvPr id="24" name="TextBox 24"/>
          <p:cNvSpPr txBox="1"/>
          <p:nvPr/>
        </p:nvSpPr>
        <p:spPr>
          <a:xfrm>
            <a:off x="6812280" y="8229305"/>
            <a:ext cx="4663440" cy="401241"/>
          </a:xfrm>
          <a:prstGeom prst="rect">
            <a:avLst/>
          </a:prstGeom>
        </p:spPr>
        <p:txBody>
          <a:bodyPr lIns="0" tIns="0" rIns="0" bIns="0" rtlCol="0" anchor="t">
            <a:spAutoFit/>
          </a:bodyPr>
          <a:lstStyle/>
          <a:p>
            <a:pPr algn="ctr">
              <a:lnSpc>
                <a:spcPts val="2860"/>
              </a:lnSpc>
            </a:pPr>
            <a:r>
              <a:rPr lang="en-US" sz="2200">
                <a:solidFill>
                  <a:srgbClr val="94A3B8"/>
                </a:solidFill>
                <a:latin typeface="Arial"/>
                <a:ea typeface="Arial"/>
                <a:cs typeface="Arial"/>
                <a:sym typeface="Arial"/>
              </a:rPr>
              <a:t>Five strategies on shared memory</a:t>
            </a:r>
          </a:p>
        </p:txBody>
      </p:sp>
      <p:sp>
        <p:nvSpPr>
          <p:cNvPr id="25" name="TextBox 25"/>
          <p:cNvSpPr txBox="1"/>
          <p:nvPr/>
        </p:nvSpPr>
        <p:spPr>
          <a:xfrm>
            <a:off x="12781178" y="7727756"/>
            <a:ext cx="4663440" cy="438150"/>
          </a:xfrm>
          <a:prstGeom prst="rect">
            <a:avLst/>
          </a:prstGeom>
        </p:spPr>
        <p:txBody>
          <a:bodyPr lIns="0" tIns="0" rIns="0" bIns="0" rtlCol="0" anchor="t">
            <a:spAutoFit/>
          </a:bodyPr>
          <a:lstStyle/>
          <a:p>
            <a:pPr algn="ctr">
              <a:lnSpc>
                <a:spcPts val="3359"/>
              </a:lnSpc>
            </a:pPr>
            <a:r>
              <a:rPr lang="en-US" sz="2799" b="1">
                <a:solidFill>
                  <a:srgbClr val="F1F5F9"/>
                </a:solidFill>
                <a:latin typeface="Arial Bold"/>
                <a:ea typeface="Arial Bold"/>
                <a:cs typeface="Arial Bold"/>
                <a:sym typeface="Arial Bold"/>
              </a:rPr>
              <a:t>Multi-Process</a:t>
            </a:r>
          </a:p>
        </p:txBody>
      </p:sp>
      <p:sp>
        <p:nvSpPr>
          <p:cNvPr id="26" name="TextBox 26"/>
          <p:cNvSpPr txBox="1"/>
          <p:nvPr/>
        </p:nvSpPr>
        <p:spPr>
          <a:xfrm>
            <a:off x="12781178" y="8229305"/>
            <a:ext cx="4663440" cy="401241"/>
          </a:xfrm>
          <a:prstGeom prst="rect">
            <a:avLst/>
          </a:prstGeom>
        </p:spPr>
        <p:txBody>
          <a:bodyPr lIns="0" tIns="0" rIns="0" bIns="0" rtlCol="0" anchor="t">
            <a:spAutoFit/>
          </a:bodyPr>
          <a:lstStyle/>
          <a:p>
            <a:pPr algn="ctr">
              <a:lnSpc>
                <a:spcPts val="2860"/>
              </a:lnSpc>
            </a:pPr>
            <a:r>
              <a:rPr lang="en-US" sz="2200">
                <a:solidFill>
                  <a:srgbClr val="94A3B8"/>
                </a:solidFill>
                <a:latin typeface="Arial"/>
                <a:ea typeface="Arial"/>
                <a:cs typeface="Arial"/>
                <a:sym typeface="Arial"/>
              </a:rPr>
              <a:t>Master / worker with file-based IPC</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TextBox 2"/>
          <p:cNvSpPr txBox="1"/>
          <p:nvPr/>
        </p:nvSpPr>
        <p:spPr>
          <a:xfrm>
            <a:off x="1524000" y="1260281"/>
            <a:ext cx="5708466" cy="295275"/>
          </a:xfrm>
          <a:prstGeom prst="rect">
            <a:avLst/>
          </a:prstGeom>
        </p:spPr>
        <p:txBody>
          <a:bodyPr lIns="0" tIns="0" rIns="0" bIns="0" rtlCol="0" anchor="t">
            <a:spAutoFit/>
          </a:bodyPr>
          <a:lstStyle/>
          <a:p>
            <a:pPr algn="l">
              <a:lnSpc>
                <a:spcPts val="2400"/>
              </a:lnSpc>
            </a:pPr>
            <a:r>
              <a:rPr lang="en-US" sz="2000">
                <a:solidFill>
                  <a:srgbClr val="22D3EE"/>
                </a:solidFill>
                <a:latin typeface="Arial"/>
                <a:ea typeface="Arial"/>
                <a:cs typeface="Arial"/>
                <a:sym typeface="Arial"/>
              </a:rPr>
              <a:t>END-TO-END WORKFLOW</a:t>
            </a:r>
          </a:p>
        </p:txBody>
      </p:sp>
      <p:sp>
        <p:nvSpPr>
          <p:cNvPr id="3" name="TextBox 3"/>
          <p:cNvSpPr txBox="1"/>
          <p:nvPr/>
        </p:nvSpPr>
        <p:spPr>
          <a:xfrm>
            <a:off x="1524000" y="2003231"/>
            <a:ext cx="15544800" cy="885825"/>
          </a:xfrm>
          <a:prstGeom prst="rect">
            <a:avLst/>
          </a:prstGeom>
        </p:spPr>
        <p:txBody>
          <a:bodyPr lIns="0" tIns="0" rIns="0" bIns="0" rtlCol="0" anchor="t">
            <a:spAutoFit/>
          </a:bodyPr>
          <a:lstStyle/>
          <a:p>
            <a:pPr algn="l">
              <a:lnSpc>
                <a:spcPts val="7200"/>
              </a:lnSpc>
            </a:pPr>
            <a:r>
              <a:rPr lang="en-US" sz="6000">
                <a:solidFill>
                  <a:srgbClr val="F1F5F9"/>
                </a:solidFill>
                <a:latin typeface="Arial"/>
                <a:ea typeface="Arial"/>
                <a:cs typeface="Arial"/>
                <a:sym typeface="Arial"/>
              </a:rPr>
              <a:t>From </a:t>
            </a:r>
            <a:r>
              <a:rPr lang="en-US" sz="6000" b="1">
                <a:solidFill>
                  <a:srgbClr val="22D3EE"/>
                </a:solidFill>
                <a:latin typeface="Arial Bold"/>
                <a:ea typeface="Arial Bold"/>
                <a:cs typeface="Arial Bold"/>
                <a:sym typeface="Arial Bold"/>
              </a:rPr>
              <a:t>raw data</a:t>
            </a:r>
            <a:r>
              <a:rPr lang="en-US" sz="6000">
                <a:solidFill>
                  <a:srgbClr val="F1F5F9"/>
                </a:solidFill>
                <a:latin typeface="Arial"/>
                <a:ea typeface="Arial"/>
                <a:cs typeface="Arial"/>
                <a:sym typeface="Arial"/>
              </a:rPr>
              <a:t> to classified points</a:t>
            </a:r>
          </a:p>
        </p:txBody>
      </p:sp>
      <p:grpSp>
        <p:nvGrpSpPr>
          <p:cNvPr id="4" name="Group 4"/>
          <p:cNvGrpSpPr/>
          <p:nvPr/>
        </p:nvGrpSpPr>
        <p:grpSpPr>
          <a:xfrm>
            <a:off x="1524000" y="4114800"/>
            <a:ext cx="1142400" cy="329803"/>
            <a:chOff x="0" y="0"/>
            <a:chExt cx="1523200" cy="439738"/>
          </a:xfrm>
        </p:grpSpPr>
        <p:sp>
          <p:nvSpPr>
            <p:cNvPr id="5" name="Freeform 5"/>
            <p:cNvSpPr/>
            <p:nvPr/>
          </p:nvSpPr>
          <p:spPr>
            <a:xfrm>
              <a:off x="0" y="0"/>
              <a:ext cx="1523238" cy="439674"/>
            </a:xfrm>
            <a:custGeom>
              <a:avLst/>
              <a:gdLst/>
              <a:ahLst/>
              <a:cxnLst/>
              <a:rect l="l" t="t" r="r" b="b"/>
              <a:pathLst>
                <a:path w="1523238" h="439674">
                  <a:moveTo>
                    <a:pt x="0" y="101600"/>
                  </a:moveTo>
                  <a:cubicBezTo>
                    <a:pt x="0" y="45466"/>
                    <a:pt x="45466" y="0"/>
                    <a:pt x="101600" y="0"/>
                  </a:cubicBezTo>
                  <a:lnTo>
                    <a:pt x="1421638" y="0"/>
                  </a:lnTo>
                  <a:cubicBezTo>
                    <a:pt x="1477772" y="0"/>
                    <a:pt x="1523238" y="45466"/>
                    <a:pt x="1523238" y="101600"/>
                  </a:cubicBezTo>
                  <a:lnTo>
                    <a:pt x="1523238" y="338074"/>
                  </a:lnTo>
                  <a:cubicBezTo>
                    <a:pt x="1523238" y="394208"/>
                    <a:pt x="1477772" y="439674"/>
                    <a:pt x="1421638" y="439674"/>
                  </a:cubicBezTo>
                  <a:lnTo>
                    <a:pt x="101600" y="439674"/>
                  </a:lnTo>
                  <a:cubicBezTo>
                    <a:pt x="45466" y="439674"/>
                    <a:pt x="0" y="394208"/>
                    <a:pt x="0" y="338074"/>
                  </a:cubicBezTo>
                  <a:close/>
                </a:path>
              </a:pathLst>
            </a:custGeom>
            <a:solidFill>
              <a:srgbClr val="06B6D4"/>
            </a:solidFill>
          </p:spPr>
          <p:txBody>
            <a:bodyPr/>
            <a:lstStyle/>
            <a:p>
              <a:endParaRPr lang="en-US"/>
            </a:p>
          </p:txBody>
        </p:sp>
      </p:grpSp>
      <p:sp>
        <p:nvSpPr>
          <p:cNvPr id="6" name="TextBox 6"/>
          <p:cNvSpPr txBox="1"/>
          <p:nvPr/>
        </p:nvSpPr>
        <p:spPr>
          <a:xfrm>
            <a:off x="1727006" y="4146356"/>
            <a:ext cx="751132" cy="247650"/>
          </a:xfrm>
          <a:prstGeom prst="rect">
            <a:avLst/>
          </a:prstGeom>
        </p:spPr>
        <p:txBody>
          <a:bodyPr lIns="0" tIns="0" rIns="0" bIns="0" rtlCol="0" anchor="t">
            <a:spAutoFit/>
          </a:bodyPr>
          <a:lstStyle/>
          <a:p>
            <a:pPr algn="l">
              <a:lnSpc>
                <a:spcPts val="1920"/>
              </a:lnSpc>
            </a:pPr>
            <a:r>
              <a:rPr lang="en-US" sz="1600" b="1">
                <a:solidFill>
                  <a:srgbClr val="0A1628"/>
                </a:solidFill>
                <a:latin typeface="Arial Bold"/>
                <a:ea typeface="Arial Bold"/>
                <a:cs typeface="Arial Bold"/>
                <a:sym typeface="Arial Bold"/>
              </a:rPr>
              <a:t>INPUT</a:t>
            </a:r>
          </a:p>
        </p:txBody>
      </p:sp>
      <p:grpSp>
        <p:nvGrpSpPr>
          <p:cNvPr id="7" name="Group 7"/>
          <p:cNvGrpSpPr/>
          <p:nvPr/>
        </p:nvGrpSpPr>
        <p:grpSpPr>
          <a:xfrm>
            <a:off x="13335000" y="7035698"/>
            <a:ext cx="1393327" cy="329803"/>
            <a:chOff x="0" y="0"/>
            <a:chExt cx="1857769" cy="439738"/>
          </a:xfrm>
        </p:grpSpPr>
        <p:sp>
          <p:nvSpPr>
            <p:cNvPr id="8" name="Freeform 8"/>
            <p:cNvSpPr/>
            <p:nvPr/>
          </p:nvSpPr>
          <p:spPr>
            <a:xfrm>
              <a:off x="0" y="0"/>
              <a:ext cx="1857756" cy="439674"/>
            </a:xfrm>
            <a:custGeom>
              <a:avLst/>
              <a:gdLst/>
              <a:ahLst/>
              <a:cxnLst/>
              <a:rect l="l" t="t" r="r" b="b"/>
              <a:pathLst>
                <a:path w="1857756" h="439674">
                  <a:moveTo>
                    <a:pt x="0" y="101600"/>
                  </a:moveTo>
                  <a:cubicBezTo>
                    <a:pt x="0" y="45466"/>
                    <a:pt x="45466" y="0"/>
                    <a:pt x="101600" y="0"/>
                  </a:cubicBezTo>
                  <a:lnTo>
                    <a:pt x="1756156" y="0"/>
                  </a:lnTo>
                  <a:cubicBezTo>
                    <a:pt x="1812290" y="0"/>
                    <a:pt x="1857756" y="45466"/>
                    <a:pt x="1857756" y="101600"/>
                  </a:cubicBezTo>
                  <a:lnTo>
                    <a:pt x="1857756" y="338074"/>
                  </a:lnTo>
                  <a:cubicBezTo>
                    <a:pt x="1857756" y="394208"/>
                    <a:pt x="1812290" y="439674"/>
                    <a:pt x="1756156" y="439674"/>
                  </a:cubicBezTo>
                  <a:lnTo>
                    <a:pt x="101600" y="439674"/>
                  </a:lnTo>
                  <a:cubicBezTo>
                    <a:pt x="45466" y="439674"/>
                    <a:pt x="0" y="394208"/>
                    <a:pt x="0" y="338074"/>
                  </a:cubicBezTo>
                  <a:close/>
                </a:path>
              </a:pathLst>
            </a:custGeom>
            <a:solidFill>
              <a:srgbClr val="06B6D4"/>
            </a:solidFill>
          </p:spPr>
          <p:txBody>
            <a:bodyPr/>
            <a:lstStyle/>
            <a:p>
              <a:endParaRPr lang="en-US"/>
            </a:p>
          </p:txBody>
        </p:sp>
      </p:grpSp>
      <p:sp>
        <p:nvSpPr>
          <p:cNvPr id="9" name="TextBox 9"/>
          <p:cNvSpPr txBox="1"/>
          <p:nvPr/>
        </p:nvSpPr>
        <p:spPr>
          <a:xfrm>
            <a:off x="13538006" y="7067255"/>
            <a:ext cx="1007069" cy="247650"/>
          </a:xfrm>
          <a:prstGeom prst="rect">
            <a:avLst/>
          </a:prstGeom>
        </p:spPr>
        <p:txBody>
          <a:bodyPr lIns="0" tIns="0" rIns="0" bIns="0" rtlCol="0" anchor="t">
            <a:spAutoFit/>
          </a:bodyPr>
          <a:lstStyle/>
          <a:p>
            <a:pPr algn="l">
              <a:lnSpc>
                <a:spcPts val="1920"/>
              </a:lnSpc>
            </a:pPr>
            <a:r>
              <a:rPr lang="en-US" sz="1600" b="1">
                <a:solidFill>
                  <a:srgbClr val="0A1628"/>
                </a:solidFill>
                <a:latin typeface="Arial Bold"/>
                <a:ea typeface="Arial Bold"/>
                <a:cs typeface="Arial Bold"/>
                <a:sym typeface="Arial Bold"/>
              </a:rPr>
              <a:t>OUTPUT</a:t>
            </a:r>
          </a:p>
        </p:txBody>
      </p:sp>
      <p:grpSp>
        <p:nvGrpSpPr>
          <p:cNvPr id="10" name="Group 10"/>
          <p:cNvGrpSpPr/>
          <p:nvPr/>
        </p:nvGrpSpPr>
        <p:grpSpPr>
          <a:xfrm>
            <a:off x="1504950" y="4425848"/>
            <a:ext cx="2908106" cy="2400300"/>
            <a:chOff x="0" y="0"/>
            <a:chExt cx="3877475" cy="3200400"/>
          </a:xfrm>
        </p:grpSpPr>
        <p:sp>
          <p:nvSpPr>
            <p:cNvPr id="11" name="Freeform 11"/>
            <p:cNvSpPr/>
            <p:nvPr/>
          </p:nvSpPr>
          <p:spPr>
            <a:xfrm>
              <a:off x="25400" y="25400"/>
              <a:ext cx="3826764" cy="3149600"/>
            </a:xfrm>
            <a:custGeom>
              <a:avLst/>
              <a:gdLst/>
              <a:ahLst/>
              <a:cxnLst/>
              <a:rect l="l" t="t" r="r" b="b"/>
              <a:pathLst>
                <a:path w="3826764" h="3149600">
                  <a:moveTo>
                    <a:pt x="0" y="203200"/>
                  </a:moveTo>
                  <a:cubicBezTo>
                    <a:pt x="0" y="90932"/>
                    <a:pt x="91186" y="0"/>
                    <a:pt x="203835" y="0"/>
                  </a:cubicBezTo>
                  <a:lnTo>
                    <a:pt x="3622929" y="0"/>
                  </a:lnTo>
                  <a:cubicBezTo>
                    <a:pt x="3735451" y="0"/>
                    <a:pt x="3826764" y="90932"/>
                    <a:pt x="3826764" y="203200"/>
                  </a:cubicBezTo>
                  <a:lnTo>
                    <a:pt x="3826764" y="2946400"/>
                  </a:lnTo>
                  <a:cubicBezTo>
                    <a:pt x="3826764" y="3058668"/>
                    <a:pt x="3735578" y="3149600"/>
                    <a:pt x="3622929" y="3149600"/>
                  </a:cubicBezTo>
                  <a:lnTo>
                    <a:pt x="203835" y="3149600"/>
                  </a:lnTo>
                  <a:cubicBezTo>
                    <a:pt x="91186" y="3149600"/>
                    <a:pt x="0" y="3058668"/>
                    <a:pt x="0" y="2946400"/>
                  </a:cubicBezTo>
                  <a:close/>
                </a:path>
              </a:pathLst>
            </a:custGeom>
            <a:solidFill>
              <a:srgbClr val="122236"/>
            </a:solidFill>
          </p:spPr>
          <p:txBody>
            <a:bodyPr/>
            <a:lstStyle/>
            <a:p>
              <a:endParaRPr lang="en-US"/>
            </a:p>
          </p:txBody>
        </p:sp>
        <p:sp>
          <p:nvSpPr>
            <p:cNvPr id="12" name="Freeform 12"/>
            <p:cNvSpPr/>
            <p:nvPr/>
          </p:nvSpPr>
          <p:spPr>
            <a:xfrm>
              <a:off x="0" y="0"/>
              <a:ext cx="3877564" cy="3200400"/>
            </a:xfrm>
            <a:custGeom>
              <a:avLst/>
              <a:gdLst/>
              <a:ahLst/>
              <a:cxnLst/>
              <a:rect l="l" t="t" r="r" b="b"/>
              <a:pathLst>
                <a:path w="3877564" h="3200400">
                  <a:moveTo>
                    <a:pt x="0" y="228600"/>
                  </a:moveTo>
                  <a:cubicBezTo>
                    <a:pt x="0" y="102235"/>
                    <a:pt x="102616" y="0"/>
                    <a:pt x="229235" y="0"/>
                  </a:cubicBezTo>
                  <a:lnTo>
                    <a:pt x="3648329" y="0"/>
                  </a:lnTo>
                  <a:lnTo>
                    <a:pt x="3648329" y="25400"/>
                  </a:lnTo>
                  <a:lnTo>
                    <a:pt x="3648329" y="0"/>
                  </a:lnTo>
                  <a:cubicBezTo>
                    <a:pt x="3774821" y="0"/>
                    <a:pt x="3877564" y="102235"/>
                    <a:pt x="3877564" y="228600"/>
                  </a:cubicBezTo>
                  <a:lnTo>
                    <a:pt x="3852164" y="228600"/>
                  </a:lnTo>
                  <a:lnTo>
                    <a:pt x="3877564" y="228600"/>
                  </a:lnTo>
                  <a:lnTo>
                    <a:pt x="3877564" y="2971800"/>
                  </a:lnTo>
                  <a:lnTo>
                    <a:pt x="3852164" y="2971800"/>
                  </a:lnTo>
                  <a:lnTo>
                    <a:pt x="3877564" y="2971800"/>
                  </a:lnTo>
                  <a:cubicBezTo>
                    <a:pt x="3877564" y="3098165"/>
                    <a:pt x="3774948" y="3200400"/>
                    <a:pt x="3648329" y="3200400"/>
                  </a:cubicBezTo>
                  <a:lnTo>
                    <a:pt x="3648329" y="3175000"/>
                  </a:lnTo>
                  <a:lnTo>
                    <a:pt x="3648329" y="3200400"/>
                  </a:lnTo>
                  <a:lnTo>
                    <a:pt x="229235" y="3200400"/>
                  </a:lnTo>
                  <a:lnTo>
                    <a:pt x="229235" y="3175000"/>
                  </a:lnTo>
                  <a:lnTo>
                    <a:pt x="229235" y="3200400"/>
                  </a:lnTo>
                  <a:cubicBezTo>
                    <a:pt x="102616" y="3200400"/>
                    <a:pt x="0" y="3098165"/>
                    <a:pt x="0" y="2971800"/>
                  </a:cubicBezTo>
                  <a:lnTo>
                    <a:pt x="0" y="228600"/>
                  </a:lnTo>
                  <a:lnTo>
                    <a:pt x="25400" y="228600"/>
                  </a:lnTo>
                  <a:lnTo>
                    <a:pt x="0" y="228600"/>
                  </a:lnTo>
                  <a:moveTo>
                    <a:pt x="50800" y="228600"/>
                  </a:moveTo>
                  <a:lnTo>
                    <a:pt x="50800" y="2971800"/>
                  </a:lnTo>
                  <a:lnTo>
                    <a:pt x="25400" y="2971800"/>
                  </a:lnTo>
                  <a:lnTo>
                    <a:pt x="50800" y="2971800"/>
                  </a:lnTo>
                  <a:cubicBezTo>
                    <a:pt x="50800" y="3069971"/>
                    <a:pt x="130556" y="3149600"/>
                    <a:pt x="229235" y="3149600"/>
                  </a:cubicBezTo>
                  <a:lnTo>
                    <a:pt x="3648329" y="3149600"/>
                  </a:lnTo>
                  <a:cubicBezTo>
                    <a:pt x="3746881" y="3149600"/>
                    <a:pt x="3826764" y="3069971"/>
                    <a:pt x="3826764" y="2971800"/>
                  </a:cubicBezTo>
                  <a:lnTo>
                    <a:pt x="3826764" y="228600"/>
                  </a:lnTo>
                  <a:cubicBezTo>
                    <a:pt x="3826764" y="130429"/>
                    <a:pt x="3747008" y="50800"/>
                    <a:pt x="3648329" y="50800"/>
                  </a:cubicBezTo>
                  <a:lnTo>
                    <a:pt x="229235" y="50800"/>
                  </a:lnTo>
                  <a:lnTo>
                    <a:pt x="229235" y="25400"/>
                  </a:lnTo>
                  <a:lnTo>
                    <a:pt x="229235" y="50800"/>
                  </a:lnTo>
                  <a:cubicBezTo>
                    <a:pt x="130556" y="50800"/>
                    <a:pt x="50800" y="130429"/>
                    <a:pt x="50800" y="228600"/>
                  </a:cubicBezTo>
                  <a:close/>
                </a:path>
              </a:pathLst>
            </a:custGeom>
            <a:solidFill>
              <a:srgbClr val="1E3A5F"/>
            </a:solidFill>
          </p:spPr>
          <p:txBody>
            <a:bodyPr/>
            <a:lstStyle/>
            <a:p>
              <a:endParaRPr lang="en-US"/>
            </a:p>
          </p:txBody>
        </p:sp>
      </p:grpSp>
      <p:sp>
        <p:nvSpPr>
          <p:cNvPr id="13" name="TextBox 13"/>
          <p:cNvSpPr txBox="1"/>
          <p:nvPr/>
        </p:nvSpPr>
        <p:spPr>
          <a:xfrm>
            <a:off x="1496063" y="4628855"/>
            <a:ext cx="2849680" cy="323850"/>
          </a:xfrm>
          <a:prstGeom prst="rect">
            <a:avLst/>
          </a:prstGeom>
        </p:spPr>
        <p:txBody>
          <a:bodyPr lIns="0" tIns="0" rIns="0" bIns="0" rtlCol="0" anchor="t">
            <a:spAutoFit/>
          </a:bodyPr>
          <a:lstStyle/>
          <a:p>
            <a:pPr algn="ctr">
              <a:lnSpc>
                <a:spcPts val="2640"/>
              </a:lnSpc>
            </a:pPr>
            <a:r>
              <a:rPr lang="en-US" sz="2200" b="1">
                <a:solidFill>
                  <a:srgbClr val="F1F5F9"/>
                </a:solidFill>
                <a:latin typeface="Arial Bold"/>
                <a:ea typeface="Arial Bold"/>
                <a:cs typeface="Arial Bold"/>
                <a:sym typeface="Arial Bold"/>
              </a:rPr>
              <a:t>Polygons</a:t>
            </a:r>
          </a:p>
        </p:txBody>
      </p:sp>
      <p:sp>
        <p:nvSpPr>
          <p:cNvPr id="14" name="TextBox 14"/>
          <p:cNvSpPr txBox="1"/>
          <p:nvPr/>
        </p:nvSpPr>
        <p:spPr>
          <a:xfrm>
            <a:off x="1651511" y="5016103"/>
            <a:ext cx="2538784" cy="632222"/>
          </a:xfrm>
          <a:prstGeom prst="rect">
            <a:avLst/>
          </a:prstGeom>
        </p:spPr>
        <p:txBody>
          <a:bodyPr lIns="0" tIns="0" rIns="0" bIns="0" rtlCol="0" anchor="t">
            <a:spAutoFit/>
          </a:bodyPr>
          <a:lstStyle/>
          <a:p>
            <a:pPr algn="ctr">
              <a:lnSpc>
                <a:spcPts val="2340"/>
              </a:lnSpc>
            </a:pPr>
            <a:r>
              <a:rPr lang="en-US" sz="1800">
                <a:solidFill>
                  <a:srgbClr val="94A3B8"/>
                </a:solidFill>
                <a:latin typeface="Arial"/>
                <a:ea typeface="Arial"/>
                <a:cs typeface="Arial"/>
                <a:sym typeface="Arial"/>
              </a:rPr>
              <a:t>GeoJSON or synthetic grid</a:t>
            </a:r>
          </a:p>
        </p:txBody>
      </p:sp>
      <p:grpSp>
        <p:nvGrpSpPr>
          <p:cNvPr id="15" name="Group 15"/>
          <p:cNvGrpSpPr/>
          <p:nvPr/>
        </p:nvGrpSpPr>
        <p:grpSpPr>
          <a:xfrm>
            <a:off x="5441756" y="4425848"/>
            <a:ext cx="2908106" cy="2400300"/>
            <a:chOff x="0" y="0"/>
            <a:chExt cx="3877475" cy="3200400"/>
          </a:xfrm>
        </p:grpSpPr>
        <p:sp>
          <p:nvSpPr>
            <p:cNvPr id="16" name="Freeform 16"/>
            <p:cNvSpPr/>
            <p:nvPr/>
          </p:nvSpPr>
          <p:spPr>
            <a:xfrm>
              <a:off x="25400" y="25400"/>
              <a:ext cx="3826764" cy="3149600"/>
            </a:xfrm>
            <a:custGeom>
              <a:avLst/>
              <a:gdLst/>
              <a:ahLst/>
              <a:cxnLst/>
              <a:rect l="l" t="t" r="r" b="b"/>
              <a:pathLst>
                <a:path w="3826764" h="3149600">
                  <a:moveTo>
                    <a:pt x="0" y="203200"/>
                  </a:moveTo>
                  <a:cubicBezTo>
                    <a:pt x="0" y="90932"/>
                    <a:pt x="91186" y="0"/>
                    <a:pt x="203835" y="0"/>
                  </a:cubicBezTo>
                  <a:lnTo>
                    <a:pt x="3622929" y="0"/>
                  </a:lnTo>
                  <a:cubicBezTo>
                    <a:pt x="3735451" y="0"/>
                    <a:pt x="3826764" y="90932"/>
                    <a:pt x="3826764" y="203200"/>
                  </a:cubicBezTo>
                  <a:lnTo>
                    <a:pt x="3826764" y="2946400"/>
                  </a:lnTo>
                  <a:cubicBezTo>
                    <a:pt x="3826764" y="3058668"/>
                    <a:pt x="3735578" y="3149600"/>
                    <a:pt x="3622929" y="3149600"/>
                  </a:cubicBezTo>
                  <a:lnTo>
                    <a:pt x="203835" y="3149600"/>
                  </a:lnTo>
                  <a:cubicBezTo>
                    <a:pt x="91186" y="3149600"/>
                    <a:pt x="0" y="3058668"/>
                    <a:pt x="0" y="2946400"/>
                  </a:cubicBezTo>
                  <a:close/>
                </a:path>
              </a:pathLst>
            </a:custGeom>
            <a:solidFill>
              <a:srgbClr val="122236"/>
            </a:solidFill>
          </p:spPr>
          <p:txBody>
            <a:bodyPr/>
            <a:lstStyle/>
            <a:p>
              <a:endParaRPr lang="en-US"/>
            </a:p>
          </p:txBody>
        </p:sp>
        <p:sp>
          <p:nvSpPr>
            <p:cNvPr id="17" name="Freeform 17"/>
            <p:cNvSpPr/>
            <p:nvPr/>
          </p:nvSpPr>
          <p:spPr>
            <a:xfrm>
              <a:off x="0" y="0"/>
              <a:ext cx="3877564" cy="3200400"/>
            </a:xfrm>
            <a:custGeom>
              <a:avLst/>
              <a:gdLst/>
              <a:ahLst/>
              <a:cxnLst/>
              <a:rect l="l" t="t" r="r" b="b"/>
              <a:pathLst>
                <a:path w="3877564" h="3200400">
                  <a:moveTo>
                    <a:pt x="0" y="228600"/>
                  </a:moveTo>
                  <a:cubicBezTo>
                    <a:pt x="0" y="102235"/>
                    <a:pt x="102616" y="0"/>
                    <a:pt x="229235" y="0"/>
                  </a:cubicBezTo>
                  <a:lnTo>
                    <a:pt x="3648329" y="0"/>
                  </a:lnTo>
                  <a:lnTo>
                    <a:pt x="3648329" y="25400"/>
                  </a:lnTo>
                  <a:lnTo>
                    <a:pt x="3648329" y="0"/>
                  </a:lnTo>
                  <a:cubicBezTo>
                    <a:pt x="3774821" y="0"/>
                    <a:pt x="3877564" y="102235"/>
                    <a:pt x="3877564" y="228600"/>
                  </a:cubicBezTo>
                  <a:lnTo>
                    <a:pt x="3852164" y="228600"/>
                  </a:lnTo>
                  <a:lnTo>
                    <a:pt x="3877564" y="228600"/>
                  </a:lnTo>
                  <a:lnTo>
                    <a:pt x="3877564" y="2971800"/>
                  </a:lnTo>
                  <a:lnTo>
                    <a:pt x="3852164" y="2971800"/>
                  </a:lnTo>
                  <a:lnTo>
                    <a:pt x="3877564" y="2971800"/>
                  </a:lnTo>
                  <a:cubicBezTo>
                    <a:pt x="3877564" y="3098165"/>
                    <a:pt x="3774948" y="3200400"/>
                    <a:pt x="3648329" y="3200400"/>
                  </a:cubicBezTo>
                  <a:lnTo>
                    <a:pt x="3648329" y="3175000"/>
                  </a:lnTo>
                  <a:lnTo>
                    <a:pt x="3648329" y="3200400"/>
                  </a:lnTo>
                  <a:lnTo>
                    <a:pt x="229235" y="3200400"/>
                  </a:lnTo>
                  <a:lnTo>
                    <a:pt x="229235" y="3175000"/>
                  </a:lnTo>
                  <a:lnTo>
                    <a:pt x="229235" y="3200400"/>
                  </a:lnTo>
                  <a:cubicBezTo>
                    <a:pt x="102616" y="3200400"/>
                    <a:pt x="0" y="3098165"/>
                    <a:pt x="0" y="2971800"/>
                  </a:cubicBezTo>
                  <a:lnTo>
                    <a:pt x="0" y="228600"/>
                  </a:lnTo>
                  <a:lnTo>
                    <a:pt x="25400" y="228600"/>
                  </a:lnTo>
                  <a:lnTo>
                    <a:pt x="0" y="228600"/>
                  </a:lnTo>
                  <a:moveTo>
                    <a:pt x="50800" y="228600"/>
                  </a:moveTo>
                  <a:lnTo>
                    <a:pt x="50800" y="2971800"/>
                  </a:lnTo>
                  <a:lnTo>
                    <a:pt x="25400" y="2971800"/>
                  </a:lnTo>
                  <a:lnTo>
                    <a:pt x="50800" y="2971800"/>
                  </a:lnTo>
                  <a:cubicBezTo>
                    <a:pt x="50800" y="3069971"/>
                    <a:pt x="130556" y="3149600"/>
                    <a:pt x="229235" y="3149600"/>
                  </a:cubicBezTo>
                  <a:lnTo>
                    <a:pt x="3648329" y="3149600"/>
                  </a:lnTo>
                  <a:cubicBezTo>
                    <a:pt x="3746881" y="3149600"/>
                    <a:pt x="3826764" y="3069971"/>
                    <a:pt x="3826764" y="2971800"/>
                  </a:cubicBezTo>
                  <a:lnTo>
                    <a:pt x="3826764" y="228600"/>
                  </a:lnTo>
                  <a:cubicBezTo>
                    <a:pt x="3826764" y="130429"/>
                    <a:pt x="3747008" y="50800"/>
                    <a:pt x="3648329" y="50800"/>
                  </a:cubicBezTo>
                  <a:lnTo>
                    <a:pt x="229235" y="50800"/>
                  </a:lnTo>
                  <a:lnTo>
                    <a:pt x="229235" y="25400"/>
                  </a:lnTo>
                  <a:lnTo>
                    <a:pt x="229235" y="50800"/>
                  </a:lnTo>
                  <a:cubicBezTo>
                    <a:pt x="130556" y="50800"/>
                    <a:pt x="50800" y="130429"/>
                    <a:pt x="50800" y="228600"/>
                  </a:cubicBezTo>
                  <a:close/>
                </a:path>
              </a:pathLst>
            </a:custGeom>
            <a:solidFill>
              <a:srgbClr val="1E3A5F"/>
            </a:solidFill>
          </p:spPr>
          <p:txBody>
            <a:bodyPr/>
            <a:lstStyle/>
            <a:p>
              <a:endParaRPr lang="en-US"/>
            </a:p>
          </p:txBody>
        </p:sp>
      </p:grpSp>
      <p:sp>
        <p:nvSpPr>
          <p:cNvPr id="18" name="TextBox 18"/>
          <p:cNvSpPr txBox="1"/>
          <p:nvPr/>
        </p:nvSpPr>
        <p:spPr>
          <a:xfrm>
            <a:off x="5432860" y="4628855"/>
            <a:ext cx="2849680" cy="323850"/>
          </a:xfrm>
          <a:prstGeom prst="rect">
            <a:avLst/>
          </a:prstGeom>
        </p:spPr>
        <p:txBody>
          <a:bodyPr lIns="0" tIns="0" rIns="0" bIns="0" rtlCol="0" anchor="t">
            <a:spAutoFit/>
          </a:bodyPr>
          <a:lstStyle/>
          <a:p>
            <a:pPr algn="ctr">
              <a:lnSpc>
                <a:spcPts val="2640"/>
              </a:lnSpc>
            </a:pPr>
            <a:r>
              <a:rPr lang="en-US" sz="2200" b="1">
                <a:solidFill>
                  <a:srgbClr val="F1F5F9"/>
                </a:solidFill>
                <a:latin typeface="Arial Bold"/>
                <a:ea typeface="Arial Bold"/>
                <a:cs typeface="Arial Bold"/>
                <a:sym typeface="Arial Bold"/>
              </a:rPr>
              <a:t>Build Index</a:t>
            </a:r>
          </a:p>
        </p:txBody>
      </p:sp>
      <p:sp>
        <p:nvSpPr>
          <p:cNvPr id="19" name="TextBox 19"/>
          <p:cNvSpPr txBox="1"/>
          <p:nvPr/>
        </p:nvSpPr>
        <p:spPr>
          <a:xfrm>
            <a:off x="5588308" y="5016103"/>
            <a:ext cx="2538784" cy="335156"/>
          </a:xfrm>
          <a:prstGeom prst="rect">
            <a:avLst/>
          </a:prstGeom>
        </p:spPr>
        <p:txBody>
          <a:bodyPr lIns="0" tIns="0" rIns="0" bIns="0" rtlCol="0" anchor="t">
            <a:spAutoFit/>
          </a:bodyPr>
          <a:lstStyle/>
          <a:p>
            <a:pPr algn="ctr">
              <a:lnSpc>
                <a:spcPts val="2340"/>
              </a:lnSpc>
            </a:pPr>
            <a:r>
              <a:rPr lang="en-US" sz="1800">
                <a:solidFill>
                  <a:srgbClr val="94A3B8"/>
                </a:solidFill>
                <a:latin typeface="Arial"/>
                <a:ea typeface="Arial"/>
                <a:cs typeface="Arial"/>
                <a:sym typeface="Arial"/>
              </a:rPr>
              <a:t>Quadtree over bbox</a:t>
            </a:r>
          </a:p>
        </p:txBody>
      </p:sp>
      <p:grpSp>
        <p:nvGrpSpPr>
          <p:cNvPr id="20" name="Group 20"/>
          <p:cNvGrpSpPr/>
          <p:nvPr/>
        </p:nvGrpSpPr>
        <p:grpSpPr>
          <a:xfrm>
            <a:off x="9378848" y="4425848"/>
            <a:ext cx="2908106" cy="2400300"/>
            <a:chOff x="0" y="0"/>
            <a:chExt cx="3877475" cy="3200400"/>
          </a:xfrm>
        </p:grpSpPr>
        <p:sp>
          <p:nvSpPr>
            <p:cNvPr id="21" name="Freeform 21"/>
            <p:cNvSpPr/>
            <p:nvPr/>
          </p:nvSpPr>
          <p:spPr>
            <a:xfrm>
              <a:off x="25400" y="25400"/>
              <a:ext cx="3826764" cy="3149600"/>
            </a:xfrm>
            <a:custGeom>
              <a:avLst/>
              <a:gdLst/>
              <a:ahLst/>
              <a:cxnLst/>
              <a:rect l="l" t="t" r="r" b="b"/>
              <a:pathLst>
                <a:path w="3826764" h="3149600">
                  <a:moveTo>
                    <a:pt x="0" y="203200"/>
                  </a:moveTo>
                  <a:cubicBezTo>
                    <a:pt x="0" y="90932"/>
                    <a:pt x="91186" y="0"/>
                    <a:pt x="203835" y="0"/>
                  </a:cubicBezTo>
                  <a:lnTo>
                    <a:pt x="3622929" y="0"/>
                  </a:lnTo>
                  <a:cubicBezTo>
                    <a:pt x="3735451" y="0"/>
                    <a:pt x="3826764" y="90932"/>
                    <a:pt x="3826764" y="203200"/>
                  </a:cubicBezTo>
                  <a:lnTo>
                    <a:pt x="3826764" y="2946400"/>
                  </a:lnTo>
                  <a:cubicBezTo>
                    <a:pt x="3826764" y="3058668"/>
                    <a:pt x="3735578" y="3149600"/>
                    <a:pt x="3622929" y="3149600"/>
                  </a:cubicBezTo>
                  <a:lnTo>
                    <a:pt x="203835" y="3149600"/>
                  </a:lnTo>
                  <a:cubicBezTo>
                    <a:pt x="91186" y="3149600"/>
                    <a:pt x="0" y="3058668"/>
                    <a:pt x="0" y="2946400"/>
                  </a:cubicBezTo>
                  <a:close/>
                </a:path>
              </a:pathLst>
            </a:custGeom>
            <a:solidFill>
              <a:srgbClr val="122236"/>
            </a:solidFill>
          </p:spPr>
          <p:txBody>
            <a:bodyPr/>
            <a:lstStyle/>
            <a:p>
              <a:endParaRPr lang="en-US"/>
            </a:p>
          </p:txBody>
        </p:sp>
        <p:sp>
          <p:nvSpPr>
            <p:cNvPr id="22" name="Freeform 22"/>
            <p:cNvSpPr/>
            <p:nvPr/>
          </p:nvSpPr>
          <p:spPr>
            <a:xfrm>
              <a:off x="0" y="0"/>
              <a:ext cx="3877564" cy="3200400"/>
            </a:xfrm>
            <a:custGeom>
              <a:avLst/>
              <a:gdLst/>
              <a:ahLst/>
              <a:cxnLst/>
              <a:rect l="l" t="t" r="r" b="b"/>
              <a:pathLst>
                <a:path w="3877564" h="3200400">
                  <a:moveTo>
                    <a:pt x="0" y="228600"/>
                  </a:moveTo>
                  <a:cubicBezTo>
                    <a:pt x="0" y="102235"/>
                    <a:pt x="102616" y="0"/>
                    <a:pt x="229235" y="0"/>
                  </a:cubicBezTo>
                  <a:lnTo>
                    <a:pt x="3648329" y="0"/>
                  </a:lnTo>
                  <a:lnTo>
                    <a:pt x="3648329" y="25400"/>
                  </a:lnTo>
                  <a:lnTo>
                    <a:pt x="3648329" y="0"/>
                  </a:lnTo>
                  <a:cubicBezTo>
                    <a:pt x="3774821" y="0"/>
                    <a:pt x="3877564" y="102235"/>
                    <a:pt x="3877564" y="228600"/>
                  </a:cubicBezTo>
                  <a:lnTo>
                    <a:pt x="3852164" y="228600"/>
                  </a:lnTo>
                  <a:lnTo>
                    <a:pt x="3877564" y="228600"/>
                  </a:lnTo>
                  <a:lnTo>
                    <a:pt x="3877564" y="2971800"/>
                  </a:lnTo>
                  <a:lnTo>
                    <a:pt x="3852164" y="2971800"/>
                  </a:lnTo>
                  <a:lnTo>
                    <a:pt x="3877564" y="2971800"/>
                  </a:lnTo>
                  <a:cubicBezTo>
                    <a:pt x="3877564" y="3098165"/>
                    <a:pt x="3774948" y="3200400"/>
                    <a:pt x="3648329" y="3200400"/>
                  </a:cubicBezTo>
                  <a:lnTo>
                    <a:pt x="3648329" y="3175000"/>
                  </a:lnTo>
                  <a:lnTo>
                    <a:pt x="3648329" y="3200400"/>
                  </a:lnTo>
                  <a:lnTo>
                    <a:pt x="229235" y="3200400"/>
                  </a:lnTo>
                  <a:lnTo>
                    <a:pt x="229235" y="3175000"/>
                  </a:lnTo>
                  <a:lnTo>
                    <a:pt x="229235" y="3200400"/>
                  </a:lnTo>
                  <a:cubicBezTo>
                    <a:pt x="102616" y="3200400"/>
                    <a:pt x="0" y="3098165"/>
                    <a:pt x="0" y="2971800"/>
                  </a:cubicBezTo>
                  <a:lnTo>
                    <a:pt x="0" y="228600"/>
                  </a:lnTo>
                  <a:lnTo>
                    <a:pt x="25400" y="228600"/>
                  </a:lnTo>
                  <a:lnTo>
                    <a:pt x="0" y="228600"/>
                  </a:lnTo>
                  <a:moveTo>
                    <a:pt x="50800" y="228600"/>
                  </a:moveTo>
                  <a:lnTo>
                    <a:pt x="50800" y="2971800"/>
                  </a:lnTo>
                  <a:lnTo>
                    <a:pt x="25400" y="2971800"/>
                  </a:lnTo>
                  <a:lnTo>
                    <a:pt x="50800" y="2971800"/>
                  </a:lnTo>
                  <a:cubicBezTo>
                    <a:pt x="50800" y="3069971"/>
                    <a:pt x="130556" y="3149600"/>
                    <a:pt x="229235" y="3149600"/>
                  </a:cubicBezTo>
                  <a:lnTo>
                    <a:pt x="3648329" y="3149600"/>
                  </a:lnTo>
                  <a:cubicBezTo>
                    <a:pt x="3746881" y="3149600"/>
                    <a:pt x="3826764" y="3069971"/>
                    <a:pt x="3826764" y="2971800"/>
                  </a:cubicBezTo>
                  <a:lnTo>
                    <a:pt x="3826764" y="228600"/>
                  </a:lnTo>
                  <a:cubicBezTo>
                    <a:pt x="3826764" y="130429"/>
                    <a:pt x="3747008" y="50800"/>
                    <a:pt x="3648329" y="50800"/>
                  </a:cubicBezTo>
                  <a:lnTo>
                    <a:pt x="229235" y="50800"/>
                  </a:lnTo>
                  <a:lnTo>
                    <a:pt x="229235" y="25400"/>
                  </a:lnTo>
                  <a:lnTo>
                    <a:pt x="229235" y="50800"/>
                  </a:lnTo>
                  <a:cubicBezTo>
                    <a:pt x="130556" y="50800"/>
                    <a:pt x="50800" y="130429"/>
                    <a:pt x="50800" y="228600"/>
                  </a:cubicBezTo>
                  <a:close/>
                </a:path>
              </a:pathLst>
            </a:custGeom>
            <a:solidFill>
              <a:srgbClr val="22D3EE"/>
            </a:solidFill>
          </p:spPr>
          <p:txBody>
            <a:bodyPr/>
            <a:lstStyle/>
            <a:p>
              <a:endParaRPr lang="en-US"/>
            </a:p>
          </p:txBody>
        </p:sp>
      </p:grpSp>
      <p:sp>
        <p:nvSpPr>
          <p:cNvPr id="23" name="TextBox 23"/>
          <p:cNvSpPr txBox="1"/>
          <p:nvPr/>
        </p:nvSpPr>
        <p:spPr>
          <a:xfrm>
            <a:off x="9369962" y="4628855"/>
            <a:ext cx="2849680" cy="323850"/>
          </a:xfrm>
          <a:prstGeom prst="rect">
            <a:avLst/>
          </a:prstGeom>
        </p:spPr>
        <p:txBody>
          <a:bodyPr lIns="0" tIns="0" rIns="0" bIns="0" rtlCol="0" anchor="t">
            <a:spAutoFit/>
          </a:bodyPr>
          <a:lstStyle/>
          <a:p>
            <a:pPr algn="ctr">
              <a:lnSpc>
                <a:spcPts val="2640"/>
              </a:lnSpc>
            </a:pPr>
            <a:r>
              <a:rPr lang="en-US" sz="2200" b="1">
                <a:solidFill>
                  <a:srgbClr val="F1F5F9"/>
                </a:solidFill>
                <a:latin typeface="Arial Bold"/>
                <a:ea typeface="Arial Bold"/>
                <a:cs typeface="Arial Bold"/>
                <a:sym typeface="Arial Bold"/>
              </a:rPr>
              <a:t>Partition Pts</a:t>
            </a:r>
          </a:p>
        </p:txBody>
      </p:sp>
      <p:sp>
        <p:nvSpPr>
          <p:cNvPr id="24" name="TextBox 24"/>
          <p:cNvSpPr txBox="1"/>
          <p:nvPr/>
        </p:nvSpPr>
        <p:spPr>
          <a:xfrm>
            <a:off x="9525410" y="5016103"/>
            <a:ext cx="2538784" cy="335156"/>
          </a:xfrm>
          <a:prstGeom prst="rect">
            <a:avLst/>
          </a:prstGeom>
        </p:spPr>
        <p:txBody>
          <a:bodyPr lIns="0" tIns="0" rIns="0" bIns="0" rtlCol="0" anchor="t">
            <a:spAutoFit/>
          </a:bodyPr>
          <a:lstStyle/>
          <a:p>
            <a:pPr algn="ctr">
              <a:lnSpc>
                <a:spcPts val="2340"/>
              </a:lnSpc>
            </a:pPr>
            <a:r>
              <a:rPr lang="en-US" sz="1800">
                <a:solidFill>
                  <a:srgbClr val="94A3B8"/>
                </a:solidFill>
                <a:latin typeface="Arial"/>
                <a:ea typeface="Arial"/>
                <a:cs typeface="Arial"/>
                <a:sym typeface="Arial"/>
              </a:rPr>
              <a:t>Spatially split N points</a:t>
            </a:r>
          </a:p>
        </p:txBody>
      </p:sp>
      <p:sp>
        <p:nvSpPr>
          <p:cNvPr id="25" name="TextBox 25"/>
          <p:cNvSpPr txBox="1"/>
          <p:nvPr/>
        </p:nvSpPr>
        <p:spPr>
          <a:xfrm>
            <a:off x="9525410" y="5424192"/>
            <a:ext cx="2538784" cy="292598"/>
          </a:xfrm>
          <a:prstGeom prst="rect">
            <a:avLst/>
          </a:prstGeom>
        </p:spPr>
        <p:txBody>
          <a:bodyPr lIns="0" tIns="0" rIns="0" bIns="0" rtlCol="0" anchor="t">
            <a:spAutoFit/>
          </a:bodyPr>
          <a:lstStyle/>
          <a:p>
            <a:pPr algn="ctr">
              <a:lnSpc>
                <a:spcPts val="2080"/>
              </a:lnSpc>
            </a:pPr>
            <a:r>
              <a:rPr lang="en-US" sz="1600">
                <a:solidFill>
                  <a:srgbClr val="22D3EE"/>
                </a:solidFill>
                <a:latin typeface="Arial"/>
                <a:ea typeface="Arial"/>
                <a:cs typeface="Arial"/>
                <a:sym typeface="Arial"/>
              </a:rPr>
              <a:t>M3 ONLY</a:t>
            </a:r>
          </a:p>
        </p:txBody>
      </p:sp>
      <p:grpSp>
        <p:nvGrpSpPr>
          <p:cNvPr id="26" name="Group 26"/>
          <p:cNvGrpSpPr/>
          <p:nvPr/>
        </p:nvGrpSpPr>
        <p:grpSpPr>
          <a:xfrm>
            <a:off x="13315950" y="4425848"/>
            <a:ext cx="2908106" cy="2400300"/>
            <a:chOff x="0" y="0"/>
            <a:chExt cx="3877475" cy="3200400"/>
          </a:xfrm>
        </p:grpSpPr>
        <p:sp>
          <p:nvSpPr>
            <p:cNvPr id="27" name="Freeform 27"/>
            <p:cNvSpPr/>
            <p:nvPr/>
          </p:nvSpPr>
          <p:spPr>
            <a:xfrm>
              <a:off x="25400" y="25400"/>
              <a:ext cx="3826764" cy="3149600"/>
            </a:xfrm>
            <a:custGeom>
              <a:avLst/>
              <a:gdLst/>
              <a:ahLst/>
              <a:cxnLst/>
              <a:rect l="l" t="t" r="r" b="b"/>
              <a:pathLst>
                <a:path w="3826764" h="3149600">
                  <a:moveTo>
                    <a:pt x="0" y="203200"/>
                  </a:moveTo>
                  <a:cubicBezTo>
                    <a:pt x="0" y="90932"/>
                    <a:pt x="91186" y="0"/>
                    <a:pt x="203835" y="0"/>
                  </a:cubicBezTo>
                  <a:lnTo>
                    <a:pt x="3622929" y="0"/>
                  </a:lnTo>
                  <a:cubicBezTo>
                    <a:pt x="3735451" y="0"/>
                    <a:pt x="3826764" y="90932"/>
                    <a:pt x="3826764" y="203200"/>
                  </a:cubicBezTo>
                  <a:lnTo>
                    <a:pt x="3826764" y="2946400"/>
                  </a:lnTo>
                  <a:cubicBezTo>
                    <a:pt x="3826764" y="3058668"/>
                    <a:pt x="3735578" y="3149600"/>
                    <a:pt x="3622929" y="3149600"/>
                  </a:cubicBezTo>
                  <a:lnTo>
                    <a:pt x="203835" y="3149600"/>
                  </a:lnTo>
                  <a:cubicBezTo>
                    <a:pt x="91186" y="3149600"/>
                    <a:pt x="0" y="3058668"/>
                    <a:pt x="0" y="2946400"/>
                  </a:cubicBezTo>
                  <a:close/>
                </a:path>
              </a:pathLst>
            </a:custGeom>
            <a:solidFill>
              <a:srgbClr val="122236"/>
            </a:solidFill>
          </p:spPr>
          <p:txBody>
            <a:bodyPr/>
            <a:lstStyle/>
            <a:p>
              <a:endParaRPr lang="en-US"/>
            </a:p>
          </p:txBody>
        </p:sp>
        <p:sp>
          <p:nvSpPr>
            <p:cNvPr id="28" name="Freeform 28"/>
            <p:cNvSpPr/>
            <p:nvPr/>
          </p:nvSpPr>
          <p:spPr>
            <a:xfrm>
              <a:off x="0" y="0"/>
              <a:ext cx="3877564" cy="3200400"/>
            </a:xfrm>
            <a:custGeom>
              <a:avLst/>
              <a:gdLst/>
              <a:ahLst/>
              <a:cxnLst/>
              <a:rect l="l" t="t" r="r" b="b"/>
              <a:pathLst>
                <a:path w="3877564" h="3200400">
                  <a:moveTo>
                    <a:pt x="0" y="228600"/>
                  </a:moveTo>
                  <a:cubicBezTo>
                    <a:pt x="0" y="102235"/>
                    <a:pt x="102616" y="0"/>
                    <a:pt x="229235" y="0"/>
                  </a:cubicBezTo>
                  <a:lnTo>
                    <a:pt x="3648329" y="0"/>
                  </a:lnTo>
                  <a:lnTo>
                    <a:pt x="3648329" y="25400"/>
                  </a:lnTo>
                  <a:lnTo>
                    <a:pt x="3648329" y="0"/>
                  </a:lnTo>
                  <a:cubicBezTo>
                    <a:pt x="3774821" y="0"/>
                    <a:pt x="3877564" y="102235"/>
                    <a:pt x="3877564" y="228600"/>
                  </a:cubicBezTo>
                  <a:lnTo>
                    <a:pt x="3852164" y="228600"/>
                  </a:lnTo>
                  <a:lnTo>
                    <a:pt x="3877564" y="228600"/>
                  </a:lnTo>
                  <a:lnTo>
                    <a:pt x="3877564" y="2971800"/>
                  </a:lnTo>
                  <a:lnTo>
                    <a:pt x="3852164" y="2971800"/>
                  </a:lnTo>
                  <a:lnTo>
                    <a:pt x="3877564" y="2971800"/>
                  </a:lnTo>
                  <a:cubicBezTo>
                    <a:pt x="3877564" y="3098165"/>
                    <a:pt x="3774948" y="3200400"/>
                    <a:pt x="3648329" y="3200400"/>
                  </a:cubicBezTo>
                  <a:lnTo>
                    <a:pt x="3648329" y="3175000"/>
                  </a:lnTo>
                  <a:lnTo>
                    <a:pt x="3648329" y="3200400"/>
                  </a:lnTo>
                  <a:lnTo>
                    <a:pt x="229235" y="3200400"/>
                  </a:lnTo>
                  <a:lnTo>
                    <a:pt x="229235" y="3175000"/>
                  </a:lnTo>
                  <a:lnTo>
                    <a:pt x="229235" y="3200400"/>
                  </a:lnTo>
                  <a:cubicBezTo>
                    <a:pt x="102616" y="3200400"/>
                    <a:pt x="0" y="3098165"/>
                    <a:pt x="0" y="2971800"/>
                  </a:cubicBezTo>
                  <a:lnTo>
                    <a:pt x="0" y="228600"/>
                  </a:lnTo>
                  <a:lnTo>
                    <a:pt x="25400" y="228600"/>
                  </a:lnTo>
                  <a:lnTo>
                    <a:pt x="0" y="228600"/>
                  </a:lnTo>
                  <a:moveTo>
                    <a:pt x="50800" y="228600"/>
                  </a:moveTo>
                  <a:lnTo>
                    <a:pt x="50800" y="2971800"/>
                  </a:lnTo>
                  <a:lnTo>
                    <a:pt x="25400" y="2971800"/>
                  </a:lnTo>
                  <a:lnTo>
                    <a:pt x="50800" y="2971800"/>
                  </a:lnTo>
                  <a:cubicBezTo>
                    <a:pt x="50800" y="3069971"/>
                    <a:pt x="130556" y="3149600"/>
                    <a:pt x="229235" y="3149600"/>
                  </a:cubicBezTo>
                  <a:lnTo>
                    <a:pt x="3648329" y="3149600"/>
                  </a:lnTo>
                  <a:cubicBezTo>
                    <a:pt x="3746881" y="3149600"/>
                    <a:pt x="3826764" y="3069971"/>
                    <a:pt x="3826764" y="2971800"/>
                  </a:cubicBezTo>
                  <a:lnTo>
                    <a:pt x="3826764" y="228600"/>
                  </a:lnTo>
                  <a:cubicBezTo>
                    <a:pt x="3826764" y="130429"/>
                    <a:pt x="3747008" y="50800"/>
                    <a:pt x="3648329" y="50800"/>
                  </a:cubicBezTo>
                  <a:lnTo>
                    <a:pt x="229235" y="50800"/>
                  </a:lnTo>
                  <a:lnTo>
                    <a:pt x="229235" y="25400"/>
                  </a:lnTo>
                  <a:lnTo>
                    <a:pt x="229235" y="50800"/>
                  </a:lnTo>
                  <a:cubicBezTo>
                    <a:pt x="130556" y="50800"/>
                    <a:pt x="50800" y="130429"/>
                    <a:pt x="50800" y="228600"/>
                  </a:cubicBezTo>
                  <a:close/>
                </a:path>
              </a:pathLst>
            </a:custGeom>
            <a:solidFill>
              <a:srgbClr val="1E3A5F"/>
            </a:solidFill>
          </p:spPr>
          <p:txBody>
            <a:bodyPr/>
            <a:lstStyle/>
            <a:p>
              <a:endParaRPr lang="en-US"/>
            </a:p>
          </p:txBody>
        </p:sp>
      </p:grpSp>
      <p:sp>
        <p:nvSpPr>
          <p:cNvPr id="29" name="TextBox 29"/>
          <p:cNvSpPr txBox="1"/>
          <p:nvPr/>
        </p:nvSpPr>
        <p:spPr>
          <a:xfrm>
            <a:off x="13307063" y="4628855"/>
            <a:ext cx="2849680" cy="323850"/>
          </a:xfrm>
          <a:prstGeom prst="rect">
            <a:avLst/>
          </a:prstGeom>
        </p:spPr>
        <p:txBody>
          <a:bodyPr lIns="0" tIns="0" rIns="0" bIns="0" rtlCol="0" anchor="t">
            <a:spAutoFit/>
          </a:bodyPr>
          <a:lstStyle/>
          <a:p>
            <a:pPr algn="ctr">
              <a:lnSpc>
                <a:spcPts val="2640"/>
              </a:lnSpc>
            </a:pPr>
            <a:r>
              <a:rPr lang="en-US" sz="2200" b="1">
                <a:solidFill>
                  <a:srgbClr val="F1F5F9"/>
                </a:solidFill>
                <a:latin typeface="Arial Bold"/>
                <a:ea typeface="Arial Bold"/>
                <a:cs typeface="Arial Bold"/>
                <a:sym typeface="Arial Bold"/>
              </a:rPr>
              <a:t>Classify</a:t>
            </a:r>
          </a:p>
        </p:txBody>
      </p:sp>
      <p:sp>
        <p:nvSpPr>
          <p:cNvPr id="30" name="TextBox 30"/>
          <p:cNvSpPr txBox="1"/>
          <p:nvPr/>
        </p:nvSpPr>
        <p:spPr>
          <a:xfrm>
            <a:off x="13462511" y="5016103"/>
            <a:ext cx="2538784" cy="335156"/>
          </a:xfrm>
          <a:prstGeom prst="rect">
            <a:avLst/>
          </a:prstGeom>
        </p:spPr>
        <p:txBody>
          <a:bodyPr lIns="0" tIns="0" rIns="0" bIns="0" rtlCol="0" anchor="t">
            <a:spAutoFit/>
          </a:bodyPr>
          <a:lstStyle/>
          <a:p>
            <a:pPr algn="ctr">
              <a:lnSpc>
                <a:spcPts val="2340"/>
              </a:lnSpc>
            </a:pPr>
            <a:r>
              <a:rPr lang="en-US" sz="1800">
                <a:solidFill>
                  <a:srgbClr val="94A3B8"/>
                </a:solidFill>
                <a:latin typeface="Arial"/>
                <a:ea typeface="Arial"/>
                <a:cs typeface="Arial"/>
                <a:sym typeface="Arial"/>
              </a:rPr>
              <a:t>Index lookup + ray cast</a:t>
            </a:r>
          </a:p>
        </p:txBody>
      </p:sp>
      <p:grpSp>
        <p:nvGrpSpPr>
          <p:cNvPr id="31" name="Group 31"/>
          <p:cNvGrpSpPr/>
          <p:nvPr/>
        </p:nvGrpSpPr>
        <p:grpSpPr>
          <a:xfrm>
            <a:off x="5441756" y="7346756"/>
            <a:ext cx="2908106" cy="2400300"/>
            <a:chOff x="0" y="0"/>
            <a:chExt cx="3877475" cy="3200400"/>
          </a:xfrm>
        </p:grpSpPr>
        <p:sp>
          <p:nvSpPr>
            <p:cNvPr id="32" name="Freeform 32"/>
            <p:cNvSpPr/>
            <p:nvPr/>
          </p:nvSpPr>
          <p:spPr>
            <a:xfrm>
              <a:off x="25400" y="25400"/>
              <a:ext cx="3826764" cy="3149600"/>
            </a:xfrm>
            <a:custGeom>
              <a:avLst/>
              <a:gdLst/>
              <a:ahLst/>
              <a:cxnLst/>
              <a:rect l="l" t="t" r="r" b="b"/>
              <a:pathLst>
                <a:path w="3826764" h="3149600">
                  <a:moveTo>
                    <a:pt x="0" y="203200"/>
                  </a:moveTo>
                  <a:cubicBezTo>
                    <a:pt x="0" y="90932"/>
                    <a:pt x="91186" y="0"/>
                    <a:pt x="203835" y="0"/>
                  </a:cubicBezTo>
                  <a:lnTo>
                    <a:pt x="3622929" y="0"/>
                  </a:lnTo>
                  <a:cubicBezTo>
                    <a:pt x="3735451" y="0"/>
                    <a:pt x="3826764" y="90932"/>
                    <a:pt x="3826764" y="203200"/>
                  </a:cubicBezTo>
                  <a:lnTo>
                    <a:pt x="3826764" y="2946400"/>
                  </a:lnTo>
                  <a:cubicBezTo>
                    <a:pt x="3826764" y="3058668"/>
                    <a:pt x="3735578" y="3149600"/>
                    <a:pt x="3622929" y="3149600"/>
                  </a:cubicBezTo>
                  <a:lnTo>
                    <a:pt x="203835" y="3149600"/>
                  </a:lnTo>
                  <a:cubicBezTo>
                    <a:pt x="91186" y="3149600"/>
                    <a:pt x="0" y="3058668"/>
                    <a:pt x="0" y="2946400"/>
                  </a:cubicBezTo>
                  <a:close/>
                </a:path>
              </a:pathLst>
            </a:custGeom>
            <a:solidFill>
              <a:srgbClr val="122236"/>
            </a:solidFill>
          </p:spPr>
          <p:txBody>
            <a:bodyPr/>
            <a:lstStyle/>
            <a:p>
              <a:endParaRPr lang="en-US"/>
            </a:p>
          </p:txBody>
        </p:sp>
        <p:sp>
          <p:nvSpPr>
            <p:cNvPr id="33" name="Freeform 33"/>
            <p:cNvSpPr/>
            <p:nvPr/>
          </p:nvSpPr>
          <p:spPr>
            <a:xfrm>
              <a:off x="0" y="0"/>
              <a:ext cx="3877564" cy="3200400"/>
            </a:xfrm>
            <a:custGeom>
              <a:avLst/>
              <a:gdLst/>
              <a:ahLst/>
              <a:cxnLst/>
              <a:rect l="l" t="t" r="r" b="b"/>
              <a:pathLst>
                <a:path w="3877564" h="3200400">
                  <a:moveTo>
                    <a:pt x="0" y="228600"/>
                  </a:moveTo>
                  <a:cubicBezTo>
                    <a:pt x="0" y="102235"/>
                    <a:pt x="102616" y="0"/>
                    <a:pt x="229235" y="0"/>
                  </a:cubicBezTo>
                  <a:lnTo>
                    <a:pt x="3648329" y="0"/>
                  </a:lnTo>
                  <a:lnTo>
                    <a:pt x="3648329" y="25400"/>
                  </a:lnTo>
                  <a:lnTo>
                    <a:pt x="3648329" y="0"/>
                  </a:lnTo>
                  <a:cubicBezTo>
                    <a:pt x="3774821" y="0"/>
                    <a:pt x="3877564" y="102235"/>
                    <a:pt x="3877564" y="228600"/>
                  </a:cubicBezTo>
                  <a:lnTo>
                    <a:pt x="3852164" y="228600"/>
                  </a:lnTo>
                  <a:lnTo>
                    <a:pt x="3877564" y="228600"/>
                  </a:lnTo>
                  <a:lnTo>
                    <a:pt x="3877564" y="2971800"/>
                  </a:lnTo>
                  <a:lnTo>
                    <a:pt x="3852164" y="2971800"/>
                  </a:lnTo>
                  <a:lnTo>
                    <a:pt x="3877564" y="2971800"/>
                  </a:lnTo>
                  <a:cubicBezTo>
                    <a:pt x="3877564" y="3098165"/>
                    <a:pt x="3774948" y="3200400"/>
                    <a:pt x="3648329" y="3200400"/>
                  </a:cubicBezTo>
                  <a:lnTo>
                    <a:pt x="3648329" y="3175000"/>
                  </a:lnTo>
                  <a:lnTo>
                    <a:pt x="3648329" y="3200400"/>
                  </a:lnTo>
                  <a:lnTo>
                    <a:pt x="229235" y="3200400"/>
                  </a:lnTo>
                  <a:lnTo>
                    <a:pt x="229235" y="3175000"/>
                  </a:lnTo>
                  <a:lnTo>
                    <a:pt x="229235" y="3200400"/>
                  </a:lnTo>
                  <a:cubicBezTo>
                    <a:pt x="102616" y="3200400"/>
                    <a:pt x="0" y="3098165"/>
                    <a:pt x="0" y="2971800"/>
                  </a:cubicBezTo>
                  <a:lnTo>
                    <a:pt x="0" y="228600"/>
                  </a:lnTo>
                  <a:lnTo>
                    <a:pt x="25400" y="228600"/>
                  </a:lnTo>
                  <a:lnTo>
                    <a:pt x="0" y="228600"/>
                  </a:lnTo>
                  <a:moveTo>
                    <a:pt x="50800" y="228600"/>
                  </a:moveTo>
                  <a:lnTo>
                    <a:pt x="50800" y="2971800"/>
                  </a:lnTo>
                  <a:lnTo>
                    <a:pt x="25400" y="2971800"/>
                  </a:lnTo>
                  <a:lnTo>
                    <a:pt x="50800" y="2971800"/>
                  </a:lnTo>
                  <a:cubicBezTo>
                    <a:pt x="50800" y="3069971"/>
                    <a:pt x="130556" y="3149600"/>
                    <a:pt x="229235" y="3149600"/>
                  </a:cubicBezTo>
                  <a:lnTo>
                    <a:pt x="3648329" y="3149600"/>
                  </a:lnTo>
                  <a:cubicBezTo>
                    <a:pt x="3746881" y="3149600"/>
                    <a:pt x="3826764" y="3069971"/>
                    <a:pt x="3826764" y="2971800"/>
                  </a:cubicBezTo>
                  <a:lnTo>
                    <a:pt x="3826764" y="228600"/>
                  </a:lnTo>
                  <a:cubicBezTo>
                    <a:pt x="3826764" y="130429"/>
                    <a:pt x="3747008" y="50800"/>
                    <a:pt x="3648329" y="50800"/>
                  </a:cubicBezTo>
                  <a:lnTo>
                    <a:pt x="229235" y="50800"/>
                  </a:lnTo>
                  <a:lnTo>
                    <a:pt x="229235" y="25400"/>
                  </a:lnTo>
                  <a:lnTo>
                    <a:pt x="229235" y="50800"/>
                  </a:lnTo>
                  <a:cubicBezTo>
                    <a:pt x="130556" y="50800"/>
                    <a:pt x="50800" y="130429"/>
                    <a:pt x="50800" y="228600"/>
                  </a:cubicBezTo>
                  <a:close/>
                </a:path>
              </a:pathLst>
            </a:custGeom>
            <a:solidFill>
              <a:srgbClr val="1E3A5F"/>
            </a:solidFill>
          </p:spPr>
          <p:txBody>
            <a:bodyPr/>
            <a:lstStyle/>
            <a:p>
              <a:endParaRPr lang="en-US"/>
            </a:p>
          </p:txBody>
        </p:sp>
      </p:grpSp>
      <p:sp>
        <p:nvSpPr>
          <p:cNvPr id="34" name="TextBox 34"/>
          <p:cNvSpPr txBox="1"/>
          <p:nvPr/>
        </p:nvSpPr>
        <p:spPr>
          <a:xfrm>
            <a:off x="5432860" y="7549753"/>
            <a:ext cx="2849680" cy="323850"/>
          </a:xfrm>
          <a:prstGeom prst="rect">
            <a:avLst/>
          </a:prstGeom>
        </p:spPr>
        <p:txBody>
          <a:bodyPr lIns="0" tIns="0" rIns="0" bIns="0" rtlCol="0" anchor="t">
            <a:spAutoFit/>
          </a:bodyPr>
          <a:lstStyle/>
          <a:p>
            <a:pPr algn="ctr">
              <a:lnSpc>
                <a:spcPts val="2640"/>
              </a:lnSpc>
            </a:pPr>
            <a:r>
              <a:rPr lang="en-US" sz="2200" b="1">
                <a:solidFill>
                  <a:srgbClr val="F1F5F9"/>
                </a:solidFill>
                <a:latin typeface="Arial Bold"/>
                <a:ea typeface="Arial Bold"/>
                <a:cs typeface="Arial Bold"/>
                <a:sym typeface="Arial Bold"/>
              </a:rPr>
              <a:t>Aggregate</a:t>
            </a:r>
          </a:p>
        </p:txBody>
      </p:sp>
      <p:sp>
        <p:nvSpPr>
          <p:cNvPr id="35" name="TextBox 35"/>
          <p:cNvSpPr txBox="1"/>
          <p:nvPr/>
        </p:nvSpPr>
        <p:spPr>
          <a:xfrm>
            <a:off x="5588308" y="7937002"/>
            <a:ext cx="2538784" cy="335156"/>
          </a:xfrm>
          <a:prstGeom prst="rect">
            <a:avLst/>
          </a:prstGeom>
        </p:spPr>
        <p:txBody>
          <a:bodyPr lIns="0" tIns="0" rIns="0" bIns="0" rtlCol="0" anchor="t">
            <a:spAutoFit/>
          </a:bodyPr>
          <a:lstStyle/>
          <a:p>
            <a:pPr algn="ctr">
              <a:lnSpc>
                <a:spcPts val="2340"/>
              </a:lnSpc>
            </a:pPr>
            <a:r>
              <a:rPr lang="en-US" sz="1800">
                <a:solidFill>
                  <a:srgbClr val="94A3B8"/>
                </a:solidFill>
                <a:latin typeface="Arial"/>
                <a:ea typeface="Arial"/>
                <a:cs typeface="Arial"/>
                <a:sym typeface="Arial"/>
              </a:rPr>
              <a:t>Counts &amp; checksums</a:t>
            </a:r>
          </a:p>
        </p:txBody>
      </p:sp>
      <p:grpSp>
        <p:nvGrpSpPr>
          <p:cNvPr id="36" name="Group 36"/>
          <p:cNvGrpSpPr/>
          <p:nvPr/>
        </p:nvGrpSpPr>
        <p:grpSpPr>
          <a:xfrm>
            <a:off x="9378848" y="7346756"/>
            <a:ext cx="2908106" cy="2400300"/>
            <a:chOff x="0" y="0"/>
            <a:chExt cx="3877475" cy="3200400"/>
          </a:xfrm>
        </p:grpSpPr>
        <p:sp>
          <p:nvSpPr>
            <p:cNvPr id="37" name="Freeform 37"/>
            <p:cNvSpPr/>
            <p:nvPr/>
          </p:nvSpPr>
          <p:spPr>
            <a:xfrm>
              <a:off x="25400" y="25400"/>
              <a:ext cx="3826764" cy="3149600"/>
            </a:xfrm>
            <a:custGeom>
              <a:avLst/>
              <a:gdLst/>
              <a:ahLst/>
              <a:cxnLst/>
              <a:rect l="l" t="t" r="r" b="b"/>
              <a:pathLst>
                <a:path w="3826764" h="3149600">
                  <a:moveTo>
                    <a:pt x="0" y="203200"/>
                  </a:moveTo>
                  <a:cubicBezTo>
                    <a:pt x="0" y="90932"/>
                    <a:pt x="91186" y="0"/>
                    <a:pt x="203835" y="0"/>
                  </a:cubicBezTo>
                  <a:lnTo>
                    <a:pt x="3622929" y="0"/>
                  </a:lnTo>
                  <a:cubicBezTo>
                    <a:pt x="3735451" y="0"/>
                    <a:pt x="3826764" y="90932"/>
                    <a:pt x="3826764" y="203200"/>
                  </a:cubicBezTo>
                  <a:lnTo>
                    <a:pt x="3826764" y="2946400"/>
                  </a:lnTo>
                  <a:cubicBezTo>
                    <a:pt x="3826764" y="3058668"/>
                    <a:pt x="3735578" y="3149600"/>
                    <a:pt x="3622929" y="3149600"/>
                  </a:cubicBezTo>
                  <a:lnTo>
                    <a:pt x="203835" y="3149600"/>
                  </a:lnTo>
                  <a:cubicBezTo>
                    <a:pt x="91186" y="3149600"/>
                    <a:pt x="0" y="3058668"/>
                    <a:pt x="0" y="2946400"/>
                  </a:cubicBezTo>
                  <a:close/>
                </a:path>
              </a:pathLst>
            </a:custGeom>
            <a:solidFill>
              <a:srgbClr val="122236"/>
            </a:solidFill>
          </p:spPr>
          <p:txBody>
            <a:bodyPr/>
            <a:lstStyle/>
            <a:p>
              <a:endParaRPr lang="en-US"/>
            </a:p>
          </p:txBody>
        </p:sp>
        <p:sp>
          <p:nvSpPr>
            <p:cNvPr id="38" name="Freeform 38"/>
            <p:cNvSpPr/>
            <p:nvPr/>
          </p:nvSpPr>
          <p:spPr>
            <a:xfrm>
              <a:off x="0" y="0"/>
              <a:ext cx="3877564" cy="3200400"/>
            </a:xfrm>
            <a:custGeom>
              <a:avLst/>
              <a:gdLst/>
              <a:ahLst/>
              <a:cxnLst/>
              <a:rect l="l" t="t" r="r" b="b"/>
              <a:pathLst>
                <a:path w="3877564" h="3200400">
                  <a:moveTo>
                    <a:pt x="0" y="228600"/>
                  </a:moveTo>
                  <a:cubicBezTo>
                    <a:pt x="0" y="102235"/>
                    <a:pt x="102616" y="0"/>
                    <a:pt x="229235" y="0"/>
                  </a:cubicBezTo>
                  <a:lnTo>
                    <a:pt x="3648329" y="0"/>
                  </a:lnTo>
                  <a:lnTo>
                    <a:pt x="3648329" y="25400"/>
                  </a:lnTo>
                  <a:lnTo>
                    <a:pt x="3648329" y="0"/>
                  </a:lnTo>
                  <a:cubicBezTo>
                    <a:pt x="3774821" y="0"/>
                    <a:pt x="3877564" y="102235"/>
                    <a:pt x="3877564" y="228600"/>
                  </a:cubicBezTo>
                  <a:lnTo>
                    <a:pt x="3852164" y="228600"/>
                  </a:lnTo>
                  <a:lnTo>
                    <a:pt x="3877564" y="228600"/>
                  </a:lnTo>
                  <a:lnTo>
                    <a:pt x="3877564" y="2971800"/>
                  </a:lnTo>
                  <a:lnTo>
                    <a:pt x="3852164" y="2971800"/>
                  </a:lnTo>
                  <a:lnTo>
                    <a:pt x="3877564" y="2971800"/>
                  </a:lnTo>
                  <a:cubicBezTo>
                    <a:pt x="3877564" y="3098165"/>
                    <a:pt x="3774948" y="3200400"/>
                    <a:pt x="3648329" y="3200400"/>
                  </a:cubicBezTo>
                  <a:lnTo>
                    <a:pt x="3648329" y="3175000"/>
                  </a:lnTo>
                  <a:lnTo>
                    <a:pt x="3648329" y="3200400"/>
                  </a:lnTo>
                  <a:lnTo>
                    <a:pt x="229235" y="3200400"/>
                  </a:lnTo>
                  <a:lnTo>
                    <a:pt x="229235" y="3175000"/>
                  </a:lnTo>
                  <a:lnTo>
                    <a:pt x="229235" y="3200400"/>
                  </a:lnTo>
                  <a:cubicBezTo>
                    <a:pt x="102616" y="3200400"/>
                    <a:pt x="0" y="3098165"/>
                    <a:pt x="0" y="2971800"/>
                  </a:cubicBezTo>
                  <a:lnTo>
                    <a:pt x="0" y="228600"/>
                  </a:lnTo>
                  <a:lnTo>
                    <a:pt x="25400" y="228600"/>
                  </a:lnTo>
                  <a:lnTo>
                    <a:pt x="0" y="228600"/>
                  </a:lnTo>
                  <a:moveTo>
                    <a:pt x="50800" y="228600"/>
                  </a:moveTo>
                  <a:lnTo>
                    <a:pt x="50800" y="2971800"/>
                  </a:lnTo>
                  <a:lnTo>
                    <a:pt x="25400" y="2971800"/>
                  </a:lnTo>
                  <a:lnTo>
                    <a:pt x="50800" y="2971800"/>
                  </a:lnTo>
                  <a:cubicBezTo>
                    <a:pt x="50800" y="3069971"/>
                    <a:pt x="130556" y="3149600"/>
                    <a:pt x="229235" y="3149600"/>
                  </a:cubicBezTo>
                  <a:lnTo>
                    <a:pt x="3648329" y="3149600"/>
                  </a:lnTo>
                  <a:cubicBezTo>
                    <a:pt x="3746881" y="3149600"/>
                    <a:pt x="3826764" y="3069971"/>
                    <a:pt x="3826764" y="2971800"/>
                  </a:cubicBezTo>
                  <a:lnTo>
                    <a:pt x="3826764" y="228600"/>
                  </a:lnTo>
                  <a:cubicBezTo>
                    <a:pt x="3826764" y="130429"/>
                    <a:pt x="3747008" y="50800"/>
                    <a:pt x="3648329" y="50800"/>
                  </a:cubicBezTo>
                  <a:lnTo>
                    <a:pt x="229235" y="50800"/>
                  </a:lnTo>
                  <a:lnTo>
                    <a:pt x="229235" y="25400"/>
                  </a:lnTo>
                  <a:lnTo>
                    <a:pt x="229235" y="50800"/>
                  </a:lnTo>
                  <a:cubicBezTo>
                    <a:pt x="130556" y="50800"/>
                    <a:pt x="50800" y="130429"/>
                    <a:pt x="50800" y="228600"/>
                  </a:cubicBezTo>
                  <a:close/>
                </a:path>
              </a:pathLst>
            </a:custGeom>
            <a:solidFill>
              <a:srgbClr val="22D3EE"/>
            </a:solidFill>
          </p:spPr>
          <p:txBody>
            <a:bodyPr/>
            <a:lstStyle/>
            <a:p>
              <a:endParaRPr lang="en-US"/>
            </a:p>
          </p:txBody>
        </p:sp>
      </p:grpSp>
      <p:sp>
        <p:nvSpPr>
          <p:cNvPr id="39" name="TextBox 39"/>
          <p:cNvSpPr txBox="1"/>
          <p:nvPr/>
        </p:nvSpPr>
        <p:spPr>
          <a:xfrm>
            <a:off x="9369962" y="7549753"/>
            <a:ext cx="2849680" cy="323850"/>
          </a:xfrm>
          <a:prstGeom prst="rect">
            <a:avLst/>
          </a:prstGeom>
        </p:spPr>
        <p:txBody>
          <a:bodyPr lIns="0" tIns="0" rIns="0" bIns="0" rtlCol="0" anchor="t">
            <a:spAutoFit/>
          </a:bodyPr>
          <a:lstStyle/>
          <a:p>
            <a:pPr algn="ctr">
              <a:lnSpc>
                <a:spcPts val="2640"/>
              </a:lnSpc>
            </a:pPr>
            <a:r>
              <a:rPr lang="en-US" sz="2200" b="1">
                <a:solidFill>
                  <a:srgbClr val="F1F5F9"/>
                </a:solidFill>
                <a:latin typeface="Arial Bold"/>
                <a:ea typeface="Arial Bold"/>
                <a:cs typeface="Arial Bold"/>
                <a:sym typeface="Arial Bold"/>
              </a:rPr>
              <a:t>Validate</a:t>
            </a:r>
          </a:p>
        </p:txBody>
      </p:sp>
      <p:sp>
        <p:nvSpPr>
          <p:cNvPr id="40" name="TextBox 40"/>
          <p:cNvSpPr txBox="1"/>
          <p:nvPr/>
        </p:nvSpPr>
        <p:spPr>
          <a:xfrm>
            <a:off x="9525410" y="7937002"/>
            <a:ext cx="2538784" cy="335156"/>
          </a:xfrm>
          <a:prstGeom prst="rect">
            <a:avLst/>
          </a:prstGeom>
        </p:spPr>
        <p:txBody>
          <a:bodyPr lIns="0" tIns="0" rIns="0" bIns="0" rtlCol="0" anchor="t">
            <a:spAutoFit/>
          </a:bodyPr>
          <a:lstStyle/>
          <a:p>
            <a:pPr algn="ctr">
              <a:lnSpc>
                <a:spcPts val="2340"/>
              </a:lnSpc>
            </a:pPr>
            <a:r>
              <a:rPr lang="en-US" sz="1800">
                <a:solidFill>
                  <a:srgbClr val="94A3B8"/>
                </a:solidFill>
                <a:latin typeface="Arial"/>
                <a:ea typeface="Arial"/>
                <a:cs typeface="Arial"/>
                <a:sym typeface="Arial"/>
              </a:rPr>
              <a:t>Match seq baseline</a:t>
            </a:r>
          </a:p>
        </p:txBody>
      </p:sp>
      <p:grpSp>
        <p:nvGrpSpPr>
          <p:cNvPr id="41" name="Group 41"/>
          <p:cNvGrpSpPr/>
          <p:nvPr/>
        </p:nvGrpSpPr>
        <p:grpSpPr>
          <a:xfrm>
            <a:off x="13315950" y="7346756"/>
            <a:ext cx="2908106" cy="2400300"/>
            <a:chOff x="0" y="0"/>
            <a:chExt cx="3877475" cy="3200400"/>
          </a:xfrm>
        </p:grpSpPr>
        <p:sp>
          <p:nvSpPr>
            <p:cNvPr id="42" name="Freeform 42"/>
            <p:cNvSpPr/>
            <p:nvPr/>
          </p:nvSpPr>
          <p:spPr>
            <a:xfrm>
              <a:off x="25400" y="25400"/>
              <a:ext cx="3826764" cy="3149600"/>
            </a:xfrm>
            <a:custGeom>
              <a:avLst/>
              <a:gdLst/>
              <a:ahLst/>
              <a:cxnLst/>
              <a:rect l="l" t="t" r="r" b="b"/>
              <a:pathLst>
                <a:path w="3826764" h="3149600">
                  <a:moveTo>
                    <a:pt x="0" y="203200"/>
                  </a:moveTo>
                  <a:cubicBezTo>
                    <a:pt x="0" y="90932"/>
                    <a:pt x="91186" y="0"/>
                    <a:pt x="203835" y="0"/>
                  </a:cubicBezTo>
                  <a:lnTo>
                    <a:pt x="3622929" y="0"/>
                  </a:lnTo>
                  <a:cubicBezTo>
                    <a:pt x="3735451" y="0"/>
                    <a:pt x="3826764" y="90932"/>
                    <a:pt x="3826764" y="203200"/>
                  </a:cubicBezTo>
                  <a:lnTo>
                    <a:pt x="3826764" y="2946400"/>
                  </a:lnTo>
                  <a:cubicBezTo>
                    <a:pt x="3826764" y="3058668"/>
                    <a:pt x="3735578" y="3149600"/>
                    <a:pt x="3622929" y="3149600"/>
                  </a:cubicBezTo>
                  <a:lnTo>
                    <a:pt x="203835" y="3149600"/>
                  </a:lnTo>
                  <a:cubicBezTo>
                    <a:pt x="91186" y="3149600"/>
                    <a:pt x="0" y="3058668"/>
                    <a:pt x="0" y="2946400"/>
                  </a:cubicBezTo>
                  <a:close/>
                </a:path>
              </a:pathLst>
            </a:custGeom>
            <a:solidFill>
              <a:srgbClr val="122236"/>
            </a:solidFill>
          </p:spPr>
          <p:txBody>
            <a:bodyPr/>
            <a:lstStyle/>
            <a:p>
              <a:endParaRPr lang="en-US"/>
            </a:p>
          </p:txBody>
        </p:sp>
        <p:sp>
          <p:nvSpPr>
            <p:cNvPr id="43" name="Freeform 43"/>
            <p:cNvSpPr/>
            <p:nvPr/>
          </p:nvSpPr>
          <p:spPr>
            <a:xfrm>
              <a:off x="0" y="0"/>
              <a:ext cx="3877564" cy="3200400"/>
            </a:xfrm>
            <a:custGeom>
              <a:avLst/>
              <a:gdLst/>
              <a:ahLst/>
              <a:cxnLst/>
              <a:rect l="l" t="t" r="r" b="b"/>
              <a:pathLst>
                <a:path w="3877564" h="3200400">
                  <a:moveTo>
                    <a:pt x="0" y="228600"/>
                  </a:moveTo>
                  <a:cubicBezTo>
                    <a:pt x="0" y="102235"/>
                    <a:pt x="102616" y="0"/>
                    <a:pt x="229235" y="0"/>
                  </a:cubicBezTo>
                  <a:lnTo>
                    <a:pt x="3648329" y="0"/>
                  </a:lnTo>
                  <a:lnTo>
                    <a:pt x="3648329" y="25400"/>
                  </a:lnTo>
                  <a:lnTo>
                    <a:pt x="3648329" y="0"/>
                  </a:lnTo>
                  <a:cubicBezTo>
                    <a:pt x="3774821" y="0"/>
                    <a:pt x="3877564" y="102235"/>
                    <a:pt x="3877564" y="228600"/>
                  </a:cubicBezTo>
                  <a:lnTo>
                    <a:pt x="3852164" y="228600"/>
                  </a:lnTo>
                  <a:lnTo>
                    <a:pt x="3877564" y="228600"/>
                  </a:lnTo>
                  <a:lnTo>
                    <a:pt x="3877564" y="2971800"/>
                  </a:lnTo>
                  <a:lnTo>
                    <a:pt x="3852164" y="2971800"/>
                  </a:lnTo>
                  <a:lnTo>
                    <a:pt x="3877564" y="2971800"/>
                  </a:lnTo>
                  <a:cubicBezTo>
                    <a:pt x="3877564" y="3098165"/>
                    <a:pt x="3774948" y="3200400"/>
                    <a:pt x="3648329" y="3200400"/>
                  </a:cubicBezTo>
                  <a:lnTo>
                    <a:pt x="3648329" y="3175000"/>
                  </a:lnTo>
                  <a:lnTo>
                    <a:pt x="3648329" y="3200400"/>
                  </a:lnTo>
                  <a:lnTo>
                    <a:pt x="229235" y="3200400"/>
                  </a:lnTo>
                  <a:lnTo>
                    <a:pt x="229235" y="3175000"/>
                  </a:lnTo>
                  <a:lnTo>
                    <a:pt x="229235" y="3200400"/>
                  </a:lnTo>
                  <a:cubicBezTo>
                    <a:pt x="102616" y="3200400"/>
                    <a:pt x="0" y="3098165"/>
                    <a:pt x="0" y="2971800"/>
                  </a:cubicBezTo>
                  <a:lnTo>
                    <a:pt x="0" y="228600"/>
                  </a:lnTo>
                  <a:lnTo>
                    <a:pt x="25400" y="228600"/>
                  </a:lnTo>
                  <a:lnTo>
                    <a:pt x="0" y="228600"/>
                  </a:lnTo>
                  <a:moveTo>
                    <a:pt x="50800" y="228600"/>
                  </a:moveTo>
                  <a:lnTo>
                    <a:pt x="50800" y="2971800"/>
                  </a:lnTo>
                  <a:lnTo>
                    <a:pt x="25400" y="2971800"/>
                  </a:lnTo>
                  <a:lnTo>
                    <a:pt x="50800" y="2971800"/>
                  </a:lnTo>
                  <a:cubicBezTo>
                    <a:pt x="50800" y="3069971"/>
                    <a:pt x="130556" y="3149600"/>
                    <a:pt x="229235" y="3149600"/>
                  </a:cubicBezTo>
                  <a:lnTo>
                    <a:pt x="3648329" y="3149600"/>
                  </a:lnTo>
                  <a:cubicBezTo>
                    <a:pt x="3746881" y="3149600"/>
                    <a:pt x="3826764" y="3069971"/>
                    <a:pt x="3826764" y="2971800"/>
                  </a:cubicBezTo>
                  <a:lnTo>
                    <a:pt x="3826764" y="228600"/>
                  </a:lnTo>
                  <a:cubicBezTo>
                    <a:pt x="3826764" y="130429"/>
                    <a:pt x="3747008" y="50800"/>
                    <a:pt x="3648329" y="50800"/>
                  </a:cubicBezTo>
                  <a:lnTo>
                    <a:pt x="229235" y="50800"/>
                  </a:lnTo>
                  <a:lnTo>
                    <a:pt x="229235" y="25400"/>
                  </a:lnTo>
                  <a:lnTo>
                    <a:pt x="229235" y="50800"/>
                  </a:lnTo>
                  <a:cubicBezTo>
                    <a:pt x="130556" y="50800"/>
                    <a:pt x="50800" y="130429"/>
                    <a:pt x="50800" y="228600"/>
                  </a:cubicBezTo>
                  <a:close/>
                </a:path>
              </a:pathLst>
            </a:custGeom>
            <a:solidFill>
              <a:srgbClr val="1E3A5F"/>
            </a:solidFill>
          </p:spPr>
          <p:txBody>
            <a:bodyPr/>
            <a:lstStyle/>
            <a:p>
              <a:endParaRPr lang="en-US"/>
            </a:p>
          </p:txBody>
        </p:sp>
      </p:grpSp>
      <p:sp>
        <p:nvSpPr>
          <p:cNvPr id="44" name="TextBox 44"/>
          <p:cNvSpPr txBox="1"/>
          <p:nvPr/>
        </p:nvSpPr>
        <p:spPr>
          <a:xfrm>
            <a:off x="13307063" y="7549753"/>
            <a:ext cx="2849680" cy="323850"/>
          </a:xfrm>
          <a:prstGeom prst="rect">
            <a:avLst/>
          </a:prstGeom>
        </p:spPr>
        <p:txBody>
          <a:bodyPr lIns="0" tIns="0" rIns="0" bIns="0" rtlCol="0" anchor="t">
            <a:spAutoFit/>
          </a:bodyPr>
          <a:lstStyle/>
          <a:p>
            <a:pPr algn="ctr">
              <a:lnSpc>
                <a:spcPts val="2640"/>
              </a:lnSpc>
            </a:pPr>
            <a:r>
              <a:rPr lang="en-US" sz="2200" b="1">
                <a:solidFill>
                  <a:srgbClr val="F1F5F9"/>
                </a:solidFill>
                <a:latin typeface="Arial Bold"/>
                <a:ea typeface="Arial Bold"/>
                <a:cs typeface="Arial Bold"/>
                <a:sym typeface="Arial Bold"/>
              </a:rPr>
              <a:t>Results</a:t>
            </a:r>
          </a:p>
        </p:txBody>
      </p:sp>
      <p:sp>
        <p:nvSpPr>
          <p:cNvPr id="45" name="TextBox 45"/>
          <p:cNvSpPr txBox="1"/>
          <p:nvPr/>
        </p:nvSpPr>
        <p:spPr>
          <a:xfrm>
            <a:off x="13462511" y="7937002"/>
            <a:ext cx="2538784" cy="335156"/>
          </a:xfrm>
          <a:prstGeom prst="rect">
            <a:avLst/>
          </a:prstGeom>
        </p:spPr>
        <p:txBody>
          <a:bodyPr lIns="0" tIns="0" rIns="0" bIns="0" rtlCol="0" anchor="t">
            <a:spAutoFit/>
          </a:bodyPr>
          <a:lstStyle/>
          <a:p>
            <a:pPr algn="ctr">
              <a:lnSpc>
                <a:spcPts val="2340"/>
              </a:lnSpc>
            </a:pPr>
            <a:r>
              <a:rPr lang="en-US" sz="1800">
                <a:solidFill>
                  <a:srgbClr val="94A3B8"/>
                </a:solidFill>
                <a:latin typeface="Arial"/>
                <a:ea typeface="Arial"/>
                <a:cs typeface="Arial"/>
                <a:sym typeface="Arial"/>
              </a:rPr>
              <a:t>point → polygon ID</a:t>
            </a:r>
          </a:p>
        </p:txBody>
      </p:sp>
      <p:grpSp>
        <p:nvGrpSpPr>
          <p:cNvPr id="46" name="Group 46"/>
          <p:cNvGrpSpPr/>
          <p:nvPr/>
        </p:nvGrpSpPr>
        <p:grpSpPr>
          <a:xfrm>
            <a:off x="4317806" y="5587898"/>
            <a:ext cx="1143000" cy="50606"/>
            <a:chOff x="0" y="0"/>
            <a:chExt cx="1524000" cy="67475"/>
          </a:xfrm>
        </p:grpSpPr>
        <p:sp>
          <p:nvSpPr>
            <p:cNvPr id="47" name="Freeform 47"/>
            <p:cNvSpPr/>
            <p:nvPr/>
          </p:nvSpPr>
          <p:spPr>
            <a:xfrm>
              <a:off x="0" y="0"/>
              <a:ext cx="1524000" cy="67437"/>
            </a:xfrm>
            <a:custGeom>
              <a:avLst/>
              <a:gdLst/>
              <a:ahLst/>
              <a:cxnLst/>
              <a:rect l="l" t="t" r="r" b="b"/>
              <a:pathLst>
                <a:path w="1524000" h="67437">
                  <a:moveTo>
                    <a:pt x="0" y="0"/>
                  </a:moveTo>
                  <a:lnTo>
                    <a:pt x="1524000" y="0"/>
                  </a:lnTo>
                  <a:lnTo>
                    <a:pt x="1524000" y="67437"/>
                  </a:lnTo>
                  <a:lnTo>
                    <a:pt x="0" y="67437"/>
                  </a:lnTo>
                  <a:close/>
                </a:path>
              </a:pathLst>
            </a:custGeom>
            <a:solidFill>
              <a:srgbClr val="22D3EE"/>
            </a:solidFill>
          </p:spPr>
          <p:txBody>
            <a:bodyPr/>
            <a:lstStyle/>
            <a:p>
              <a:endParaRPr lang="en-US"/>
            </a:p>
          </p:txBody>
        </p:sp>
      </p:grpSp>
      <p:grpSp>
        <p:nvGrpSpPr>
          <p:cNvPr id="48" name="Group 48"/>
          <p:cNvGrpSpPr/>
          <p:nvPr/>
        </p:nvGrpSpPr>
        <p:grpSpPr>
          <a:xfrm>
            <a:off x="5353050" y="5460806"/>
            <a:ext cx="285750" cy="114300"/>
            <a:chOff x="0" y="0"/>
            <a:chExt cx="381000" cy="152400"/>
          </a:xfrm>
        </p:grpSpPr>
        <p:sp>
          <p:nvSpPr>
            <p:cNvPr id="49" name="Freeform 49"/>
            <p:cNvSpPr/>
            <p:nvPr/>
          </p:nvSpPr>
          <p:spPr>
            <a:xfrm>
              <a:off x="76200" y="0"/>
              <a:ext cx="228600" cy="152400"/>
            </a:xfrm>
            <a:custGeom>
              <a:avLst/>
              <a:gdLst/>
              <a:ahLst/>
              <a:cxnLst/>
              <a:rect l="l" t="t" r="r" b="b"/>
              <a:pathLst>
                <a:path w="228600" h="152400">
                  <a:moveTo>
                    <a:pt x="0" y="0"/>
                  </a:moveTo>
                  <a:lnTo>
                    <a:pt x="228600" y="0"/>
                  </a:lnTo>
                  <a:lnTo>
                    <a:pt x="228600" y="152400"/>
                  </a:lnTo>
                  <a:lnTo>
                    <a:pt x="0" y="152400"/>
                  </a:lnTo>
                  <a:close/>
                </a:path>
              </a:pathLst>
            </a:custGeom>
            <a:solidFill>
              <a:srgbClr val="FFFFFF"/>
            </a:solidFill>
          </p:spPr>
          <p:txBody>
            <a:bodyPr/>
            <a:lstStyle/>
            <a:p>
              <a:endParaRPr lang="en-US"/>
            </a:p>
          </p:txBody>
        </p:sp>
      </p:grpSp>
      <p:grpSp>
        <p:nvGrpSpPr>
          <p:cNvPr id="50" name="Group 50"/>
          <p:cNvGrpSpPr/>
          <p:nvPr/>
        </p:nvGrpSpPr>
        <p:grpSpPr>
          <a:xfrm>
            <a:off x="5353050" y="5575106"/>
            <a:ext cx="285750" cy="114300"/>
            <a:chOff x="0" y="0"/>
            <a:chExt cx="381000" cy="152400"/>
          </a:xfrm>
        </p:grpSpPr>
        <p:sp>
          <p:nvSpPr>
            <p:cNvPr id="51" name="Freeform 51"/>
            <p:cNvSpPr/>
            <p:nvPr/>
          </p:nvSpPr>
          <p:spPr>
            <a:xfrm>
              <a:off x="76200" y="0"/>
              <a:ext cx="228600" cy="152400"/>
            </a:xfrm>
            <a:custGeom>
              <a:avLst/>
              <a:gdLst/>
              <a:ahLst/>
              <a:cxnLst/>
              <a:rect l="l" t="t" r="r" b="b"/>
              <a:pathLst>
                <a:path w="228600" h="152400">
                  <a:moveTo>
                    <a:pt x="0" y="0"/>
                  </a:moveTo>
                  <a:lnTo>
                    <a:pt x="228600" y="0"/>
                  </a:lnTo>
                  <a:lnTo>
                    <a:pt x="228600" y="152400"/>
                  </a:lnTo>
                  <a:lnTo>
                    <a:pt x="0" y="152400"/>
                  </a:lnTo>
                  <a:close/>
                </a:path>
              </a:pathLst>
            </a:custGeom>
            <a:solidFill>
              <a:srgbClr val="FFFFFF"/>
            </a:solidFill>
          </p:spPr>
          <p:txBody>
            <a:bodyPr/>
            <a:lstStyle/>
            <a:p>
              <a:endParaRPr lang="en-US"/>
            </a:p>
          </p:txBody>
        </p:sp>
      </p:grpSp>
      <p:grpSp>
        <p:nvGrpSpPr>
          <p:cNvPr id="52" name="Group 52"/>
          <p:cNvGrpSpPr/>
          <p:nvPr/>
        </p:nvGrpSpPr>
        <p:grpSpPr>
          <a:xfrm>
            <a:off x="5410200" y="5375081"/>
            <a:ext cx="171450" cy="400050"/>
            <a:chOff x="0" y="0"/>
            <a:chExt cx="228600" cy="533400"/>
          </a:xfrm>
        </p:grpSpPr>
        <p:sp>
          <p:nvSpPr>
            <p:cNvPr id="53" name="Freeform 53"/>
            <p:cNvSpPr/>
            <p:nvPr/>
          </p:nvSpPr>
          <p:spPr>
            <a:xfrm>
              <a:off x="0" y="114300"/>
              <a:ext cx="228600" cy="304800"/>
            </a:xfrm>
            <a:custGeom>
              <a:avLst/>
              <a:gdLst/>
              <a:ahLst/>
              <a:cxnLst/>
              <a:rect l="l" t="t" r="r" b="b"/>
              <a:pathLst>
                <a:path w="228600" h="304800">
                  <a:moveTo>
                    <a:pt x="228600" y="0"/>
                  </a:moveTo>
                  <a:lnTo>
                    <a:pt x="228600" y="304800"/>
                  </a:lnTo>
                  <a:lnTo>
                    <a:pt x="0" y="304800"/>
                  </a:lnTo>
                  <a:lnTo>
                    <a:pt x="0" y="0"/>
                  </a:lnTo>
                  <a:close/>
                </a:path>
              </a:pathLst>
            </a:custGeom>
            <a:solidFill>
              <a:srgbClr val="22D3EE"/>
            </a:solidFill>
          </p:spPr>
          <p:txBody>
            <a:bodyPr/>
            <a:lstStyle/>
            <a:p>
              <a:endParaRPr lang="en-US"/>
            </a:p>
          </p:txBody>
        </p:sp>
      </p:grpSp>
      <p:grpSp>
        <p:nvGrpSpPr>
          <p:cNvPr id="54" name="Group 54"/>
          <p:cNvGrpSpPr/>
          <p:nvPr/>
        </p:nvGrpSpPr>
        <p:grpSpPr>
          <a:xfrm>
            <a:off x="8254898" y="5587898"/>
            <a:ext cx="1143000" cy="50606"/>
            <a:chOff x="0" y="0"/>
            <a:chExt cx="1524000" cy="67475"/>
          </a:xfrm>
        </p:grpSpPr>
        <p:sp>
          <p:nvSpPr>
            <p:cNvPr id="55" name="Freeform 55"/>
            <p:cNvSpPr/>
            <p:nvPr/>
          </p:nvSpPr>
          <p:spPr>
            <a:xfrm>
              <a:off x="0" y="0"/>
              <a:ext cx="1524000" cy="67437"/>
            </a:xfrm>
            <a:custGeom>
              <a:avLst/>
              <a:gdLst/>
              <a:ahLst/>
              <a:cxnLst/>
              <a:rect l="l" t="t" r="r" b="b"/>
              <a:pathLst>
                <a:path w="1524000" h="67437">
                  <a:moveTo>
                    <a:pt x="0" y="0"/>
                  </a:moveTo>
                  <a:lnTo>
                    <a:pt x="1524000" y="0"/>
                  </a:lnTo>
                  <a:lnTo>
                    <a:pt x="1524000" y="67437"/>
                  </a:lnTo>
                  <a:lnTo>
                    <a:pt x="0" y="67437"/>
                  </a:lnTo>
                  <a:close/>
                </a:path>
              </a:pathLst>
            </a:custGeom>
            <a:solidFill>
              <a:srgbClr val="22D3EE"/>
            </a:solidFill>
          </p:spPr>
          <p:txBody>
            <a:bodyPr/>
            <a:lstStyle/>
            <a:p>
              <a:endParaRPr lang="en-US"/>
            </a:p>
          </p:txBody>
        </p:sp>
      </p:grpSp>
      <p:grpSp>
        <p:nvGrpSpPr>
          <p:cNvPr id="56" name="Group 56"/>
          <p:cNvGrpSpPr/>
          <p:nvPr/>
        </p:nvGrpSpPr>
        <p:grpSpPr>
          <a:xfrm>
            <a:off x="9289856" y="5460806"/>
            <a:ext cx="285750" cy="114300"/>
            <a:chOff x="0" y="0"/>
            <a:chExt cx="381000" cy="152400"/>
          </a:xfrm>
        </p:grpSpPr>
        <p:sp>
          <p:nvSpPr>
            <p:cNvPr id="57" name="Freeform 57"/>
            <p:cNvSpPr/>
            <p:nvPr/>
          </p:nvSpPr>
          <p:spPr>
            <a:xfrm>
              <a:off x="76200" y="0"/>
              <a:ext cx="228600" cy="152400"/>
            </a:xfrm>
            <a:custGeom>
              <a:avLst/>
              <a:gdLst/>
              <a:ahLst/>
              <a:cxnLst/>
              <a:rect l="l" t="t" r="r" b="b"/>
              <a:pathLst>
                <a:path w="228600" h="152400">
                  <a:moveTo>
                    <a:pt x="0" y="0"/>
                  </a:moveTo>
                  <a:lnTo>
                    <a:pt x="228600" y="0"/>
                  </a:lnTo>
                  <a:lnTo>
                    <a:pt x="228600" y="152400"/>
                  </a:lnTo>
                  <a:lnTo>
                    <a:pt x="0" y="152400"/>
                  </a:lnTo>
                  <a:close/>
                </a:path>
              </a:pathLst>
            </a:custGeom>
            <a:solidFill>
              <a:srgbClr val="FFFFFF"/>
            </a:solidFill>
          </p:spPr>
          <p:txBody>
            <a:bodyPr/>
            <a:lstStyle/>
            <a:p>
              <a:endParaRPr lang="en-US"/>
            </a:p>
          </p:txBody>
        </p:sp>
      </p:grpSp>
      <p:grpSp>
        <p:nvGrpSpPr>
          <p:cNvPr id="58" name="Group 58"/>
          <p:cNvGrpSpPr/>
          <p:nvPr/>
        </p:nvGrpSpPr>
        <p:grpSpPr>
          <a:xfrm>
            <a:off x="9289856" y="5575106"/>
            <a:ext cx="285750" cy="114300"/>
            <a:chOff x="0" y="0"/>
            <a:chExt cx="381000" cy="152400"/>
          </a:xfrm>
        </p:grpSpPr>
        <p:sp>
          <p:nvSpPr>
            <p:cNvPr id="59" name="Freeform 59"/>
            <p:cNvSpPr/>
            <p:nvPr/>
          </p:nvSpPr>
          <p:spPr>
            <a:xfrm>
              <a:off x="76200" y="0"/>
              <a:ext cx="228600" cy="152400"/>
            </a:xfrm>
            <a:custGeom>
              <a:avLst/>
              <a:gdLst/>
              <a:ahLst/>
              <a:cxnLst/>
              <a:rect l="l" t="t" r="r" b="b"/>
              <a:pathLst>
                <a:path w="228600" h="152400">
                  <a:moveTo>
                    <a:pt x="0" y="0"/>
                  </a:moveTo>
                  <a:lnTo>
                    <a:pt x="228600" y="0"/>
                  </a:lnTo>
                  <a:lnTo>
                    <a:pt x="228600" y="152400"/>
                  </a:lnTo>
                  <a:lnTo>
                    <a:pt x="0" y="152400"/>
                  </a:lnTo>
                  <a:close/>
                </a:path>
              </a:pathLst>
            </a:custGeom>
            <a:solidFill>
              <a:srgbClr val="FFFFFF"/>
            </a:solidFill>
          </p:spPr>
          <p:txBody>
            <a:bodyPr/>
            <a:lstStyle/>
            <a:p>
              <a:endParaRPr lang="en-US"/>
            </a:p>
          </p:txBody>
        </p:sp>
      </p:grpSp>
      <p:grpSp>
        <p:nvGrpSpPr>
          <p:cNvPr id="60" name="Group 60"/>
          <p:cNvGrpSpPr/>
          <p:nvPr/>
        </p:nvGrpSpPr>
        <p:grpSpPr>
          <a:xfrm>
            <a:off x="9346997" y="5375081"/>
            <a:ext cx="171450" cy="400050"/>
            <a:chOff x="0" y="0"/>
            <a:chExt cx="228600" cy="533400"/>
          </a:xfrm>
        </p:grpSpPr>
        <p:sp>
          <p:nvSpPr>
            <p:cNvPr id="61" name="Freeform 61"/>
            <p:cNvSpPr/>
            <p:nvPr/>
          </p:nvSpPr>
          <p:spPr>
            <a:xfrm>
              <a:off x="0" y="114300"/>
              <a:ext cx="228600" cy="304800"/>
            </a:xfrm>
            <a:custGeom>
              <a:avLst/>
              <a:gdLst/>
              <a:ahLst/>
              <a:cxnLst/>
              <a:rect l="l" t="t" r="r" b="b"/>
              <a:pathLst>
                <a:path w="228600" h="304800">
                  <a:moveTo>
                    <a:pt x="228600" y="0"/>
                  </a:moveTo>
                  <a:lnTo>
                    <a:pt x="228600" y="304800"/>
                  </a:lnTo>
                  <a:lnTo>
                    <a:pt x="0" y="304800"/>
                  </a:lnTo>
                  <a:lnTo>
                    <a:pt x="0" y="0"/>
                  </a:lnTo>
                  <a:close/>
                </a:path>
              </a:pathLst>
            </a:custGeom>
            <a:solidFill>
              <a:srgbClr val="22D3EE"/>
            </a:solidFill>
          </p:spPr>
          <p:txBody>
            <a:bodyPr/>
            <a:lstStyle/>
            <a:p>
              <a:endParaRPr lang="en-US"/>
            </a:p>
          </p:txBody>
        </p:sp>
      </p:grpSp>
      <p:grpSp>
        <p:nvGrpSpPr>
          <p:cNvPr id="62" name="Group 62"/>
          <p:cNvGrpSpPr/>
          <p:nvPr/>
        </p:nvGrpSpPr>
        <p:grpSpPr>
          <a:xfrm>
            <a:off x="12192000" y="5587898"/>
            <a:ext cx="1143000" cy="50606"/>
            <a:chOff x="0" y="0"/>
            <a:chExt cx="1524000" cy="67475"/>
          </a:xfrm>
        </p:grpSpPr>
        <p:sp>
          <p:nvSpPr>
            <p:cNvPr id="63" name="Freeform 63"/>
            <p:cNvSpPr/>
            <p:nvPr/>
          </p:nvSpPr>
          <p:spPr>
            <a:xfrm>
              <a:off x="0" y="0"/>
              <a:ext cx="1524000" cy="67437"/>
            </a:xfrm>
            <a:custGeom>
              <a:avLst/>
              <a:gdLst/>
              <a:ahLst/>
              <a:cxnLst/>
              <a:rect l="l" t="t" r="r" b="b"/>
              <a:pathLst>
                <a:path w="1524000" h="67437">
                  <a:moveTo>
                    <a:pt x="0" y="0"/>
                  </a:moveTo>
                  <a:lnTo>
                    <a:pt x="1524000" y="0"/>
                  </a:lnTo>
                  <a:lnTo>
                    <a:pt x="1524000" y="67437"/>
                  </a:lnTo>
                  <a:lnTo>
                    <a:pt x="0" y="67437"/>
                  </a:lnTo>
                  <a:close/>
                </a:path>
              </a:pathLst>
            </a:custGeom>
            <a:solidFill>
              <a:srgbClr val="22D3EE"/>
            </a:solidFill>
          </p:spPr>
          <p:txBody>
            <a:bodyPr/>
            <a:lstStyle/>
            <a:p>
              <a:endParaRPr lang="en-US"/>
            </a:p>
          </p:txBody>
        </p:sp>
      </p:grpSp>
      <p:grpSp>
        <p:nvGrpSpPr>
          <p:cNvPr id="64" name="Group 64"/>
          <p:cNvGrpSpPr/>
          <p:nvPr/>
        </p:nvGrpSpPr>
        <p:grpSpPr>
          <a:xfrm>
            <a:off x="13226948" y="5460806"/>
            <a:ext cx="285750" cy="114300"/>
            <a:chOff x="0" y="0"/>
            <a:chExt cx="381000" cy="152400"/>
          </a:xfrm>
        </p:grpSpPr>
        <p:sp>
          <p:nvSpPr>
            <p:cNvPr id="65" name="Freeform 65"/>
            <p:cNvSpPr/>
            <p:nvPr/>
          </p:nvSpPr>
          <p:spPr>
            <a:xfrm>
              <a:off x="76200" y="0"/>
              <a:ext cx="228600" cy="152400"/>
            </a:xfrm>
            <a:custGeom>
              <a:avLst/>
              <a:gdLst/>
              <a:ahLst/>
              <a:cxnLst/>
              <a:rect l="l" t="t" r="r" b="b"/>
              <a:pathLst>
                <a:path w="228600" h="152400">
                  <a:moveTo>
                    <a:pt x="0" y="0"/>
                  </a:moveTo>
                  <a:lnTo>
                    <a:pt x="228600" y="0"/>
                  </a:lnTo>
                  <a:lnTo>
                    <a:pt x="228600" y="152400"/>
                  </a:lnTo>
                  <a:lnTo>
                    <a:pt x="0" y="152400"/>
                  </a:lnTo>
                  <a:close/>
                </a:path>
              </a:pathLst>
            </a:custGeom>
            <a:solidFill>
              <a:srgbClr val="FFFFFF"/>
            </a:solidFill>
          </p:spPr>
          <p:txBody>
            <a:bodyPr/>
            <a:lstStyle/>
            <a:p>
              <a:endParaRPr lang="en-US"/>
            </a:p>
          </p:txBody>
        </p:sp>
      </p:grpSp>
      <p:grpSp>
        <p:nvGrpSpPr>
          <p:cNvPr id="66" name="Group 66"/>
          <p:cNvGrpSpPr/>
          <p:nvPr/>
        </p:nvGrpSpPr>
        <p:grpSpPr>
          <a:xfrm>
            <a:off x="13226948" y="5575106"/>
            <a:ext cx="285750" cy="114300"/>
            <a:chOff x="0" y="0"/>
            <a:chExt cx="381000" cy="152400"/>
          </a:xfrm>
        </p:grpSpPr>
        <p:sp>
          <p:nvSpPr>
            <p:cNvPr id="67" name="Freeform 67"/>
            <p:cNvSpPr/>
            <p:nvPr/>
          </p:nvSpPr>
          <p:spPr>
            <a:xfrm>
              <a:off x="76200" y="0"/>
              <a:ext cx="228600" cy="152400"/>
            </a:xfrm>
            <a:custGeom>
              <a:avLst/>
              <a:gdLst/>
              <a:ahLst/>
              <a:cxnLst/>
              <a:rect l="l" t="t" r="r" b="b"/>
              <a:pathLst>
                <a:path w="228600" h="152400">
                  <a:moveTo>
                    <a:pt x="0" y="0"/>
                  </a:moveTo>
                  <a:lnTo>
                    <a:pt x="228600" y="0"/>
                  </a:lnTo>
                  <a:lnTo>
                    <a:pt x="228600" y="152400"/>
                  </a:lnTo>
                  <a:lnTo>
                    <a:pt x="0" y="152400"/>
                  </a:lnTo>
                  <a:close/>
                </a:path>
              </a:pathLst>
            </a:custGeom>
            <a:solidFill>
              <a:srgbClr val="FFFFFF"/>
            </a:solidFill>
          </p:spPr>
          <p:txBody>
            <a:bodyPr/>
            <a:lstStyle/>
            <a:p>
              <a:endParaRPr lang="en-US"/>
            </a:p>
          </p:txBody>
        </p:sp>
      </p:grpSp>
      <p:grpSp>
        <p:nvGrpSpPr>
          <p:cNvPr id="68" name="Group 68"/>
          <p:cNvGrpSpPr/>
          <p:nvPr/>
        </p:nvGrpSpPr>
        <p:grpSpPr>
          <a:xfrm>
            <a:off x="13284098" y="5375081"/>
            <a:ext cx="171450" cy="400050"/>
            <a:chOff x="0" y="0"/>
            <a:chExt cx="228600" cy="533400"/>
          </a:xfrm>
        </p:grpSpPr>
        <p:sp>
          <p:nvSpPr>
            <p:cNvPr id="69" name="Freeform 69"/>
            <p:cNvSpPr/>
            <p:nvPr/>
          </p:nvSpPr>
          <p:spPr>
            <a:xfrm>
              <a:off x="0" y="114300"/>
              <a:ext cx="228600" cy="304800"/>
            </a:xfrm>
            <a:custGeom>
              <a:avLst/>
              <a:gdLst/>
              <a:ahLst/>
              <a:cxnLst/>
              <a:rect l="l" t="t" r="r" b="b"/>
              <a:pathLst>
                <a:path w="228600" h="304800">
                  <a:moveTo>
                    <a:pt x="228600" y="0"/>
                  </a:moveTo>
                  <a:lnTo>
                    <a:pt x="228600" y="304800"/>
                  </a:lnTo>
                  <a:lnTo>
                    <a:pt x="0" y="304800"/>
                  </a:lnTo>
                  <a:lnTo>
                    <a:pt x="0" y="0"/>
                  </a:lnTo>
                  <a:close/>
                </a:path>
              </a:pathLst>
            </a:custGeom>
            <a:solidFill>
              <a:srgbClr val="22D3EE"/>
            </a:solidFill>
          </p:spPr>
          <p:txBody>
            <a:bodyPr/>
            <a:lstStyle/>
            <a:p>
              <a:endParaRPr lang="en-US"/>
            </a:p>
          </p:txBody>
        </p:sp>
      </p:grpSp>
      <p:grpSp>
        <p:nvGrpSpPr>
          <p:cNvPr id="70" name="Group 70"/>
          <p:cNvGrpSpPr/>
          <p:nvPr/>
        </p:nvGrpSpPr>
        <p:grpSpPr>
          <a:xfrm>
            <a:off x="0" y="0"/>
            <a:ext cx="50606" cy="634898"/>
            <a:chOff x="0" y="0"/>
            <a:chExt cx="67475" cy="846531"/>
          </a:xfrm>
        </p:grpSpPr>
        <p:sp>
          <p:nvSpPr>
            <p:cNvPr id="71" name="Freeform 71"/>
            <p:cNvSpPr/>
            <p:nvPr/>
          </p:nvSpPr>
          <p:spPr>
            <a:xfrm>
              <a:off x="0" y="0"/>
              <a:ext cx="67437" cy="846582"/>
            </a:xfrm>
            <a:custGeom>
              <a:avLst/>
              <a:gdLst/>
              <a:ahLst/>
              <a:cxnLst/>
              <a:rect l="l" t="t" r="r" b="b"/>
              <a:pathLst>
                <a:path w="67437" h="846582">
                  <a:moveTo>
                    <a:pt x="0" y="0"/>
                  </a:moveTo>
                  <a:lnTo>
                    <a:pt x="67437" y="0"/>
                  </a:lnTo>
                  <a:lnTo>
                    <a:pt x="67437" y="846582"/>
                  </a:lnTo>
                  <a:lnTo>
                    <a:pt x="0" y="846582"/>
                  </a:lnTo>
                  <a:close/>
                </a:path>
              </a:pathLst>
            </a:custGeom>
            <a:solidFill>
              <a:srgbClr val="22D3EE"/>
            </a:solidFill>
          </p:spPr>
          <p:txBody>
            <a:bodyPr/>
            <a:lstStyle/>
            <a:p>
              <a:endParaRPr lang="en-US"/>
            </a:p>
          </p:txBody>
        </p:sp>
      </p:grpSp>
      <p:grpSp>
        <p:nvGrpSpPr>
          <p:cNvPr id="72" name="Group 72"/>
          <p:cNvGrpSpPr/>
          <p:nvPr/>
        </p:nvGrpSpPr>
        <p:grpSpPr>
          <a:xfrm>
            <a:off x="14519081" y="7239000"/>
            <a:ext cx="400050" cy="171450"/>
            <a:chOff x="0" y="0"/>
            <a:chExt cx="533400" cy="228600"/>
          </a:xfrm>
        </p:grpSpPr>
        <p:sp>
          <p:nvSpPr>
            <p:cNvPr id="73" name="Freeform 73"/>
            <p:cNvSpPr/>
            <p:nvPr/>
          </p:nvSpPr>
          <p:spPr>
            <a:xfrm>
              <a:off x="114300" y="0"/>
              <a:ext cx="304800" cy="228600"/>
            </a:xfrm>
            <a:custGeom>
              <a:avLst/>
              <a:gdLst/>
              <a:ahLst/>
              <a:cxnLst/>
              <a:rect l="l" t="t" r="r" b="b"/>
              <a:pathLst>
                <a:path w="304800" h="228600">
                  <a:moveTo>
                    <a:pt x="0" y="0"/>
                  </a:moveTo>
                  <a:lnTo>
                    <a:pt x="304800" y="0"/>
                  </a:lnTo>
                  <a:lnTo>
                    <a:pt x="304800" y="228600"/>
                  </a:lnTo>
                  <a:lnTo>
                    <a:pt x="0" y="228600"/>
                  </a:lnTo>
                  <a:close/>
                </a:path>
              </a:pathLst>
            </a:custGeom>
            <a:solidFill>
              <a:srgbClr val="22D3EE"/>
            </a:solidFill>
          </p:spPr>
          <p:txBody>
            <a:bodyPr/>
            <a:lstStyle/>
            <a:p>
              <a:endParaRPr lang="en-US"/>
            </a:p>
          </p:txBody>
        </p:sp>
      </p:grpSp>
      <p:grpSp>
        <p:nvGrpSpPr>
          <p:cNvPr id="74" name="Group 74"/>
          <p:cNvGrpSpPr/>
          <p:nvPr/>
        </p:nvGrpSpPr>
        <p:grpSpPr>
          <a:xfrm>
            <a:off x="14719106" y="7181850"/>
            <a:ext cx="114300" cy="285750"/>
            <a:chOff x="0" y="0"/>
            <a:chExt cx="152400" cy="381000"/>
          </a:xfrm>
        </p:grpSpPr>
        <p:sp>
          <p:nvSpPr>
            <p:cNvPr id="75" name="Freeform 75"/>
            <p:cNvSpPr/>
            <p:nvPr/>
          </p:nvSpPr>
          <p:spPr>
            <a:xfrm>
              <a:off x="0" y="76200"/>
              <a:ext cx="152400" cy="228600"/>
            </a:xfrm>
            <a:custGeom>
              <a:avLst/>
              <a:gdLst/>
              <a:ahLst/>
              <a:cxnLst/>
              <a:rect l="l" t="t" r="r" b="b"/>
              <a:pathLst>
                <a:path w="152400" h="228600">
                  <a:moveTo>
                    <a:pt x="152400" y="0"/>
                  </a:moveTo>
                  <a:lnTo>
                    <a:pt x="152400" y="228600"/>
                  </a:lnTo>
                  <a:lnTo>
                    <a:pt x="0" y="228600"/>
                  </a:lnTo>
                  <a:lnTo>
                    <a:pt x="0" y="0"/>
                  </a:lnTo>
                  <a:close/>
                </a:path>
              </a:pathLst>
            </a:custGeom>
            <a:solidFill>
              <a:srgbClr val="FFFFFF"/>
            </a:solidFill>
          </p:spPr>
          <p:txBody>
            <a:bodyPr/>
            <a:lstStyle/>
            <a:p>
              <a:endParaRPr lang="en-US"/>
            </a:p>
          </p:txBody>
        </p:sp>
      </p:grpSp>
      <p:grpSp>
        <p:nvGrpSpPr>
          <p:cNvPr id="76" name="Group 76"/>
          <p:cNvGrpSpPr/>
          <p:nvPr/>
        </p:nvGrpSpPr>
        <p:grpSpPr>
          <a:xfrm>
            <a:off x="14604806" y="7181850"/>
            <a:ext cx="114300" cy="285750"/>
            <a:chOff x="0" y="0"/>
            <a:chExt cx="152400" cy="381000"/>
          </a:xfrm>
        </p:grpSpPr>
        <p:sp>
          <p:nvSpPr>
            <p:cNvPr id="77" name="Freeform 77"/>
            <p:cNvSpPr/>
            <p:nvPr/>
          </p:nvSpPr>
          <p:spPr>
            <a:xfrm>
              <a:off x="0" y="76200"/>
              <a:ext cx="152400" cy="228600"/>
            </a:xfrm>
            <a:custGeom>
              <a:avLst/>
              <a:gdLst/>
              <a:ahLst/>
              <a:cxnLst/>
              <a:rect l="l" t="t" r="r" b="b"/>
              <a:pathLst>
                <a:path w="152400" h="228600">
                  <a:moveTo>
                    <a:pt x="152400" y="0"/>
                  </a:moveTo>
                  <a:lnTo>
                    <a:pt x="152400" y="228600"/>
                  </a:lnTo>
                  <a:lnTo>
                    <a:pt x="0" y="228600"/>
                  </a:lnTo>
                  <a:lnTo>
                    <a:pt x="0" y="0"/>
                  </a:lnTo>
                  <a:close/>
                </a:path>
              </a:pathLst>
            </a:custGeom>
            <a:solidFill>
              <a:srgbClr val="FFFFFF"/>
            </a:solidFill>
          </p:spPr>
          <p:txBody>
            <a:bodyPr/>
            <a:lstStyle/>
            <a:p>
              <a:endParaRPr lang="en-US"/>
            </a:p>
          </p:txBody>
        </p:sp>
      </p:grpSp>
      <p:grpSp>
        <p:nvGrpSpPr>
          <p:cNvPr id="78" name="Group 78"/>
          <p:cNvGrpSpPr/>
          <p:nvPr/>
        </p:nvGrpSpPr>
        <p:grpSpPr>
          <a:xfrm>
            <a:off x="12192000" y="8508806"/>
            <a:ext cx="1143000" cy="50606"/>
            <a:chOff x="0" y="0"/>
            <a:chExt cx="1524000" cy="67475"/>
          </a:xfrm>
        </p:grpSpPr>
        <p:sp>
          <p:nvSpPr>
            <p:cNvPr id="79" name="Freeform 79"/>
            <p:cNvSpPr/>
            <p:nvPr/>
          </p:nvSpPr>
          <p:spPr>
            <a:xfrm>
              <a:off x="0" y="0"/>
              <a:ext cx="1524000" cy="67437"/>
            </a:xfrm>
            <a:custGeom>
              <a:avLst/>
              <a:gdLst/>
              <a:ahLst/>
              <a:cxnLst/>
              <a:rect l="l" t="t" r="r" b="b"/>
              <a:pathLst>
                <a:path w="1524000" h="67437">
                  <a:moveTo>
                    <a:pt x="0" y="0"/>
                  </a:moveTo>
                  <a:lnTo>
                    <a:pt x="1524000" y="0"/>
                  </a:lnTo>
                  <a:lnTo>
                    <a:pt x="1524000" y="67437"/>
                  </a:lnTo>
                  <a:lnTo>
                    <a:pt x="0" y="67437"/>
                  </a:lnTo>
                  <a:close/>
                </a:path>
              </a:pathLst>
            </a:custGeom>
            <a:solidFill>
              <a:srgbClr val="22D3EE"/>
            </a:solidFill>
          </p:spPr>
          <p:txBody>
            <a:bodyPr/>
            <a:lstStyle/>
            <a:p>
              <a:endParaRPr lang="en-US"/>
            </a:p>
          </p:txBody>
        </p:sp>
      </p:grpSp>
      <p:grpSp>
        <p:nvGrpSpPr>
          <p:cNvPr id="80" name="Group 80"/>
          <p:cNvGrpSpPr/>
          <p:nvPr/>
        </p:nvGrpSpPr>
        <p:grpSpPr>
          <a:xfrm>
            <a:off x="8121548" y="8382000"/>
            <a:ext cx="285750" cy="114300"/>
            <a:chOff x="0" y="0"/>
            <a:chExt cx="381000" cy="152400"/>
          </a:xfrm>
        </p:grpSpPr>
        <p:sp>
          <p:nvSpPr>
            <p:cNvPr id="81" name="Freeform 81"/>
            <p:cNvSpPr/>
            <p:nvPr/>
          </p:nvSpPr>
          <p:spPr>
            <a:xfrm>
              <a:off x="76200" y="0"/>
              <a:ext cx="228600" cy="152400"/>
            </a:xfrm>
            <a:custGeom>
              <a:avLst/>
              <a:gdLst/>
              <a:ahLst/>
              <a:cxnLst/>
              <a:rect l="l" t="t" r="r" b="b"/>
              <a:pathLst>
                <a:path w="228600" h="152400">
                  <a:moveTo>
                    <a:pt x="0" y="0"/>
                  </a:moveTo>
                  <a:lnTo>
                    <a:pt x="228600" y="0"/>
                  </a:lnTo>
                  <a:lnTo>
                    <a:pt x="228600" y="152400"/>
                  </a:lnTo>
                  <a:lnTo>
                    <a:pt x="0" y="152400"/>
                  </a:lnTo>
                  <a:close/>
                </a:path>
              </a:pathLst>
            </a:custGeom>
            <a:solidFill>
              <a:srgbClr val="FFFFFF"/>
            </a:solidFill>
          </p:spPr>
          <p:txBody>
            <a:bodyPr/>
            <a:lstStyle/>
            <a:p>
              <a:endParaRPr lang="en-US"/>
            </a:p>
          </p:txBody>
        </p:sp>
      </p:grpSp>
      <p:grpSp>
        <p:nvGrpSpPr>
          <p:cNvPr id="82" name="Group 82"/>
          <p:cNvGrpSpPr/>
          <p:nvPr/>
        </p:nvGrpSpPr>
        <p:grpSpPr>
          <a:xfrm>
            <a:off x="8178698" y="8296275"/>
            <a:ext cx="171450" cy="400050"/>
            <a:chOff x="0" y="0"/>
            <a:chExt cx="228600" cy="533400"/>
          </a:xfrm>
        </p:grpSpPr>
        <p:sp>
          <p:nvSpPr>
            <p:cNvPr id="83" name="Freeform 83"/>
            <p:cNvSpPr/>
            <p:nvPr/>
          </p:nvSpPr>
          <p:spPr>
            <a:xfrm>
              <a:off x="0" y="114300"/>
              <a:ext cx="228600" cy="304800"/>
            </a:xfrm>
            <a:custGeom>
              <a:avLst/>
              <a:gdLst/>
              <a:ahLst/>
              <a:cxnLst/>
              <a:rect l="l" t="t" r="r" b="b"/>
              <a:pathLst>
                <a:path w="228600" h="304800">
                  <a:moveTo>
                    <a:pt x="228600" y="0"/>
                  </a:moveTo>
                  <a:lnTo>
                    <a:pt x="228600" y="304800"/>
                  </a:lnTo>
                  <a:lnTo>
                    <a:pt x="0" y="304800"/>
                  </a:lnTo>
                  <a:lnTo>
                    <a:pt x="0" y="0"/>
                  </a:lnTo>
                  <a:close/>
                </a:path>
              </a:pathLst>
            </a:custGeom>
            <a:solidFill>
              <a:srgbClr val="22D3EE"/>
            </a:solidFill>
          </p:spPr>
          <p:txBody>
            <a:bodyPr/>
            <a:lstStyle/>
            <a:p>
              <a:endParaRPr lang="en-US"/>
            </a:p>
          </p:txBody>
        </p:sp>
      </p:grpSp>
      <p:grpSp>
        <p:nvGrpSpPr>
          <p:cNvPr id="84" name="Group 84"/>
          <p:cNvGrpSpPr/>
          <p:nvPr/>
        </p:nvGrpSpPr>
        <p:grpSpPr>
          <a:xfrm>
            <a:off x="8121548" y="8496300"/>
            <a:ext cx="285750" cy="114300"/>
            <a:chOff x="0" y="0"/>
            <a:chExt cx="381000" cy="152400"/>
          </a:xfrm>
        </p:grpSpPr>
        <p:sp>
          <p:nvSpPr>
            <p:cNvPr id="85" name="Freeform 85"/>
            <p:cNvSpPr/>
            <p:nvPr/>
          </p:nvSpPr>
          <p:spPr>
            <a:xfrm>
              <a:off x="76200" y="0"/>
              <a:ext cx="228600" cy="152400"/>
            </a:xfrm>
            <a:custGeom>
              <a:avLst/>
              <a:gdLst/>
              <a:ahLst/>
              <a:cxnLst/>
              <a:rect l="l" t="t" r="r" b="b"/>
              <a:pathLst>
                <a:path w="228600" h="152400">
                  <a:moveTo>
                    <a:pt x="0" y="0"/>
                  </a:moveTo>
                  <a:lnTo>
                    <a:pt x="228600" y="0"/>
                  </a:lnTo>
                  <a:lnTo>
                    <a:pt x="228600" y="152400"/>
                  </a:lnTo>
                  <a:lnTo>
                    <a:pt x="0" y="152400"/>
                  </a:lnTo>
                  <a:close/>
                </a:path>
              </a:pathLst>
            </a:custGeom>
            <a:solidFill>
              <a:srgbClr val="FFFFFF"/>
            </a:solidFill>
          </p:spPr>
          <p:txBody>
            <a:bodyPr/>
            <a:lstStyle/>
            <a:p>
              <a:endParaRPr lang="en-US"/>
            </a:p>
          </p:txBody>
        </p:sp>
      </p:grpSp>
      <p:grpSp>
        <p:nvGrpSpPr>
          <p:cNvPr id="86" name="Group 86"/>
          <p:cNvGrpSpPr/>
          <p:nvPr/>
        </p:nvGrpSpPr>
        <p:grpSpPr>
          <a:xfrm>
            <a:off x="8254898" y="8508806"/>
            <a:ext cx="1143000" cy="50606"/>
            <a:chOff x="0" y="0"/>
            <a:chExt cx="1524000" cy="67475"/>
          </a:xfrm>
        </p:grpSpPr>
        <p:sp>
          <p:nvSpPr>
            <p:cNvPr id="87" name="Freeform 87"/>
            <p:cNvSpPr/>
            <p:nvPr/>
          </p:nvSpPr>
          <p:spPr>
            <a:xfrm>
              <a:off x="0" y="0"/>
              <a:ext cx="1524000" cy="67437"/>
            </a:xfrm>
            <a:custGeom>
              <a:avLst/>
              <a:gdLst/>
              <a:ahLst/>
              <a:cxnLst/>
              <a:rect l="l" t="t" r="r" b="b"/>
              <a:pathLst>
                <a:path w="1524000" h="67437">
                  <a:moveTo>
                    <a:pt x="0" y="0"/>
                  </a:moveTo>
                  <a:lnTo>
                    <a:pt x="1524000" y="0"/>
                  </a:lnTo>
                  <a:lnTo>
                    <a:pt x="1524000" y="67437"/>
                  </a:lnTo>
                  <a:lnTo>
                    <a:pt x="0" y="67437"/>
                  </a:lnTo>
                  <a:close/>
                </a:path>
              </a:pathLst>
            </a:custGeom>
            <a:solidFill>
              <a:srgbClr val="22D3EE"/>
            </a:solidFill>
          </p:spPr>
          <p:txBody>
            <a:bodyPr/>
            <a:lstStyle/>
            <a:p>
              <a:endParaRPr lang="en-US"/>
            </a:p>
          </p:txBody>
        </p:sp>
      </p:grpSp>
      <p:grpSp>
        <p:nvGrpSpPr>
          <p:cNvPr id="88" name="Group 88"/>
          <p:cNvGrpSpPr/>
          <p:nvPr/>
        </p:nvGrpSpPr>
        <p:grpSpPr>
          <a:xfrm>
            <a:off x="5353050" y="8382000"/>
            <a:ext cx="285750" cy="114300"/>
            <a:chOff x="0" y="0"/>
            <a:chExt cx="381000" cy="152400"/>
          </a:xfrm>
        </p:grpSpPr>
        <p:sp>
          <p:nvSpPr>
            <p:cNvPr id="89" name="Freeform 89"/>
            <p:cNvSpPr/>
            <p:nvPr/>
          </p:nvSpPr>
          <p:spPr>
            <a:xfrm>
              <a:off x="76200" y="0"/>
              <a:ext cx="228600" cy="152400"/>
            </a:xfrm>
            <a:custGeom>
              <a:avLst/>
              <a:gdLst/>
              <a:ahLst/>
              <a:cxnLst/>
              <a:rect l="l" t="t" r="r" b="b"/>
              <a:pathLst>
                <a:path w="228600" h="152400">
                  <a:moveTo>
                    <a:pt x="0" y="0"/>
                  </a:moveTo>
                  <a:lnTo>
                    <a:pt x="228600" y="0"/>
                  </a:lnTo>
                  <a:lnTo>
                    <a:pt x="228600" y="152400"/>
                  </a:lnTo>
                  <a:lnTo>
                    <a:pt x="0" y="152400"/>
                  </a:lnTo>
                  <a:close/>
                </a:path>
              </a:pathLst>
            </a:custGeom>
            <a:solidFill>
              <a:srgbClr val="FFFFFF"/>
            </a:solidFill>
          </p:spPr>
          <p:txBody>
            <a:bodyPr/>
            <a:lstStyle/>
            <a:p>
              <a:endParaRPr lang="en-US"/>
            </a:p>
          </p:txBody>
        </p:sp>
      </p:grpSp>
      <p:grpSp>
        <p:nvGrpSpPr>
          <p:cNvPr id="90" name="Group 90"/>
          <p:cNvGrpSpPr/>
          <p:nvPr/>
        </p:nvGrpSpPr>
        <p:grpSpPr>
          <a:xfrm>
            <a:off x="5410200" y="8296275"/>
            <a:ext cx="171450" cy="400050"/>
            <a:chOff x="0" y="0"/>
            <a:chExt cx="228600" cy="533400"/>
          </a:xfrm>
        </p:grpSpPr>
        <p:sp>
          <p:nvSpPr>
            <p:cNvPr id="91" name="Freeform 91"/>
            <p:cNvSpPr/>
            <p:nvPr/>
          </p:nvSpPr>
          <p:spPr>
            <a:xfrm>
              <a:off x="0" y="114300"/>
              <a:ext cx="228600" cy="304800"/>
            </a:xfrm>
            <a:custGeom>
              <a:avLst/>
              <a:gdLst/>
              <a:ahLst/>
              <a:cxnLst/>
              <a:rect l="l" t="t" r="r" b="b"/>
              <a:pathLst>
                <a:path w="228600" h="304800">
                  <a:moveTo>
                    <a:pt x="228600" y="0"/>
                  </a:moveTo>
                  <a:lnTo>
                    <a:pt x="228600" y="304800"/>
                  </a:lnTo>
                  <a:lnTo>
                    <a:pt x="0" y="304800"/>
                  </a:lnTo>
                  <a:lnTo>
                    <a:pt x="0" y="0"/>
                  </a:lnTo>
                  <a:close/>
                </a:path>
              </a:pathLst>
            </a:custGeom>
            <a:solidFill>
              <a:srgbClr val="22D3EE"/>
            </a:solidFill>
          </p:spPr>
          <p:txBody>
            <a:bodyPr/>
            <a:lstStyle/>
            <a:p>
              <a:endParaRPr lang="en-US"/>
            </a:p>
          </p:txBody>
        </p:sp>
      </p:grpSp>
      <p:grpSp>
        <p:nvGrpSpPr>
          <p:cNvPr id="92" name="Group 92"/>
          <p:cNvGrpSpPr/>
          <p:nvPr/>
        </p:nvGrpSpPr>
        <p:grpSpPr>
          <a:xfrm>
            <a:off x="5353050" y="8496300"/>
            <a:ext cx="285750" cy="114300"/>
            <a:chOff x="0" y="0"/>
            <a:chExt cx="381000" cy="152400"/>
          </a:xfrm>
        </p:grpSpPr>
        <p:sp>
          <p:nvSpPr>
            <p:cNvPr id="93" name="Freeform 93"/>
            <p:cNvSpPr/>
            <p:nvPr/>
          </p:nvSpPr>
          <p:spPr>
            <a:xfrm>
              <a:off x="76200" y="0"/>
              <a:ext cx="228600" cy="152400"/>
            </a:xfrm>
            <a:custGeom>
              <a:avLst/>
              <a:gdLst/>
              <a:ahLst/>
              <a:cxnLst/>
              <a:rect l="l" t="t" r="r" b="b"/>
              <a:pathLst>
                <a:path w="228600" h="152400">
                  <a:moveTo>
                    <a:pt x="0" y="0"/>
                  </a:moveTo>
                  <a:lnTo>
                    <a:pt x="228600" y="0"/>
                  </a:lnTo>
                  <a:lnTo>
                    <a:pt x="228600" y="152400"/>
                  </a:lnTo>
                  <a:lnTo>
                    <a:pt x="0" y="152400"/>
                  </a:lnTo>
                  <a:close/>
                </a:path>
              </a:pathLst>
            </a:custGeom>
            <a:solidFill>
              <a:srgbClr val="FFFFFF"/>
            </a:solidFill>
          </p:spPr>
          <p:txBody>
            <a:bodyPr/>
            <a:lstStyle/>
            <a:p>
              <a:endParaRPr lang="en-US"/>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TextBox 2"/>
          <p:cNvSpPr txBox="1"/>
          <p:nvPr/>
        </p:nvSpPr>
        <p:spPr>
          <a:xfrm>
            <a:off x="1524000" y="1260281"/>
            <a:ext cx="9868519" cy="295275"/>
          </a:xfrm>
          <a:prstGeom prst="rect">
            <a:avLst/>
          </a:prstGeom>
        </p:spPr>
        <p:txBody>
          <a:bodyPr lIns="0" tIns="0" rIns="0" bIns="0" rtlCol="0" anchor="t">
            <a:spAutoFit/>
          </a:bodyPr>
          <a:lstStyle/>
          <a:p>
            <a:pPr algn="l">
              <a:lnSpc>
                <a:spcPts val="2400"/>
              </a:lnSpc>
            </a:pPr>
            <a:r>
              <a:rPr lang="en-US" sz="2000">
                <a:solidFill>
                  <a:srgbClr val="22D3EE"/>
                </a:solidFill>
                <a:latin typeface="Arial"/>
                <a:ea typeface="Arial"/>
                <a:cs typeface="Arial"/>
                <a:sym typeface="Arial"/>
              </a:rPr>
              <a:t>MILESTONE 1 · SEQUENTIAL FOUNDATION</a:t>
            </a:r>
          </a:p>
        </p:txBody>
      </p:sp>
      <p:sp>
        <p:nvSpPr>
          <p:cNvPr id="3" name="TextBox 3"/>
          <p:cNvSpPr txBox="1"/>
          <p:nvPr/>
        </p:nvSpPr>
        <p:spPr>
          <a:xfrm>
            <a:off x="1524000" y="2003231"/>
            <a:ext cx="15544800" cy="885825"/>
          </a:xfrm>
          <a:prstGeom prst="rect">
            <a:avLst/>
          </a:prstGeom>
        </p:spPr>
        <p:txBody>
          <a:bodyPr lIns="0" tIns="0" rIns="0" bIns="0" rtlCol="0" anchor="t">
            <a:spAutoFit/>
          </a:bodyPr>
          <a:lstStyle/>
          <a:p>
            <a:pPr algn="l">
              <a:lnSpc>
                <a:spcPts val="7200"/>
              </a:lnSpc>
            </a:pPr>
            <a:r>
              <a:rPr lang="en-US" sz="6000">
                <a:solidFill>
                  <a:srgbClr val="F1F5F9"/>
                </a:solidFill>
                <a:latin typeface="Arial"/>
                <a:ea typeface="Arial"/>
                <a:cs typeface="Arial"/>
                <a:sym typeface="Arial"/>
              </a:rPr>
              <a:t>Smarter, </a:t>
            </a:r>
            <a:r>
              <a:rPr lang="en-US" sz="6000" b="1">
                <a:solidFill>
                  <a:srgbClr val="22D3EE"/>
                </a:solidFill>
                <a:latin typeface="Arial Bold"/>
                <a:ea typeface="Arial Bold"/>
                <a:cs typeface="Arial Bold"/>
                <a:sym typeface="Arial Bold"/>
              </a:rPr>
              <a:t>not just faster</a:t>
            </a:r>
          </a:p>
        </p:txBody>
      </p:sp>
      <p:grpSp>
        <p:nvGrpSpPr>
          <p:cNvPr id="4" name="Group 4"/>
          <p:cNvGrpSpPr/>
          <p:nvPr/>
        </p:nvGrpSpPr>
        <p:grpSpPr>
          <a:xfrm>
            <a:off x="1514475" y="4054373"/>
            <a:ext cx="5010150" cy="5136956"/>
            <a:chOff x="0" y="0"/>
            <a:chExt cx="6680200" cy="6849275"/>
          </a:xfrm>
        </p:grpSpPr>
        <p:sp>
          <p:nvSpPr>
            <p:cNvPr id="5" name="Freeform 5"/>
            <p:cNvSpPr/>
            <p:nvPr/>
          </p:nvSpPr>
          <p:spPr>
            <a:xfrm>
              <a:off x="12700" y="12700"/>
              <a:ext cx="6654800" cy="6823837"/>
            </a:xfrm>
            <a:custGeom>
              <a:avLst/>
              <a:gdLst/>
              <a:ahLst/>
              <a:cxnLst/>
              <a:rect l="l" t="t" r="r" b="b"/>
              <a:pathLst>
                <a:path w="6654800" h="6823837">
                  <a:moveTo>
                    <a:pt x="0" y="203200"/>
                  </a:moveTo>
                  <a:cubicBezTo>
                    <a:pt x="0" y="90932"/>
                    <a:pt x="90932" y="0"/>
                    <a:pt x="203200" y="0"/>
                  </a:cubicBezTo>
                  <a:lnTo>
                    <a:pt x="6451600" y="0"/>
                  </a:lnTo>
                  <a:cubicBezTo>
                    <a:pt x="6563868" y="0"/>
                    <a:pt x="6654800" y="90932"/>
                    <a:pt x="6654800" y="203200"/>
                  </a:cubicBezTo>
                  <a:lnTo>
                    <a:pt x="6654800" y="6620637"/>
                  </a:lnTo>
                  <a:cubicBezTo>
                    <a:pt x="6654800" y="6732905"/>
                    <a:pt x="6563868" y="6823837"/>
                    <a:pt x="6451600" y="6823837"/>
                  </a:cubicBezTo>
                  <a:lnTo>
                    <a:pt x="203200" y="6823837"/>
                  </a:lnTo>
                  <a:cubicBezTo>
                    <a:pt x="90932" y="6823837"/>
                    <a:pt x="0" y="6732905"/>
                    <a:pt x="0" y="6620637"/>
                  </a:cubicBezTo>
                  <a:close/>
                </a:path>
              </a:pathLst>
            </a:custGeom>
            <a:solidFill>
              <a:srgbClr val="122236"/>
            </a:solidFill>
          </p:spPr>
          <p:txBody>
            <a:bodyPr/>
            <a:lstStyle/>
            <a:p>
              <a:endParaRPr lang="en-US"/>
            </a:p>
          </p:txBody>
        </p:sp>
        <p:sp>
          <p:nvSpPr>
            <p:cNvPr id="6" name="Freeform 6"/>
            <p:cNvSpPr/>
            <p:nvPr/>
          </p:nvSpPr>
          <p:spPr>
            <a:xfrm>
              <a:off x="0" y="0"/>
              <a:ext cx="6680200" cy="6849237"/>
            </a:xfrm>
            <a:custGeom>
              <a:avLst/>
              <a:gdLst/>
              <a:ahLst/>
              <a:cxnLst/>
              <a:rect l="l" t="t" r="r" b="b"/>
              <a:pathLst>
                <a:path w="6680200" h="6849237">
                  <a:moveTo>
                    <a:pt x="0" y="215900"/>
                  </a:moveTo>
                  <a:cubicBezTo>
                    <a:pt x="0" y="96647"/>
                    <a:pt x="96647" y="0"/>
                    <a:pt x="215900" y="0"/>
                  </a:cubicBezTo>
                  <a:lnTo>
                    <a:pt x="6464300" y="0"/>
                  </a:lnTo>
                  <a:lnTo>
                    <a:pt x="6464300" y="12700"/>
                  </a:lnTo>
                  <a:lnTo>
                    <a:pt x="6464300" y="0"/>
                  </a:lnTo>
                  <a:cubicBezTo>
                    <a:pt x="6583553" y="0"/>
                    <a:pt x="6680200" y="96647"/>
                    <a:pt x="6680200" y="215900"/>
                  </a:cubicBezTo>
                  <a:lnTo>
                    <a:pt x="6667500" y="215900"/>
                  </a:lnTo>
                  <a:lnTo>
                    <a:pt x="6680200" y="215900"/>
                  </a:lnTo>
                  <a:lnTo>
                    <a:pt x="6680200" y="6633337"/>
                  </a:lnTo>
                  <a:lnTo>
                    <a:pt x="6667500" y="6633337"/>
                  </a:lnTo>
                  <a:lnTo>
                    <a:pt x="6680200" y="6633337"/>
                  </a:lnTo>
                  <a:cubicBezTo>
                    <a:pt x="6680200" y="6752590"/>
                    <a:pt x="6583553" y="6849237"/>
                    <a:pt x="6464300" y="6849237"/>
                  </a:cubicBezTo>
                  <a:lnTo>
                    <a:pt x="6464300" y="6836537"/>
                  </a:lnTo>
                  <a:lnTo>
                    <a:pt x="6464300" y="6849237"/>
                  </a:lnTo>
                  <a:lnTo>
                    <a:pt x="215900" y="6849237"/>
                  </a:lnTo>
                  <a:lnTo>
                    <a:pt x="215900" y="6836537"/>
                  </a:lnTo>
                  <a:lnTo>
                    <a:pt x="215900" y="6849237"/>
                  </a:lnTo>
                  <a:cubicBezTo>
                    <a:pt x="96647" y="6849237"/>
                    <a:pt x="0" y="6752590"/>
                    <a:pt x="0" y="6633337"/>
                  </a:cubicBezTo>
                  <a:lnTo>
                    <a:pt x="0" y="215900"/>
                  </a:lnTo>
                  <a:lnTo>
                    <a:pt x="12700" y="215900"/>
                  </a:lnTo>
                  <a:lnTo>
                    <a:pt x="0" y="215900"/>
                  </a:lnTo>
                  <a:moveTo>
                    <a:pt x="25400" y="215900"/>
                  </a:moveTo>
                  <a:lnTo>
                    <a:pt x="25400" y="6633337"/>
                  </a:lnTo>
                  <a:lnTo>
                    <a:pt x="12700" y="6633337"/>
                  </a:lnTo>
                  <a:lnTo>
                    <a:pt x="25400" y="6633337"/>
                  </a:lnTo>
                  <a:cubicBezTo>
                    <a:pt x="25400" y="6738493"/>
                    <a:pt x="110617" y="6823837"/>
                    <a:pt x="215900" y="6823837"/>
                  </a:cubicBezTo>
                  <a:lnTo>
                    <a:pt x="6464300" y="6823837"/>
                  </a:lnTo>
                  <a:cubicBezTo>
                    <a:pt x="6569456" y="6823837"/>
                    <a:pt x="6654800" y="6738493"/>
                    <a:pt x="6654800" y="6633337"/>
                  </a:cubicBezTo>
                  <a:lnTo>
                    <a:pt x="6654800" y="215900"/>
                  </a:lnTo>
                  <a:cubicBezTo>
                    <a:pt x="6654800" y="110744"/>
                    <a:pt x="6569583" y="25400"/>
                    <a:pt x="6464300" y="25400"/>
                  </a:cubicBezTo>
                  <a:lnTo>
                    <a:pt x="215900" y="25400"/>
                  </a:lnTo>
                  <a:lnTo>
                    <a:pt x="215900" y="12700"/>
                  </a:lnTo>
                  <a:lnTo>
                    <a:pt x="215900" y="25400"/>
                  </a:lnTo>
                  <a:cubicBezTo>
                    <a:pt x="110617" y="25400"/>
                    <a:pt x="25400" y="110744"/>
                    <a:pt x="25400" y="215900"/>
                  </a:cubicBezTo>
                  <a:close/>
                </a:path>
              </a:pathLst>
            </a:custGeom>
            <a:solidFill>
              <a:srgbClr val="1E3A5F"/>
            </a:solidFill>
          </p:spPr>
          <p:txBody>
            <a:bodyPr/>
            <a:lstStyle/>
            <a:p>
              <a:endParaRPr lang="en-US"/>
            </a:p>
          </p:txBody>
        </p:sp>
      </p:grpSp>
      <p:grpSp>
        <p:nvGrpSpPr>
          <p:cNvPr id="7" name="Group 7"/>
          <p:cNvGrpSpPr/>
          <p:nvPr/>
        </p:nvGrpSpPr>
        <p:grpSpPr>
          <a:xfrm>
            <a:off x="6670481" y="4054373"/>
            <a:ext cx="5010150" cy="5136956"/>
            <a:chOff x="0" y="0"/>
            <a:chExt cx="6680200" cy="6849275"/>
          </a:xfrm>
        </p:grpSpPr>
        <p:sp>
          <p:nvSpPr>
            <p:cNvPr id="8" name="Freeform 8"/>
            <p:cNvSpPr/>
            <p:nvPr/>
          </p:nvSpPr>
          <p:spPr>
            <a:xfrm>
              <a:off x="12700" y="12700"/>
              <a:ext cx="6654800" cy="6823837"/>
            </a:xfrm>
            <a:custGeom>
              <a:avLst/>
              <a:gdLst/>
              <a:ahLst/>
              <a:cxnLst/>
              <a:rect l="l" t="t" r="r" b="b"/>
              <a:pathLst>
                <a:path w="6654800" h="6823837">
                  <a:moveTo>
                    <a:pt x="0" y="203200"/>
                  </a:moveTo>
                  <a:cubicBezTo>
                    <a:pt x="0" y="90932"/>
                    <a:pt x="90932" y="0"/>
                    <a:pt x="203200" y="0"/>
                  </a:cubicBezTo>
                  <a:lnTo>
                    <a:pt x="6451600" y="0"/>
                  </a:lnTo>
                  <a:cubicBezTo>
                    <a:pt x="6563868" y="0"/>
                    <a:pt x="6654800" y="90932"/>
                    <a:pt x="6654800" y="203200"/>
                  </a:cubicBezTo>
                  <a:lnTo>
                    <a:pt x="6654800" y="6620637"/>
                  </a:lnTo>
                  <a:cubicBezTo>
                    <a:pt x="6654800" y="6732905"/>
                    <a:pt x="6563868" y="6823837"/>
                    <a:pt x="6451600" y="6823837"/>
                  </a:cubicBezTo>
                  <a:lnTo>
                    <a:pt x="203200" y="6823837"/>
                  </a:lnTo>
                  <a:cubicBezTo>
                    <a:pt x="90932" y="6823837"/>
                    <a:pt x="0" y="6732905"/>
                    <a:pt x="0" y="6620637"/>
                  </a:cubicBezTo>
                  <a:close/>
                </a:path>
              </a:pathLst>
            </a:custGeom>
            <a:solidFill>
              <a:srgbClr val="122236"/>
            </a:solidFill>
          </p:spPr>
          <p:txBody>
            <a:bodyPr/>
            <a:lstStyle/>
            <a:p>
              <a:endParaRPr lang="en-US"/>
            </a:p>
          </p:txBody>
        </p:sp>
        <p:sp>
          <p:nvSpPr>
            <p:cNvPr id="9" name="Freeform 9"/>
            <p:cNvSpPr/>
            <p:nvPr/>
          </p:nvSpPr>
          <p:spPr>
            <a:xfrm>
              <a:off x="0" y="0"/>
              <a:ext cx="6680200" cy="6849237"/>
            </a:xfrm>
            <a:custGeom>
              <a:avLst/>
              <a:gdLst/>
              <a:ahLst/>
              <a:cxnLst/>
              <a:rect l="l" t="t" r="r" b="b"/>
              <a:pathLst>
                <a:path w="6680200" h="6849237">
                  <a:moveTo>
                    <a:pt x="0" y="215900"/>
                  </a:moveTo>
                  <a:cubicBezTo>
                    <a:pt x="0" y="96647"/>
                    <a:pt x="96647" y="0"/>
                    <a:pt x="215900" y="0"/>
                  </a:cubicBezTo>
                  <a:lnTo>
                    <a:pt x="6464300" y="0"/>
                  </a:lnTo>
                  <a:lnTo>
                    <a:pt x="6464300" y="12700"/>
                  </a:lnTo>
                  <a:lnTo>
                    <a:pt x="6464300" y="0"/>
                  </a:lnTo>
                  <a:cubicBezTo>
                    <a:pt x="6583553" y="0"/>
                    <a:pt x="6680200" y="96647"/>
                    <a:pt x="6680200" y="215900"/>
                  </a:cubicBezTo>
                  <a:lnTo>
                    <a:pt x="6667500" y="215900"/>
                  </a:lnTo>
                  <a:lnTo>
                    <a:pt x="6680200" y="215900"/>
                  </a:lnTo>
                  <a:lnTo>
                    <a:pt x="6680200" y="6633337"/>
                  </a:lnTo>
                  <a:lnTo>
                    <a:pt x="6667500" y="6633337"/>
                  </a:lnTo>
                  <a:lnTo>
                    <a:pt x="6680200" y="6633337"/>
                  </a:lnTo>
                  <a:cubicBezTo>
                    <a:pt x="6680200" y="6752590"/>
                    <a:pt x="6583553" y="6849237"/>
                    <a:pt x="6464300" y="6849237"/>
                  </a:cubicBezTo>
                  <a:lnTo>
                    <a:pt x="6464300" y="6836537"/>
                  </a:lnTo>
                  <a:lnTo>
                    <a:pt x="6464300" y="6849237"/>
                  </a:lnTo>
                  <a:lnTo>
                    <a:pt x="215900" y="6849237"/>
                  </a:lnTo>
                  <a:lnTo>
                    <a:pt x="215900" y="6836537"/>
                  </a:lnTo>
                  <a:lnTo>
                    <a:pt x="215900" y="6849237"/>
                  </a:lnTo>
                  <a:cubicBezTo>
                    <a:pt x="96647" y="6849237"/>
                    <a:pt x="0" y="6752590"/>
                    <a:pt x="0" y="6633337"/>
                  </a:cubicBezTo>
                  <a:lnTo>
                    <a:pt x="0" y="215900"/>
                  </a:lnTo>
                  <a:lnTo>
                    <a:pt x="12700" y="215900"/>
                  </a:lnTo>
                  <a:lnTo>
                    <a:pt x="0" y="215900"/>
                  </a:lnTo>
                  <a:moveTo>
                    <a:pt x="25400" y="215900"/>
                  </a:moveTo>
                  <a:lnTo>
                    <a:pt x="25400" y="6633337"/>
                  </a:lnTo>
                  <a:lnTo>
                    <a:pt x="12700" y="6633337"/>
                  </a:lnTo>
                  <a:lnTo>
                    <a:pt x="25400" y="6633337"/>
                  </a:lnTo>
                  <a:cubicBezTo>
                    <a:pt x="25400" y="6738493"/>
                    <a:pt x="110617" y="6823837"/>
                    <a:pt x="215900" y="6823837"/>
                  </a:cubicBezTo>
                  <a:lnTo>
                    <a:pt x="6464300" y="6823837"/>
                  </a:lnTo>
                  <a:cubicBezTo>
                    <a:pt x="6569456" y="6823837"/>
                    <a:pt x="6654800" y="6738493"/>
                    <a:pt x="6654800" y="6633337"/>
                  </a:cubicBezTo>
                  <a:lnTo>
                    <a:pt x="6654800" y="215900"/>
                  </a:lnTo>
                  <a:cubicBezTo>
                    <a:pt x="6654800" y="110744"/>
                    <a:pt x="6569583" y="25400"/>
                    <a:pt x="6464300" y="25400"/>
                  </a:cubicBezTo>
                  <a:lnTo>
                    <a:pt x="215900" y="25400"/>
                  </a:lnTo>
                  <a:lnTo>
                    <a:pt x="215900" y="12700"/>
                  </a:lnTo>
                  <a:lnTo>
                    <a:pt x="215900" y="25400"/>
                  </a:lnTo>
                  <a:cubicBezTo>
                    <a:pt x="110617" y="25400"/>
                    <a:pt x="25400" y="110744"/>
                    <a:pt x="25400" y="215900"/>
                  </a:cubicBezTo>
                  <a:close/>
                </a:path>
              </a:pathLst>
            </a:custGeom>
            <a:solidFill>
              <a:srgbClr val="1E3A5F"/>
            </a:solidFill>
          </p:spPr>
          <p:txBody>
            <a:bodyPr/>
            <a:lstStyle/>
            <a:p>
              <a:endParaRPr lang="en-US"/>
            </a:p>
          </p:txBody>
        </p:sp>
      </p:grpSp>
      <p:grpSp>
        <p:nvGrpSpPr>
          <p:cNvPr id="10" name="Group 10"/>
          <p:cNvGrpSpPr/>
          <p:nvPr/>
        </p:nvGrpSpPr>
        <p:grpSpPr>
          <a:xfrm>
            <a:off x="11826773" y="4054373"/>
            <a:ext cx="5010150" cy="5136956"/>
            <a:chOff x="0" y="0"/>
            <a:chExt cx="6680200" cy="6849275"/>
          </a:xfrm>
        </p:grpSpPr>
        <p:sp>
          <p:nvSpPr>
            <p:cNvPr id="11" name="Freeform 11"/>
            <p:cNvSpPr/>
            <p:nvPr/>
          </p:nvSpPr>
          <p:spPr>
            <a:xfrm>
              <a:off x="12700" y="12700"/>
              <a:ext cx="6654800" cy="6823837"/>
            </a:xfrm>
            <a:custGeom>
              <a:avLst/>
              <a:gdLst/>
              <a:ahLst/>
              <a:cxnLst/>
              <a:rect l="l" t="t" r="r" b="b"/>
              <a:pathLst>
                <a:path w="6654800" h="6823837">
                  <a:moveTo>
                    <a:pt x="0" y="203200"/>
                  </a:moveTo>
                  <a:cubicBezTo>
                    <a:pt x="0" y="90932"/>
                    <a:pt x="90932" y="0"/>
                    <a:pt x="203200" y="0"/>
                  </a:cubicBezTo>
                  <a:lnTo>
                    <a:pt x="6451600" y="0"/>
                  </a:lnTo>
                  <a:cubicBezTo>
                    <a:pt x="6563868" y="0"/>
                    <a:pt x="6654800" y="90932"/>
                    <a:pt x="6654800" y="203200"/>
                  </a:cubicBezTo>
                  <a:lnTo>
                    <a:pt x="6654800" y="6620637"/>
                  </a:lnTo>
                  <a:cubicBezTo>
                    <a:pt x="6654800" y="6732905"/>
                    <a:pt x="6563868" y="6823837"/>
                    <a:pt x="6451600" y="6823837"/>
                  </a:cubicBezTo>
                  <a:lnTo>
                    <a:pt x="203200" y="6823837"/>
                  </a:lnTo>
                  <a:cubicBezTo>
                    <a:pt x="90932" y="6823837"/>
                    <a:pt x="0" y="6732905"/>
                    <a:pt x="0" y="6620637"/>
                  </a:cubicBezTo>
                  <a:close/>
                </a:path>
              </a:pathLst>
            </a:custGeom>
            <a:solidFill>
              <a:srgbClr val="122236"/>
            </a:solidFill>
          </p:spPr>
          <p:txBody>
            <a:bodyPr/>
            <a:lstStyle/>
            <a:p>
              <a:endParaRPr lang="en-US"/>
            </a:p>
          </p:txBody>
        </p:sp>
        <p:sp>
          <p:nvSpPr>
            <p:cNvPr id="12" name="Freeform 12"/>
            <p:cNvSpPr/>
            <p:nvPr/>
          </p:nvSpPr>
          <p:spPr>
            <a:xfrm>
              <a:off x="0" y="0"/>
              <a:ext cx="6680200" cy="6849237"/>
            </a:xfrm>
            <a:custGeom>
              <a:avLst/>
              <a:gdLst/>
              <a:ahLst/>
              <a:cxnLst/>
              <a:rect l="l" t="t" r="r" b="b"/>
              <a:pathLst>
                <a:path w="6680200" h="6849237">
                  <a:moveTo>
                    <a:pt x="0" y="215900"/>
                  </a:moveTo>
                  <a:cubicBezTo>
                    <a:pt x="0" y="96647"/>
                    <a:pt x="96647" y="0"/>
                    <a:pt x="215900" y="0"/>
                  </a:cubicBezTo>
                  <a:lnTo>
                    <a:pt x="6464300" y="0"/>
                  </a:lnTo>
                  <a:lnTo>
                    <a:pt x="6464300" y="12700"/>
                  </a:lnTo>
                  <a:lnTo>
                    <a:pt x="6464300" y="0"/>
                  </a:lnTo>
                  <a:cubicBezTo>
                    <a:pt x="6583553" y="0"/>
                    <a:pt x="6680200" y="96647"/>
                    <a:pt x="6680200" y="215900"/>
                  </a:cubicBezTo>
                  <a:lnTo>
                    <a:pt x="6667500" y="215900"/>
                  </a:lnTo>
                  <a:lnTo>
                    <a:pt x="6680200" y="215900"/>
                  </a:lnTo>
                  <a:lnTo>
                    <a:pt x="6680200" y="6633337"/>
                  </a:lnTo>
                  <a:lnTo>
                    <a:pt x="6667500" y="6633337"/>
                  </a:lnTo>
                  <a:lnTo>
                    <a:pt x="6680200" y="6633337"/>
                  </a:lnTo>
                  <a:cubicBezTo>
                    <a:pt x="6680200" y="6752590"/>
                    <a:pt x="6583553" y="6849237"/>
                    <a:pt x="6464300" y="6849237"/>
                  </a:cubicBezTo>
                  <a:lnTo>
                    <a:pt x="6464300" y="6836537"/>
                  </a:lnTo>
                  <a:lnTo>
                    <a:pt x="6464300" y="6849237"/>
                  </a:lnTo>
                  <a:lnTo>
                    <a:pt x="215900" y="6849237"/>
                  </a:lnTo>
                  <a:lnTo>
                    <a:pt x="215900" y="6836537"/>
                  </a:lnTo>
                  <a:lnTo>
                    <a:pt x="215900" y="6849237"/>
                  </a:lnTo>
                  <a:cubicBezTo>
                    <a:pt x="96647" y="6849237"/>
                    <a:pt x="0" y="6752590"/>
                    <a:pt x="0" y="6633337"/>
                  </a:cubicBezTo>
                  <a:lnTo>
                    <a:pt x="0" y="215900"/>
                  </a:lnTo>
                  <a:lnTo>
                    <a:pt x="12700" y="215900"/>
                  </a:lnTo>
                  <a:lnTo>
                    <a:pt x="0" y="215900"/>
                  </a:lnTo>
                  <a:moveTo>
                    <a:pt x="25400" y="215900"/>
                  </a:moveTo>
                  <a:lnTo>
                    <a:pt x="25400" y="6633337"/>
                  </a:lnTo>
                  <a:lnTo>
                    <a:pt x="12700" y="6633337"/>
                  </a:lnTo>
                  <a:lnTo>
                    <a:pt x="25400" y="6633337"/>
                  </a:lnTo>
                  <a:cubicBezTo>
                    <a:pt x="25400" y="6738493"/>
                    <a:pt x="110617" y="6823837"/>
                    <a:pt x="215900" y="6823837"/>
                  </a:cubicBezTo>
                  <a:lnTo>
                    <a:pt x="6464300" y="6823837"/>
                  </a:lnTo>
                  <a:cubicBezTo>
                    <a:pt x="6569456" y="6823837"/>
                    <a:pt x="6654800" y="6738493"/>
                    <a:pt x="6654800" y="6633337"/>
                  </a:cubicBezTo>
                  <a:lnTo>
                    <a:pt x="6654800" y="215900"/>
                  </a:lnTo>
                  <a:cubicBezTo>
                    <a:pt x="6654800" y="110744"/>
                    <a:pt x="6569583" y="25400"/>
                    <a:pt x="6464300" y="25400"/>
                  </a:cubicBezTo>
                  <a:lnTo>
                    <a:pt x="215900" y="25400"/>
                  </a:lnTo>
                  <a:lnTo>
                    <a:pt x="215900" y="12700"/>
                  </a:lnTo>
                  <a:lnTo>
                    <a:pt x="215900" y="25400"/>
                  </a:lnTo>
                  <a:cubicBezTo>
                    <a:pt x="110617" y="25400"/>
                    <a:pt x="25400" y="110744"/>
                    <a:pt x="25400" y="215900"/>
                  </a:cubicBezTo>
                  <a:close/>
                </a:path>
              </a:pathLst>
            </a:custGeom>
            <a:solidFill>
              <a:srgbClr val="1E3A5F"/>
            </a:solidFill>
          </p:spPr>
          <p:txBody>
            <a:bodyPr/>
            <a:lstStyle/>
            <a:p>
              <a:endParaRPr lang="en-US"/>
            </a:p>
          </p:txBody>
        </p:sp>
      </p:grpSp>
      <p:sp>
        <p:nvSpPr>
          <p:cNvPr id="13" name="TextBox 13"/>
          <p:cNvSpPr txBox="1"/>
          <p:nvPr/>
        </p:nvSpPr>
        <p:spPr>
          <a:xfrm>
            <a:off x="1474470" y="4425848"/>
            <a:ext cx="5052060" cy="419100"/>
          </a:xfrm>
          <a:prstGeom prst="rect">
            <a:avLst/>
          </a:prstGeom>
        </p:spPr>
        <p:txBody>
          <a:bodyPr lIns="0" tIns="0" rIns="0" bIns="0" rtlCol="0" anchor="t">
            <a:spAutoFit/>
          </a:bodyPr>
          <a:lstStyle/>
          <a:p>
            <a:pPr algn="ctr">
              <a:lnSpc>
                <a:spcPts val="3120"/>
              </a:lnSpc>
            </a:pPr>
            <a:r>
              <a:rPr lang="en-US" sz="2600" b="1">
                <a:solidFill>
                  <a:srgbClr val="22D3EE"/>
                </a:solidFill>
                <a:latin typeface="Arial Bold"/>
                <a:ea typeface="Arial Bold"/>
                <a:cs typeface="Arial Bold"/>
                <a:sym typeface="Arial Bold"/>
              </a:rPr>
              <a:t>RAY CASTING</a:t>
            </a:r>
          </a:p>
        </p:txBody>
      </p:sp>
      <p:sp>
        <p:nvSpPr>
          <p:cNvPr id="14" name="TextBox 14"/>
          <p:cNvSpPr txBox="1"/>
          <p:nvPr/>
        </p:nvSpPr>
        <p:spPr>
          <a:xfrm>
            <a:off x="1474470" y="4936931"/>
            <a:ext cx="5052060" cy="295275"/>
          </a:xfrm>
          <a:prstGeom prst="rect">
            <a:avLst/>
          </a:prstGeom>
        </p:spPr>
        <p:txBody>
          <a:bodyPr lIns="0" tIns="0" rIns="0" bIns="0" rtlCol="0" anchor="t">
            <a:spAutoFit/>
          </a:bodyPr>
          <a:lstStyle/>
          <a:p>
            <a:pPr algn="ctr">
              <a:lnSpc>
                <a:spcPts val="2400"/>
              </a:lnSpc>
            </a:pPr>
            <a:r>
              <a:rPr lang="en-US" sz="2000">
                <a:solidFill>
                  <a:srgbClr val="94A3B8"/>
                </a:solidFill>
                <a:latin typeface="Arial"/>
                <a:ea typeface="Arial"/>
                <a:cs typeface="Arial"/>
                <a:sym typeface="Arial"/>
              </a:rPr>
              <a:t>Count edge crossings — odd = inside</a:t>
            </a:r>
          </a:p>
        </p:txBody>
      </p:sp>
      <p:sp>
        <p:nvSpPr>
          <p:cNvPr id="15" name="TextBox 15"/>
          <p:cNvSpPr txBox="1"/>
          <p:nvPr/>
        </p:nvSpPr>
        <p:spPr>
          <a:xfrm>
            <a:off x="6630476" y="4425848"/>
            <a:ext cx="5052060" cy="419100"/>
          </a:xfrm>
          <a:prstGeom prst="rect">
            <a:avLst/>
          </a:prstGeom>
        </p:spPr>
        <p:txBody>
          <a:bodyPr lIns="0" tIns="0" rIns="0" bIns="0" rtlCol="0" anchor="t">
            <a:spAutoFit/>
          </a:bodyPr>
          <a:lstStyle/>
          <a:p>
            <a:pPr algn="ctr">
              <a:lnSpc>
                <a:spcPts val="3120"/>
              </a:lnSpc>
            </a:pPr>
            <a:r>
              <a:rPr lang="en-US" sz="2600" b="1">
                <a:solidFill>
                  <a:srgbClr val="22D3EE"/>
                </a:solidFill>
                <a:latin typeface="Arial Bold"/>
                <a:ea typeface="Arial Bold"/>
                <a:cs typeface="Arial Bold"/>
                <a:sym typeface="Arial Bold"/>
              </a:rPr>
              <a:t>QUADTREE</a:t>
            </a:r>
          </a:p>
        </p:txBody>
      </p:sp>
      <p:sp>
        <p:nvSpPr>
          <p:cNvPr id="16" name="TextBox 16"/>
          <p:cNvSpPr txBox="1"/>
          <p:nvPr/>
        </p:nvSpPr>
        <p:spPr>
          <a:xfrm>
            <a:off x="6630476" y="4936931"/>
            <a:ext cx="5052060" cy="295275"/>
          </a:xfrm>
          <a:prstGeom prst="rect">
            <a:avLst/>
          </a:prstGeom>
        </p:spPr>
        <p:txBody>
          <a:bodyPr lIns="0" tIns="0" rIns="0" bIns="0" rtlCol="0" anchor="t">
            <a:spAutoFit/>
          </a:bodyPr>
          <a:lstStyle/>
          <a:p>
            <a:pPr algn="ctr">
              <a:lnSpc>
                <a:spcPts val="2400"/>
              </a:lnSpc>
            </a:pPr>
            <a:r>
              <a:rPr lang="en-US" sz="2000">
                <a:solidFill>
                  <a:srgbClr val="94A3B8"/>
                </a:solidFill>
                <a:latin typeface="Arial"/>
                <a:ea typeface="Arial"/>
                <a:cs typeface="Arial"/>
                <a:sym typeface="Arial"/>
              </a:rPr>
              <a:t>Recursive 4-way subdivision</a:t>
            </a:r>
          </a:p>
        </p:txBody>
      </p:sp>
      <p:sp>
        <p:nvSpPr>
          <p:cNvPr id="17" name="TextBox 17"/>
          <p:cNvSpPr txBox="1"/>
          <p:nvPr/>
        </p:nvSpPr>
        <p:spPr>
          <a:xfrm>
            <a:off x="11786768" y="4425848"/>
            <a:ext cx="5052060" cy="419100"/>
          </a:xfrm>
          <a:prstGeom prst="rect">
            <a:avLst/>
          </a:prstGeom>
        </p:spPr>
        <p:txBody>
          <a:bodyPr lIns="0" tIns="0" rIns="0" bIns="0" rtlCol="0" anchor="t">
            <a:spAutoFit/>
          </a:bodyPr>
          <a:lstStyle/>
          <a:p>
            <a:pPr algn="ctr">
              <a:lnSpc>
                <a:spcPts val="3120"/>
              </a:lnSpc>
            </a:pPr>
            <a:r>
              <a:rPr lang="en-US" sz="2600" b="1">
                <a:solidFill>
                  <a:srgbClr val="22D3EE"/>
                </a:solidFill>
                <a:latin typeface="Arial Bold"/>
                <a:ea typeface="Arial Bold"/>
                <a:cs typeface="Arial Bold"/>
                <a:sym typeface="Arial Bold"/>
              </a:rPr>
              <a:t>STRIP INDEX</a:t>
            </a:r>
          </a:p>
        </p:txBody>
      </p:sp>
      <p:sp>
        <p:nvSpPr>
          <p:cNvPr id="18" name="TextBox 18"/>
          <p:cNvSpPr txBox="1"/>
          <p:nvPr/>
        </p:nvSpPr>
        <p:spPr>
          <a:xfrm>
            <a:off x="11786768" y="4936931"/>
            <a:ext cx="5052060" cy="295275"/>
          </a:xfrm>
          <a:prstGeom prst="rect">
            <a:avLst/>
          </a:prstGeom>
        </p:spPr>
        <p:txBody>
          <a:bodyPr lIns="0" tIns="0" rIns="0" bIns="0" rtlCol="0" anchor="t">
            <a:spAutoFit/>
          </a:bodyPr>
          <a:lstStyle/>
          <a:p>
            <a:pPr algn="ctr">
              <a:lnSpc>
                <a:spcPts val="2400"/>
              </a:lnSpc>
            </a:pPr>
            <a:r>
              <a:rPr lang="en-US" sz="2000">
                <a:solidFill>
                  <a:srgbClr val="94A3B8"/>
                </a:solidFill>
                <a:latin typeface="Arial"/>
                <a:ea typeface="Arial"/>
                <a:cs typeface="Arial"/>
                <a:sym typeface="Arial"/>
              </a:rPr>
              <a:t>Horizontal bands for fast lookup</a:t>
            </a:r>
          </a:p>
        </p:txBody>
      </p:sp>
      <p:grpSp>
        <p:nvGrpSpPr>
          <p:cNvPr id="19" name="Group 19"/>
          <p:cNvGrpSpPr/>
          <p:nvPr/>
        </p:nvGrpSpPr>
        <p:grpSpPr>
          <a:xfrm>
            <a:off x="1895475" y="5578373"/>
            <a:ext cx="4248150" cy="2850956"/>
            <a:chOff x="0" y="0"/>
            <a:chExt cx="5664200" cy="3801275"/>
          </a:xfrm>
        </p:grpSpPr>
        <p:sp>
          <p:nvSpPr>
            <p:cNvPr id="20" name="Freeform 20"/>
            <p:cNvSpPr/>
            <p:nvPr/>
          </p:nvSpPr>
          <p:spPr>
            <a:xfrm>
              <a:off x="12700" y="12700"/>
              <a:ext cx="5638800" cy="3775837"/>
            </a:xfrm>
            <a:custGeom>
              <a:avLst/>
              <a:gdLst/>
              <a:ahLst/>
              <a:cxnLst/>
              <a:rect l="l" t="t" r="r" b="b"/>
              <a:pathLst>
                <a:path w="5638800" h="3775837">
                  <a:moveTo>
                    <a:pt x="0" y="0"/>
                  </a:moveTo>
                  <a:lnTo>
                    <a:pt x="5638800" y="0"/>
                  </a:lnTo>
                  <a:lnTo>
                    <a:pt x="5638800" y="3775837"/>
                  </a:lnTo>
                  <a:lnTo>
                    <a:pt x="0" y="3775837"/>
                  </a:lnTo>
                  <a:close/>
                </a:path>
              </a:pathLst>
            </a:custGeom>
            <a:solidFill>
              <a:srgbClr val="0A1628"/>
            </a:solidFill>
          </p:spPr>
          <p:txBody>
            <a:bodyPr/>
            <a:lstStyle/>
            <a:p>
              <a:endParaRPr lang="en-US"/>
            </a:p>
          </p:txBody>
        </p:sp>
        <p:sp>
          <p:nvSpPr>
            <p:cNvPr id="21" name="Freeform 21"/>
            <p:cNvSpPr/>
            <p:nvPr/>
          </p:nvSpPr>
          <p:spPr>
            <a:xfrm>
              <a:off x="0" y="0"/>
              <a:ext cx="5664200" cy="3801237"/>
            </a:xfrm>
            <a:custGeom>
              <a:avLst/>
              <a:gdLst/>
              <a:ahLst/>
              <a:cxnLst/>
              <a:rect l="l" t="t" r="r" b="b"/>
              <a:pathLst>
                <a:path w="5664200" h="3801237">
                  <a:moveTo>
                    <a:pt x="12700" y="0"/>
                  </a:moveTo>
                  <a:lnTo>
                    <a:pt x="5651500" y="0"/>
                  </a:lnTo>
                  <a:cubicBezTo>
                    <a:pt x="5658485" y="0"/>
                    <a:pt x="5664200" y="5715"/>
                    <a:pt x="5664200" y="12700"/>
                  </a:cubicBezTo>
                  <a:lnTo>
                    <a:pt x="5664200" y="3788537"/>
                  </a:lnTo>
                  <a:cubicBezTo>
                    <a:pt x="5664200" y="3795522"/>
                    <a:pt x="5658485" y="3801237"/>
                    <a:pt x="5651500" y="3801237"/>
                  </a:cubicBezTo>
                  <a:lnTo>
                    <a:pt x="12700" y="3801237"/>
                  </a:lnTo>
                  <a:cubicBezTo>
                    <a:pt x="5715" y="3801237"/>
                    <a:pt x="0" y="3795522"/>
                    <a:pt x="0" y="3788537"/>
                  </a:cubicBezTo>
                  <a:lnTo>
                    <a:pt x="0" y="12700"/>
                  </a:lnTo>
                  <a:cubicBezTo>
                    <a:pt x="0" y="5715"/>
                    <a:pt x="5715" y="0"/>
                    <a:pt x="12700" y="0"/>
                  </a:cubicBezTo>
                  <a:moveTo>
                    <a:pt x="12700" y="25400"/>
                  </a:moveTo>
                  <a:lnTo>
                    <a:pt x="12700" y="12700"/>
                  </a:lnTo>
                  <a:lnTo>
                    <a:pt x="25400" y="12700"/>
                  </a:lnTo>
                  <a:lnTo>
                    <a:pt x="25400" y="3788537"/>
                  </a:lnTo>
                  <a:lnTo>
                    <a:pt x="12700" y="3788537"/>
                  </a:lnTo>
                  <a:lnTo>
                    <a:pt x="12700" y="3775837"/>
                  </a:lnTo>
                  <a:lnTo>
                    <a:pt x="5651500" y="3775837"/>
                  </a:lnTo>
                  <a:lnTo>
                    <a:pt x="5651500" y="3788537"/>
                  </a:lnTo>
                  <a:lnTo>
                    <a:pt x="5638800" y="3788537"/>
                  </a:lnTo>
                  <a:lnTo>
                    <a:pt x="5638800" y="12700"/>
                  </a:lnTo>
                  <a:lnTo>
                    <a:pt x="5651500" y="12700"/>
                  </a:lnTo>
                  <a:lnTo>
                    <a:pt x="5651500" y="25400"/>
                  </a:lnTo>
                  <a:lnTo>
                    <a:pt x="12700" y="25400"/>
                  </a:lnTo>
                  <a:close/>
                </a:path>
              </a:pathLst>
            </a:custGeom>
            <a:solidFill>
              <a:srgbClr val="1E3A5F"/>
            </a:solidFill>
          </p:spPr>
          <p:txBody>
            <a:bodyPr/>
            <a:lstStyle/>
            <a:p>
              <a:endParaRPr lang="en-US"/>
            </a:p>
          </p:txBody>
        </p:sp>
      </p:grpSp>
      <p:grpSp>
        <p:nvGrpSpPr>
          <p:cNvPr id="22" name="Group 22"/>
          <p:cNvGrpSpPr/>
          <p:nvPr/>
        </p:nvGrpSpPr>
        <p:grpSpPr>
          <a:xfrm>
            <a:off x="2774756" y="5949848"/>
            <a:ext cx="2400300" cy="1892198"/>
            <a:chOff x="0" y="0"/>
            <a:chExt cx="3200400" cy="2522931"/>
          </a:xfrm>
        </p:grpSpPr>
        <p:sp>
          <p:nvSpPr>
            <p:cNvPr id="23" name="Freeform 23"/>
            <p:cNvSpPr/>
            <p:nvPr/>
          </p:nvSpPr>
          <p:spPr>
            <a:xfrm>
              <a:off x="0" y="0"/>
              <a:ext cx="3200400" cy="2522982"/>
            </a:xfrm>
            <a:custGeom>
              <a:avLst/>
              <a:gdLst/>
              <a:ahLst/>
              <a:cxnLst/>
              <a:rect l="l" t="t" r="r" b="b"/>
              <a:pathLst>
                <a:path w="3200400" h="2522982">
                  <a:moveTo>
                    <a:pt x="25400" y="0"/>
                  </a:moveTo>
                  <a:lnTo>
                    <a:pt x="3175000" y="0"/>
                  </a:lnTo>
                  <a:cubicBezTo>
                    <a:pt x="3188970" y="0"/>
                    <a:pt x="3200400" y="11430"/>
                    <a:pt x="3200400" y="25400"/>
                  </a:cubicBezTo>
                  <a:lnTo>
                    <a:pt x="3200400" y="2497582"/>
                  </a:lnTo>
                  <a:cubicBezTo>
                    <a:pt x="3200400" y="2511552"/>
                    <a:pt x="3188970" y="2522982"/>
                    <a:pt x="3175000" y="2522982"/>
                  </a:cubicBezTo>
                  <a:lnTo>
                    <a:pt x="25400" y="2522982"/>
                  </a:lnTo>
                  <a:cubicBezTo>
                    <a:pt x="11430" y="2522982"/>
                    <a:pt x="0" y="2511552"/>
                    <a:pt x="0" y="2497582"/>
                  </a:cubicBezTo>
                  <a:lnTo>
                    <a:pt x="0" y="25400"/>
                  </a:lnTo>
                  <a:cubicBezTo>
                    <a:pt x="0" y="11430"/>
                    <a:pt x="11430" y="0"/>
                    <a:pt x="25400" y="0"/>
                  </a:cubicBezTo>
                  <a:moveTo>
                    <a:pt x="25400" y="50800"/>
                  </a:moveTo>
                  <a:lnTo>
                    <a:pt x="25400" y="25400"/>
                  </a:lnTo>
                  <a:lnTo>
                    <a:pt x="50800" y="25400"/>
                  </a:lnTo>
                  <a:lnTo>
                    <a:pt x="50800" y="2497582"/>
                  </a:lnTo>
                  <a:lnTo>
                    <a:pt x="25400" y="2497582"/>
                  </a:lnTo>
                  <a:lnTo>
                    <a:pt x="25400" y="2472182"/>
                  </a:lnTo>
                  <a:lnTo>
                    <a:pt x="3175000" y="2472182"/>
                  </a:lnTo>
                  <a:lnTo>
                    <a:pt x="3175000" y="2497582"/>
                  </a:lnTo>
                  <a:lnTo>
                    <a:pt x="3149600" y="2497582"/>
                  </a:lnTo>
                  <a:lnTo>
                    <a:pt x="3149600" y="25400"/>
                  </a:lnTo>
                  <a:lnTo>
                    <a:pt x="3175000" y="25400"/>
                  </a:lnTo>
                  <a:lnTo>
                    <a:pt x="3175000" y="50800"/>
                  </a:lnTo>
                  <a:lnTo>
                    <a:pt x="25400" y="50800"/>
                  </a:lnTo>
                  <a:close/>
                </a:path>
              </a:pathLst>
            </a:custGeom>
            <a:solidFill>
              <a:srgbClr val="94A3B8"/>
            </a:solidFill>
          </p:spPr>
          <p:txBody>
            <a:bodyPr/>
            <a:lstStyle/>
            <a:p>
              <a:endParaRPr lang="en-US"/>
            </a:p>
          </p:txBody>
        </p:sp>
      </p:grpSp>
      <p:grpSp>
        <p:nvGrpSpPr>
          <p:cNvPr id="24" name="Group 24"/>
          <p:cNvGrpSpPr/>
          <p:nvPr/>
        </p:nvGrpSpPr>
        <p:grpSpPr>
          <a:xfrm>
            <a:off x="2031806" y="6858000"/>
            <a:ext cx="3936806" cy="50606"/>
            <a:chOff x="0" y="0"/>
            <a:chExt cx="5249075" cy="67475"/>
          </a:xfrm>
        </p:grpSpPr>
        <p:sp>
          <p:nvSpPr>
            <p:cNvPr id="25" name="Freeform 25"/>
            <p:cNvSpPr/>
            <p:nvPr/>
          </p:nvSpPr>
          <p:spPr>
            <a:xfrm>
              <a:off x="0" y="0"/>
              <a:ext cx="5249037" cy="67437"/>
            </a:xfrm>
            <a:custGeom>
              <a:avLst/>
              <a:gdLst/>
              <a:ahLst/>
              <a:cxnLst/>
              <a:rect l="l" t="t" r="r" b="b"/>
              <a:pathLst>
                <a:path w="5249037" h="67437">
                  <a:moveTo>
                    <a:pt x="0" y="0"/>
                  </a:moveTo>
                  <a:lnTo>
                    <a:pt x="5249037" y="0"/>
                  </a:lnTo>
                  <a:lnTo>
                    <a:pt x="5249037" y="67437"/>
                  </a:lnTo>
                  <a:lnTo>
                    <a:pt x="0" y="67437"/>
                  </a:lnTo>
                  <a:close/>
                </a:path>
              </a:pathLst>
            </a:custGeom>
            <a:solidFill>
              <a:srgbClr val="22D3EE"/>
            </a:solidFill>
          </p:spPr>
          <p:txBody>
            <a:bodyPr/>
            <a:lstStyle/>
            <a:p>
              <a:endParaRPr lang="en-US"/>
            </a:p>
          </p:txBody>
        </p:sp>
      </p:grpSp>
      <p:grpSp>
        <p:nvGrpSpPr>
          <p:cNvPr id="26" name="Group 26"/>
          <p:cNvGrpSpPr/>
          <p:nvPr/>
        </p:nvGrpSpPr>
        <p:grpSpPr>
          <a:xfrm>
            <a:off x="5756081" y="6705600"/>
            <a:ext cx="361950" cy="171450"/>
            <a:chOff x="0" y="0"/>
            <a:chExt cx="482600" cy="228600"/>
          </a:xfrm>
        </p:grpSpPr>
        <p:sp>
          <p:nvSpPr>
            <p:cNvPr id="27" name="Freeform 27"/>
            <p:cNvSpPr/>
            <p:nvPr/>
          </p:nvSpPr>
          <p:spPr>
            <a:xfrm>
              <a:off x="114300" y="0"/>
              <a:ext cx="254000" cy="228600"/>
            </a:xfrm>
            <a:custGeom>
              <a:avLst/>
              <a:gdLst/>
              <a:ahLst/>
              <a:cxnLst/>
              <a:rect l="l" t="t" r="r" b="b"/>
              <a:pathLst>
                <a:path w="254000" h="228600">
                  <a:moveTo>
                    <a:pt x="0" y="0"/>
                  </a:moveTo>
                  <a:lnTo>
                    <a:pt x="254000" y="0"/>
                  </a:lnTo>
                  <a:lnTo>
                    <a:pt x="254000" y="228600"/>
                  </a:lnTo>
                  <a:lnTo>
                    <a:pt x="0" y="228600"/>
                  </a:lnTo>
                  <a:close/>
                </a:path>
              </a:pathLst>
            </a:custGeom>
            <a:solidFill>
              <a:srgbClr val="FFFFFF"/>
            </a:solidFill>
          </p:spPr>
          <p:txBody>
            <a:bodyPr/>
            <a:lstStyle/>
            <a:p>
              <a:endParaRPr lang="en-US"/>
            </a:p>
          </p:txBody>
        </p:sp>
      </p:grpSp>
      <p:grpSp>
        <p:nvGrpSpPr>
          <p:cNvPr id="28" name="Group 28"/>
          <p:cNvGrpSpPr/>
          <p:nvPr/>
        </p:nvGrpSpPr>
        <p:grpSpPr>
          <a:xfrm>
            <a:off x="5756081" y="6877050"/>
            <a:ext cx="361950" cy="171450"/>
            <a:chOff x="0" y="0"/>
            <a:chExt cx="482600" cy="228600"/>
          </a:xfrm>
        </p:grpSpPr>
        <p:sp>
          <p:nvSpPr>
            <p:cNvPr id="29" name="Freeform 29"/>
            <p:cNvSpPr/>
            <p:nvPr/>
          </p:nvSpPr>
          <p:spPr>
            <a:xfrm>
              <a:off x="114300" y="0"/>
              <a:ext cx="254000" cy="228600"/>
            </a:xfrm>
            <a:custGeom>
              <a:avLst/>
              <a:gdLst/>
              <a:ahLst/>
              <a:cxnLst/>
              <a:rect l="l" t="t" r="r" b="b"/>
              <a:pathLst>
                <a:path w="254000" h="228600">
                  <a:moveTo>
                    <a:pt x="0" y="0"/>
                  </a:moveTo>
                  <a:lnTo>
                    <a:pt x="254000" y="0"/>
                  </a:lnTo>
                  <a:lnTo>
                    <a:pt x="254000" y="228600"/>
                  </a:lnTo>
                  <a:lnTo>
                    <a:pt x="0" y="228600"/>
                  </a:lnTo>
                  <a:close/>
                </a:path>
              </a:pathLst>
            </a:custGeom>
            <a:solidFill>
              <a:srgbClr val="FFFFFF"/>
            </a:solidFill>
          </p:spPr>
          <p:txBody>
            <a:bodyPr/>
            <a:lstStyle/>
            <a:p>
              <a:endParaRPr lang="en-US"/>
            </a:p>
          </p:txBody>
        </p:sp>
      </p:grpSp>
      <p:grpSp>
        <p:nvGrpSpPr>
          <p:cNvPr id="30" name="Group 30"/>
          <p:cNvGrpSpPr/>
          <p:nvPr/>
        </p:nvGrpSpPr>
        <p:grpSpPr>
          <a:xfrm>
            <a:off x="5841806" y="6610350"/>
            <a:ext cx="190500" cy="533400"/>
            <a:chOff x="0" y="0"/>
            <a:chExt cx="254000" cy="711200"/>
          </a:xfrm>
        </p:grpSpPr>
        <p:sp>
          <p:nvSpPr>
            <p:cNvPr id="31" name="Freeform 31"/>
            <p:cNvSpPr/>
            <p:nvPr/>
          </p:nvSpPr>
          <p:spPr>
            <a:xfrm>
              <a:off x="0" y="127000"/>
              <a:ext cx="254000" cy="457200"/>
            </a:xfrm>
            <a:custGeom>
              <a:avLst/>
              <a:gdLst/>
              <a:ahLst/>
              <a:cxnLst/>
              <a:rect l="l" t="t" r="r" b="b"/>
              <a:pathLst>
                <a:path w="254000" h="457200">
                  <a:moveTo>
                    <a:pt x="254000" y="0"/>
                  </a:moveTo>
                  <a:lnTo>
                    <a:pt x="254000" y="457200"/>
                  </a:lnTo>
                  <a:lnTo>
                    <a:pt x="0" y="457200"/>
                  </a:lnTo>
                  <a:lnTo>
                    <a:pt x="0" y="0"/>
                  </a:lnTo>
                  <a:close/>
                </a:path>
              </a:pathLst>
            </a:custGeom>
            <a:solidFill>
              <a:srgbClr val="22D3EE"/>
            </a:solidFill>
          </p:spPr>
          <p:txBody>
            <a:bodyPr/>
            <a:lstStyle/>
            <a:p>
              <a:endParaRPr lang="en-US"/>
            </a:p>
          </p:txBody>
        </p:sp>
      </p:grpSp>
      <p:grpSp>
        <p:nvGrpSpPr>
          <p:cNvPr id="32" name="Group 32"/>
          <p:cNvGrpSpPr/>
          <p:nvPr/>
        </p:nvGrpSpPr>
        <p:grpSpPr>
          <a:xfrm>
            <a:off x="2743200" y="6807098"/>
            <a:ext cx="126806" cy="126806"/>
            <a:chOff x="0" y="0"/>
            <a:chExt cx="169075" cy="169075"/>
          </a:xfrm>
        </p:grpSpPr>
        <p:sp>
          <p:nvSpPr>
            <p:cNvPr id="33" name="Freeform 33"/>
            <p:cNvSpPr/>
            <p:nvPr/>
          </p:nvSpPr>
          <p:spPr>
            <a:xfrm>
              <a:off x="0" y="0"/>
              <a:ext cx="169164" cy="169164"/>
            </a:xfrm>
            <a:custGeom>
              <a:avLst/>
              <a:gdLst/>
              <a:ahLst/>
              <a:cxnLst/>
              <a:rect l="l" t="t" r="r" b="b"/>
              <a:pathLst>
                <a:path w="169164" h="169164">
                  <a:moveTo>
                    <a:pt x="0" y="84582"/>
                  </a:moveTo>
                  <a:cubicBezTo>
                    <a:pt x="0" y="37846"/>
                    <a:pt x="37846" y="0"/>
                    <a:pt x="84582" y="0"/>
                  </a:cubicBezTo>
                  <a:cubicBezTo>
                    <a:pt x="131318" y="0"/>
                    <a:pt x="169164" y="37846"/>
                    <a:pt x="169164" y="84582"/>
                  </a:cubicBezTo>
                  <a:cubicBezTo>
                    <a:pt x="169164" y="131318"/>
                    <a:pt x="131318" y="169164"/>
                    <a:pt x="84582" y="169164"/>
                  </a:cubicBezTo>
                  <a:cubicBezTo>
                    <a:pt x="37846" y="169164"/>
                    <a:pt x="0" y="131191"/>
                    <a:pt x="0" y="84582"/>
                  </a:cubicBezTo>
                  <a:close/>
                </a:path>
              </a:pathLst>
            </a:custGeom>
            <a:solidFill>
              <a:srgbClr val="22D3EE"/>
            </a:solidFill>
          </p:spPr>
          <p:txBody>
            <a:bodyPr/>
            <a:lstStyle/>
            <a:p>
              <a:endParaRPr lang="en-US"/>
            </a:p>
          </p:txBody>
        </p:sp>
      </p:grpSp>
      <p:grpSp>
        <p:nvGrpSpPr>
          <p:cNvPr id="34" name="Group 34"/>
          <p:cNvGrpSpPr/>
          <p:nvPr/>
        </p:nvGrpSpPr>
        <p:grpSpPr>
          <a:xfrm>
            <a:off x="5003606" y="6807098"/>
            <a:ext cx="126806" cy="126806"/>
            <a:chOff x="0" y="0"/>
            <a:chExt cx="169075" cy="169075"/>
          </a:xfrm>
        </p:grpSpPr>
        <p:sp>
          <p:nvSpPr>
            <p:cNvPr id="35" name="Freeform 35"/>
            <p:cNvSpPr/>
            <p:nvPr/>
          </p:nvSpPr>
          <p:spPr>
            <a:xfrm>
              <a:off x="0" y="0"/>
              <a:ext cx="169164" cy="169164"/>
            </a:xfrm>
            <a:custGeom>
              <a:avLst/>
              <a:gdLst/>
              <a:ahLst/>
              <a:cxnLst/>
              <a:rect l="l" t="t" r="r" b="b"/>
              <a:pathLst>
                <a:path w="169164" h="169164">
                  <a:moveTo>
                    <a:pt x="0" y="84582"/>
                  </a:moveTo>
                  <a:cubicBezTo>
                    <a:pt x="0" y="37846"/>
                    <a:pt x="37846" y="0"/>
                    <a:pt x="84582" y="0"/>
                  </a:cubicBezTo>
                  <a:cubicBezTo>
                    <a:pt x="131318" y="0"/>
                    <a:pt x="169164" y="37846"/>
                    <a:pt x="169164" y="84582"/>
                  </a:cubicBezTo>
                  <a:cubicBezTo>
                    <a:pt x="169164" y="131318"/>
                    <a:pt x="131318" y="169164"/>
                    <a:pt x="84582" y="169164"/>
                  </a:cubicBezTo>
                  <a:cubicBezTo>
                    <a:pt x="37846" y="169164"/>
                    <a:pt x="0" y="131191"/>
                    <a:pt x="0" y="84582"/>
                  </a:cubicBezTo>
                  <a:close/>
                </a:path>
              </a:pathLst>
            </a:custGeom>
            <a:solidFill>
              <a:srgbClr val="22D3EE"/>
            </a:solidFill>
          </p:spPr>
          <p:txBody>
            <a:bodyPr/>
            <a:lstStyle/>
            <a:p>
              <a:endParaRPr lang="en-US"/>
            </a:p>
          </p:txBody>
        </p:sp>
      </p:grpSp>
      <p:grpSp>
        <p:nvGrpSpPr>
          <p:cNvPr id="36" name="Group 36"/>
          <p:cNvGrpSpPr/>
          <p:nvPr/>
        </p:nvGrpSpPr>
        <p:grpSpPr>
          <a:xfrm>
            <a:off x="7051481" y="5578373"/>
            <a:ext cx="4248150" cy="2850956"/>
            <a:chOff x="0" y="0"/>
            <a:chExt cx="5664200" cy="3801275"/>
          </a:xfrm>
        </p:grpSpPr>
        <p:sp>
          <p:nvSpPr>
            <p:cNvPr id="37" name="Freeform 37"/>
            <p:cNvSpPr/>
            <p:nvPr/>
          </p:nvSpPr>
          <p:spPr>
            <a:xfrm>
              <a:off x="12700" y="12700"/>
              <a:ext cx="5638800" cy="3775837"/>
            </a:xfrm>
            <a:custGeom>
              <a:avLst/>
              <a:gdLst/>
              <a:ahLst/>
              <a:cxnLst/>
              <a:rect l="l" t="t" r="r" b="b"/>
              <a:pathLst>
                <a:path w="5638800" h="3775837">
                  <a:moveTo>
                    <a:pt x="0" y="0"/>
                  </a:moveTo>
                  <a:lnTo>
                    <a:pt x="5638800" y="0"/>
                  </a:lnTo>
                  <a:lnTo>
                    <a:pt x="5638800" y="3775837"/>
                  </a:lnTo>
                  <a:lnTo>
                    <a:pt x="0" y="3775837"/>
                  </a:lnTo>
                  <a:close/>
                </a:path>
              </a:pathLst>
            </a:custGeom>
            <a:solidFill>
              <a:srgbClr val="0A1628"/>
            </a:solidFill>
          </p:spPr>
          <p:txBody>
            <a:bodyPr/>
            <a:lstStyle/>
            <a:p>
              <a:endParaRPr lang="en-US"/>
            </a:p>
          </p:txBody>
        </p:sp>
        <p:sp>
          <p:nvSpPr>
            <p:cNvPr id="38" name="Freeform 38"/>
            <p:cNvSpPr/>
            <p:nvPr/>
          </p:nvSpPr>
          <p:spPr>
            <a:xfrm>
              <a:off x="0" y="0"/>
              <a:ext cx="5664200" cy="3801237"/>
            </a:xfrm>
            <a:custGeom>
              <a:avLst/>
              <a:gdLst/>
              <a:ahLst/>
              <a:cxnLst/>
              <a:rect l="l" t="t" r="r" b="b"/>
              <a:pathLst>
                <a:path w="5664200" h="3801237">
                  <a:moveTo>
                    <a:pt x="12700" y="0"/>
                  </a:moveTo>
                  <a:lnTo>
                    <a:pt x="5651500" y="0"/>
                  </a:lnTo>
                  <a:cubicBezTo>
                    <a:pt x="5658485" y="0"/>
                    <a:pt x="5664200" y="5715"/>
                    <a:pt x="5664200" y="12700"/>
                  </a:cubicBezTo>
                  <a:lnTo>
                    <a:pt x="5664200" y="3788537"/>
                  </a:lnTo>
                  <a:cubicBezTo>
                    <a:pt x="5664200" y="3795522"/>
                    <a:pt x="5658485" y="3801237"/>
                    <a:pt x="5651500" y="3801237"/>
                  </a:cubicBezTo>
                  <a:lnTo>
                    <a:pt x="12700" y="3801237"/>
                  </a:lnTo>
                  <a:cubicBezTo>
                    <a:pt x="5715" y="3801237"/>
                    <a:pt x="0" y="3795522"/>
                    <a:pt x="0" y="3788537"/>
                  </a:cubicBezTo>
                  <a:lnTo>
                    <a:pt x="0" y="12700"/>
                  </a:lnTo>
                  <a:cubicBezTo>
                    <a:pt x="0" y="5715"/>
                    <a:pt x="5715" y="0"/>
                    <a:pt x="12700" y="0"/>
                  </a:cubicBezTo>
                  <a:moveTo>
                    <a:pt x="12700" y="25400"/>
                  </a:moveTo>
                  <a:lnTo>
                    <a:pt x="12700" y="12700"/>
                  </a:lnTo>
                  <a:lnTo>
                    <a:pt x="25400" y="12700"/>
                  </a:lnTo>
                  <a:lnTo>
                    <a:pt x="25400" y="3788537"/>
                  </a:lnTo>
                  <a:lnTo>
                    <a:pt x="12700" y="3788537"/>
                  </a:lnTo>
                  <a:lnTo>
                    <a:pt x="12700" y="3775837"/>
                  </a:lnTo>
                  <a:lnTo>
                    <a:pt x="5651500" y="3775837"/>
                  </a:lnTo>
                  <a:lnTo>
                    <a:pt x="5651500" y="3788537"/>
                  </a:lnTo>
                  <a:lnTo>
                    <a:pt x="5638800" y="3788537"/>
                  </a:lnTo>
                  <a:lnTo>
                    <a:pt x="5638800" y="12700"/>
                  </a:lnTo>
                  <a:lnTo>
                    <a:pt x="5651500" y="12700"/>
                  </a:lnTo>
                  <a:lnTo>
                    <a:pt x="5651500" y="25400"/>
                  </a:lnTo>
                  <a:lnTo>
                    <a:pt x="12700" y="25400"/>
                  </a:lnTo>
                  <a:close/>
                </a:path>
              </a:pathLst>
            </a:custGeom>
            <a:solidFill>
              <a:srgbClr val="1E3A5F"/>
            </a:solidFill>
          </p:spPr>
          <p:txBody>
            <a:bodyPr/>
            <a:lstStyle/>
            <a:p>
              <a:endParaRPr lang="en-US"/>
            </a:p>
          </p:txBody>
        </p:sp>
      </p:grpSp>
      <p:grpSp>
        <p:nvGrpSpPr>
          <p:cNvPr id="39" name="Group 39"/>
          <p:cNvGrpSpPr/>
          <p:nvPr/>
        </p:nvGrpSpPr>
        <p:grpSpPr>
          <a:xfrm>
            <a:off x="7051481" y="5578373"/>
            <a:ext cx="4248150" cy="2850956"/>
            <a:chOff x="0" y="0"/>
            <a:chExt cx="5664200" cy="3801275"/>
          </a:xfrm>
        </p:grpSpPr>
        <p:sp>
          <p:nvSpPr>
            <p:cNvPr id="40" name="Freeform 40"/>
            <p:cNvSpPr/>
            <p:nvPr/>
          </p:nvSpPr>
          <p:spPr>
            <a:xfrm>
              <a:off x="0" y="0"/>
              <a:ext cx="5664200" cy="3801237"/>
            </a:xfrm>
            <a:custGeom>
              <a:avLst/>
              <a:gdLst/>
              <a:ahLst/>
              <a:cxnLst/>
              <a:rect l="l" t="t" r="r" b="b"/>
              <a:pathLst>
                <a:path w="5664200" h="3801237">
                  <a:moveTo>
                    <a:pt x="12700" y="0"/>
                  </a:moveTo>
                  <a:lnTo>
                    <a:pt x="5651500" y="0"/>
                  </a:lnTo>
                  <a:cubicBezTo>
                    <a:pt x="5658485" y="0"/>
                    <a:pt x="5664200" y="5715"/>
                    <a:pt x="5664200" y="12700"/>
                  </a:cubicBezTo>
                  <a:lnTo>
                    <a:pt x="5664200" y="3788537"/>
                  </a:lnTo>
                  <a:cubicBezTo>
                    <a:pt x="5664200" y="3795522"/>
                    <a:pt x="5658485" y="3801237"/>
                    <a:pt x="5651500" y="3801237"/>
                  </a:cubicBezTo>
                  <a:lnTo>
                    <a:pt x="12700" y="3801237"/>
                  </a:lnTo>
                  <a:cubicBezTo>
                    <a:pt x="5715" y="3801237"/>
                    <a:pt x="0" y="3795522"/>
                    <a:pt x="0" y="3788537"/>
                  </a:cubicBezTo>
                  <a:lnTo>
                    <a:pt x="0" y="12700"/>
                  </a:lnTo>
                  <a:cubicBezTo>
                    <a:pt x="0" y="5715"/>
                    <a:pt x="5715" y="0"/>
                    <a:pt x="12700" y="0"/>
                  </a:cubicBezTo>
                  <a:moveTo>
                    <a:pt x="12700" y="25400"/>
                  </a:moveTo>
                  <a:lnTo>
                    <a:pt x="12700" y="12700"/>
                  </a:lnTo>
                  <a:lnTo>
                    <a:pt x="25400" y="12700"/>
                  </a:lnTo>
                  <a:lnTo>
                    <a:pt x="25400" y="3788537"/>
                  </a:lnTo>
                  <a:lnTo>
                    <a:pt x="12700" y="3788537"/>
                  </a:lnTo>
                  <a:lnTo>
                    <a:pt x="12700" y="3775837"/>
                  </a:lnTo>
                  <a:lnTo>
                    <a:pt x="5651500" y="3775837"/>
                  </a:lnTo>
                  <a:lnTo>
                    <a:pt x="5651500" y="3788537"/>
                  </a:lnTo>
                  <a:lnTo>
                    <a:pt x="5638800" y="3788537"/>
                  </a:lnTo>
                  <a:lnTo>
                    <a:pt x="5638800" y="12700"/>
                  </a:lnTo>
                  <a:lnTo>
                    <a:pt x="5651500" y="12700"/>
                  </a:lnTo>
                  <a:lnTo>
                    <a:pt x="5651500" y="25400"/>
                  </a:lnTo>
                  <a:lnTo>
                    <a:pt x="12700" y="25400"/>
                  </a:lnTo>
                  <a:close/>
                </a:path>
              </a:pathLst>
            </a:custGeom>
            <a:solidFill>
              <a:srgbClr val="22D3EE"/>
            </a:solidFill>
          </p:spPr>
          <p:txBody>
            <a:bodyPr/>
            <a:lstStyle/>
            <a:p>
              <a:endParaRPr lang="en-US"/>
            </a:p>
          </p:txBody>
        </p:sp>
      </p:grpSp>
      <p:grpSp>
        <p:nvGrpSpPr>
          <p:cNvPr id="41" name="Group 41"/>
          <p:cNvGrpSpPr/>
          <p:nvPr/>
        </p:nvGrpSpPr>
        <p:grpSpPr>
          <a:xfrm>
            <a:off x="7051481" y="5578373"/>
            <a:ext cx="2139848" cy="1454048"/>
            <a:chOff x="0" y="0"/>
            <a:chExt cx="2853131" cy="1938731"/>
          </a:xfrm>
        </p:grpSpPr>
        <p:sp>
          <p:nvSpPr>
            <p:cNvPr id="42" name="Freeform 42"/>
            <p:cNvSpPr/>
            <p:nvPr/>
          </p:nvSpPr>
          <p:spPr>
            <a:xfrm>
              <a:off x="0" y="0"/>
              <a:ext cx="2853182" cy="1938782"/>
            </a:xfrm>
            <a:custGeom>
              <a:avLst/>
              <a:gdLst/>
              <a:ahLst/>
              <a:cxnLst/>
              <a:rect l="l" t="t" r="r" b="b"/>
              <a:pathLst>
                <a:path w="2853182" h="1938782">
                  <a:moveTo>
                    <a:pt x="12700" y="0"/>
                  </a:moveTo>
                  <a:lnTo>
                    <a:pt x="2840482" y="0"/>
                  </a:lnTo>
                  <a:cubicBezTo>
                    <a:pt x="2847467" y="0"/>
                    <a:pt x="2853182" y="5715"/>
                    <a:pt x="2853182" y="12700"/>
                  </a:cubicBezTo>
                  <a:lnTo>
                    <a:pt x="2853182" y="1926082"/>
                  </a:lnTo>
                  <a:cubicBezTo>
                    <a:pt x="2853182" y="1933067"/>
                    <a:pt x="2847467" y="1938782"/>
                    <a:pt x="2840482" y="1938782"/>
                  </a:cubicBezTo>
                  <a:lnTo>
                    <a:pt x="12700" y="1938782"/>
                  </a:lnTo>
                  <a:cubicBezTo>
                    <a:pt x="5715" y="1938782"/>
                    <a:pt x="0" y="1933067"/>
                    <a:pt x="0" y="1926082"/>
                  </a:cubicBezTo>
                  <a:lnTo>
                    <a:pt x="0" y="12700"/>
                  </a:lnTo>
                  <a:cubicBezTo>
                    <a:pt x="0" y="5715"/>
                    <a:pt x="5715" y="0"/>
                    <a:pt x="12700" y="0"/>
                  </a:cubicBezTo>
                  <a:moveTo>
                    <a:pt x="12700" y="25400"/>
                  </a:moveTo>
                  <a:lnTo>
                    <a:pt x="12700" y="12700"/>
                  </a:lnTo>
                  <a:lnTo>
                    <a:pt x="25400" y="12700"/>
                  </a:lnTo>
                  <a:lnTo>
                    <a:pt x="25400" y="1926082"/>
                  </a:lnTo>
                  <a:lnTo>
                    <a:pt x="12700" y="1926082"/>
                  </a:lnTo>
                  <a:lnTo>
                    <a:pt x="12700" y="1913382"/>
                  </a:lnTo>
                  <a:lnTo>
                    <a:pt x="2840482" y="1913382"/>
                  </a:lnTo>
                  <a:lnTo>
                    <a:pt x="2840482" y="1926082"/>
                  </a:lnTo>
                  <a:lnTo>
                    <a:pt x="2827782" y="1926082"/>
                  </a:lnTo>
                  <a:lnTo>
                    <a:pt x="2827782" y="12700"/>
                  </a:lnTo>
                  <a:lnTo>
                    <a:pt x="2840482" y="12700"/>
                  </a:lnTo>
                  <a:lnTo>
                    <a:pt x="2840482" y="25400"/>
                  </a:lnTo>
                  <a:lnTo>
                    <a:pt x="12700" y="25400"/>
                  </a:lnTo>
                  <a:close/>
                </a:path>
              </a:pathLst>
            </a:custGeom>
            <a:solidFill>
              <a:srgbClr val="22D3EE"/>
            </a:solidFill>
          </p:spPr>
          <p:txBody>
            <a:bodyPr/>
            <a:lstStyle/>
            <a:p>
              <a:endParaRPr lang="en-US"/>
            </a:p>
          </p:txBody>
        </p:sp>
      </p:grpSp>
      <p:grpSp>
        <p:nvGrpSpPr>
          <p:cNvPr id="43" name="Group 43"/>
          <p:cNvGrpSpPr/>
          <p:nvPr/>
        </p:nvGrpSpPr>
        <p:grpSpPr>
          <a:xfrm>
            <a:off x="9134475" y="5578373"/>
            <a:ext cx="2139848" cy="1454048"/>
            <a:chOff x="0" y="0"/>
            <a:chExt cx="2853131" cy="1938731"/>
          </a:xfrm>
        </p:grpSpPr>
        <p:sp>
          <p:nvSpPr>
            <p:cNvPr id="44" name="Freeform 44"/>
            <p:cNvSpPr/>
            <p:nvPr/>
          </p:nvSpPr>
          <p:spPr>
            <a:xfrm>
              <a:off x="0" y="0"/>
              <a:ext cx="2853182" cy="1938782"/>
            </a:xfrm>
            <a:custGeom>
              <a:avLst/>
              <a:gdLst/>
              <a:ahLst/>
              <a:cxnLst/>
              <a:rect l="l" t="t" r="r" b="b"/>
              <a:pathLst>
                <a:path w="2853182" h="1938782">
                  <a:moveTo>
                    <a:pt x="12700" y="0"/>
                  </a:moveTo>
                  <a:lnTo>
                    <a:pt x="2840482" y="0"/>
                  </a:lnTo>
                  <a:cubicBezTo>
                    <a:pt x="2847467" y="0"/>
                    <a:pt x="2853182" y="5715"/>
                    <a:pt x="2853182" y="12700"/>
                  </a:cubicBezTo>
                  <a:lnTo>
                    <a:pt x="2853182" y="1926082"/>
                  </a:lnTo>
                  <a:cubicBezTo>
                    <a:pt x="2853182" y="1933067"/>
                    <a:pt x="2847467" y="1938782"/>
                    <a:pt x="2840482" y="1938782"/>
                  </a:cubicBezTo>
                  <a:lnTo>
                    <a:pt x="12700" y="1938782"/>
                  </a:lnTo>
                  <a:cubicBezTo>
                    <a:pt x="5715" y="1938782"/>
                    <a:pt x="0" y="1933067"/>
                    <a:pt x="0" y="1926082"/>
                  </a:cubicBezTo>
                  <a:lnTo>
                    <a:pt x="0" y="12700"/>
                  </a:lnTo>
                  <a:cubicBezTo>
                    <a:pt x="0" y="5715"/>
                    <a:pt x="5715" y="0"/>
                    <a:pt x="12700" y="0"/>
                  </a:cubicBezTo>
                  <a:moveTo>
                    <a:pt x="12700" y="25400"/>
                  </a:moveTo>
                  <a:lnTo>
                    <a:pt x="12700" y="12700"/>
                  </a:lnTo>
                  <a:lnTo>
                    <a:pt x="25400" y="12700"/>
                  </a:lnTo>
                  <a:lnTo>
                    <a:pt x="25400" y="1926082"/>
                  </a:lnTo>
                  <a:lnTo>
                    <a:pt x="12700" y="1926082"/>
                  </a:lnTo>
                  <a:lnTo>
                    <a:pt x="12700" y="1913382"/>
                  </a:lnTo>
                  <a:lnTo>
                    <a:pt x="2840482" y="1913382"/>
                  </a:lnTo>
                  <a:lnTo>
                    <a:pt x="2840482" y="1926082"/>
                  </a:lnTo>
                  <a:lnTo>
                    <a:pt x="2827782" y="1926082"/>
                  </a:lnTo>
                  <a:lnTo>
                    <a:pt x="2827782" y="12700"/>
                  </a:lnTo>
                  <a:lnTo>
                    <a:pt x="2840482" y="12700"/>
                  </a:lnTo>
                  <a:lnTo>
                    <a:pt x="2840482" y="25400"/>
                  </a:lnTo>
                  <a:lnTo>
                    <a:pt x="12700" y="25400"/>
                  </a:lnTo>
                  <a:close/>
                </a:path>
              </a:pathLst>
            </a:custGeom>
            <a:solidFill>
              <a:srgbClr val="22D3EE"/>
            </a:solidFill>
          </p:spPr>
          <p:txBody>
            <a:bodyPr/>
            <a:lstStyle/>
            <a:p>
              <a:endParaRPr lang="en-US"/>
            </a:p>
          </p:txBody>
        </p:sp>
      </p:grpSp>
      <p:grpSp>
        <p:nvGrpSpPr>
          <p:cNvPr id="45" name="Group 45"/>
          <p:cNvGrpSpPr/>
          <p:nvPr/>
        </p:nvGrpSpPr>
        <p:grpSpPr>
          <a:xfrm>
            <a:off x="7051481" y="6975281"/>
            <a:ext cx="1098356" cy="1454048"/>
            <a:chOff x="0" y="0"/>
            <a:chExt cx="1464475" cy="1938731"/>
          </a:xfrm>
        </p:grpSpPr>
        <p:sp>
          <p:nvSpPr>
            <p:cNvPr id="46" name="Freeform 46"/>
            <p:cNvSpPr/>
            <p:nvPr/>
          </p:nvSpPr>
          <p:spPr>
            <a:xfrm>
              <a:off x="0" y="0"/>
              <a:ext cx="1464437" cy="1938782"/>
            </a:xfrm>
            <a:custGeom>
              <a:avLst/>
              <a:gdLst/>
              <a:ahLst/>
              <a:cxnLst/>
              <a:rect l="l" t="t" r="r" b="b"/>
              <a:pathLst>
                <a:path w="1464437" h="1938782">
                  <a:moveTo>
                    <a:pt x="12700" y="0"/>
                  </a:moveTo>
                  <a:lnTo>
                    <a:pt x="1451737" y="0"/>
                  </a:lnTo>
                  <a:cubicBezTo>
                    <a:pt x="1458722" y="0"/>
                    <a:pt x="1464437" y="5715"/>
                    <a:pt x="1464437" y="12700"/>
                  </a:cubicBezTo>
                  <a:lnTo>
                    <a:pt x="1464437" y="1926082"/>
                  </a:lnTo>
                  <a:cubicBezTo>
                    <a:pt x="1464437" y="1933067"/>
                    <a:pt x="1458722" y="1938782"/>
                    <a:pt x="1451737" y="1938782"/>
                  </a:cubicBezTo>
                  <a:lnTo>
                    <a:pt x="12700" y="1938782"/>
                  </a:lnTo>
                  <a:cubicBezTo>
                    <a:pt x="5715" y="1938782"/>
                    <a:pt x="0" y="1933067"/>
                    <a:pt x="0" y="1926082"/>
                  </a:cubicBezTo>
                  <a:lnTo>
                    <a:pt x="0" y="12700"/>
                  </a:lnTo>
                  <a:cubicBezTo>
                    <a:pt x="0" y="5715"/>
                    <a:pt x="5715" y="0"/>
                    <a:pt x="12700" y="0"/>
                  </a:cubicBezTo>
                  <a:moveTo>
                    <a:pt x="12700" y="25400"/>
                  </a:moveTo>
                  <a:lnTo>
                    <a:pt x="12700" y="12700"/>
                  </a:lnTo>
                  <a:lnTo>
                    <a:pt x="25400" y="12700"/>
                  </a:lnTo>
                  <a:lnTo>
                    <a:pt x="25400" y="1926082"/>
                  </a:lnTo>
                  <a:lnTo>
                    <a:pt x="12700" y="1926082"/>
                  </a:lnTo>
                  <a:lnTo>
                    <a:pt x="12700" y="1913382"/>
                  </a:lnTo>
                  <a:lnTo>
                    <a:pt x="1451737" y="1913382"/>
                  </a:lnTo>
                  <a:lnTo>
                    <a:pt x="1451737" y="1926082"/>
                  </a:lnTo>
                  <a:lnTo>
                    <a:pt x="1439037" y="1926082"/>
                  </a:lnTo>
                  <a:lnTo>
                    <a:pt x="1439037" y="12700"/>
                  </a:lnTo>
                  <a:lnTo>
                    <a:pt x="1451737" y="12700"/>
                  </a:lnTo>
                  <a:lnTo>
                    <a:pt x="1451737" y="25400"/>
                  </a:lnTo>
                  <a:lnTo>
                    <a:pt x="12700" y="25400"/>
                  </a:lnTo>
                  <a:close/>
                </a:path>
              </a:pathLst>
            </a:custGeom>
            <a:solidFill>
              <a:srgbClr val="22D3EE"/>
            </a:solidFill>
          </p:spPr>
          <p:txBody>
            <a:bodyPr/>
            <a:lstStyle/>
            <a:p>
              <a:endParaRPr lang="en-US"/>
            </a:p>
          </p:txBody>
        </p:sp>
      </p:grpSp>
      <p:grpSp>
        <p:nvGrpSpPr>
          <p:cNvPr id="47" name="Group 47"/>
          <p:cNvGrpSpPr/>
          <p:nvPr/>
        </p:nvGrpSpPr>
        <p:grpSpPr>
          <a:xfrm>
            <a:off x="8092973" y="6975281"/>
            <a:ext cx="1098356" cy="1454048"/>
            <a:chOff x="0" y="0"/>
            <a:chExt cx="1464475" cy="1938731"/>
          </a:xfrm>
        </p:grpSpPr>
        <p:sp>
          <p:nvSpPr>
            <p:cNvPr id="48" name="Freeform 48"/>
            <p:cNvSpPr/>
            <p:nvPr/>
          </p:nvSpPr>
          <p:spPr>
            <a:xfrm>
              <a:off x="0" y="0"/>
              <a:ext cx="1464437" cy="1938782"/>
            </a:xfrm>
            <a:custGeom>
              <a:avLst/>
              <a:gdLst/>
              <a:ahLst/>
              <a:cxnLst/>
              <a:rect l="l" t="t" r="r" b="b"/>
              <a:pathLst>
                <a:path w="1464437" h="1938782">
                  <a:moveTo>
                    <a:pt x="12700" y="0"/>
                  </a:moveTo>
                  <a:lnTo>
                    <a:pt x="1451737" y="0"/>
                  </a:lnTo>
                  <a:cubicBezTo>
                    <a:pt x="1458722" y="0"/>
                    <a:pt x="1464437" y="5715"/>
                    <a:pt x="1464437" y="12700"/>
                  </a:cubicBezTo>
                  <a:lnTo>
                    <a:pt x="1464437" y="1926082"/>
                  </a:lnTo>
                  <a:cubicBezTo>
                    <a:pt x="1464437" y="1933067"/>
                    <a:pt x="1458722" y="1938782"/>
                    <a:pt x="1451737" y="1938782"/>
                  </a:cubicBezTo>
                  <a:lnTo>
                    <a:pt x="12700" y="1938782"/>
                  </a:lnTo>
                  <a:cubicBezTo>
                    <a:pt x="5715" y="1938782"/>
                    <a:pt x="0" y="1933067"/>
                    <a:pt x="0" y="1926082"/>
                  </a:cubicBezTo>
                  <a:lnTo>
                    <a:pt x="0" y="12700"/>
                  </a:lnTo>
                  <a:cubicBezTo>
                    <a:pt x="0" y="5715"/>
                    <a:pt x="5715" y="0"/>
                    <a:pt x="12700" y="0"/>
                  </a:cubicBezTo>
                  <a:moveTo>
                    <a:pt x="12700" y="25400"/>
                  </a:moveTo>
                  <a:lnTo>
                    <a:pt x="12700" y="12700"/>
                  </a:lnTo>
                  <a:lnTo>
                    <a:pt x="25400" y="12700"/>
                  </a:lnTo>
                  <a:lnTo>
                    <a:pt x="25400" y="1926082"/>
                  </a:lnTo>
                  <a:lnTo>
                    <a:pt x="12700" y="1926082"/>
                  </a:lnTo>
                  <a:lnTo>
                    <a:pt x="12700" y="1913382"/>
                  </a:lnTo>
                  <a:lnTo>
                    <a:pt x="1451737" y="1913382"/>
                  </a:lnTo>
                  <a:lnTo>
                    <a:pt x="1451737" y="1926082"/>
                  </a:lnTo>
                  <a:lnTo>
                    <a:pt x="1439037" y="1926082"/>
                  </a:lnTo>
                  <a:lnTo>
                    <a:pt x="1439037" y="12700"/>
                  </a:lnTo>
                  <a:lnTo>
                    <a:pt x="1451737" y="12700"/>
                  </a:lnTo>
                  <a:lnTo>
                    <a:pt x="1451737" y="25400"/>
                  </a:lnTo>
                  <a:lnTo>
                    <a:pt x="12700" y="25400"/>
                  </a:lnTo>
                  <a:close/>
                </a:path>
              </a:pathLst>
            </a:custGeom>
            <a:solidFill>
              <a:srgbClr val="22D3EE"/>
            </a:solidFill>
          </p:spPr>
          <p:txBody>
            <a:bodyPr/>
            <a:lstStyle/>
            <a:p>
              <a:endParaRPr lang="en-US"/>
            </a:p>
          </p:txBody>
        </p:sp>
      </p:grpSp>
      <p:grpSp>
        <p:nvGrpSpPr>
          <p:cNvPr id="49" name="Group 49"/>
          <p:cNvGrpSpPr/>
          <p:nvPr/>
        </p:nvGrpSpPr>
        <p:grpSpPr>
          <a:xfrm>
            <a:off x="8092973" y="6975281"/>
            <a:ext cx="564956" cy="742950"/>
            <a:chOff x="0" y="0"/>
            <a:chExt cx="753275" cy="990600"/>
          </a:xfrm>
        </p:grpSpPr>
        <p:sp>
          <p:nvSpPr>
            <p:cNvPr id="50" name="Freeform 50"/>
            <p:cNvSpPr/>
            <p:nvPr/>
          </p:nvSpPr>
          <p:spPr>
            <a:xfrm>
              <a:off x="12700" y="12700"/>
              <a:ext cx="727837" cy="965200"/>
            </a:xfrm>
            <a:custGeom>
              <a:avLst/>
              <a:gdLst/>
              <a:ahLst/>
              <a:cxnLst/>
              <a:rect l="l" t="t" r="r" b="b"/>
              <a:pathLst>
                <a:path w="727837" h="965200">
                  <a:moveTo>
                    <a:pt x="0" y="0"/>
                  </a:moveTo>
                  <a:lnTo>
                    <a:pt x="727837" y="0"/>
                  </a:lnTo>
                  <a:lnTo>
                    <a:pt x="727837" y="965200"/>
                  </a:lnTo>
                  <a:lnTo>
                    <a:pt x="0" y="965200"/>
                  </a:lnTo>
                  <a:close/>
                </a:path>
              </a:pathLst>
            </a:custGeom>
            <a:solidFill>
              <a:srgbClr val="22D3EE"/>
            </a:solidFill>
          </p:spPr>
          <p:txBody>
            <a:bodyPr/>
            <a:lstStyle/>
            <a:p>
              <a:endParaRPr lang="en-US"/>
            </a:p>
          </p:txBody>
        </p:sp>
        <p:sp>
          <p:nvSpPr>
            <p:cNvPr id="51" name="Freeform 51"/>
            <p:cNvSpPr/>
            <p:nvPr/>
          </p:nvSpPr>
          <p:spPr>
            <a:xfrm>
              <a:off x="0" y="0"/>
              <a:ext cx="753237" cy="990600"/>
            </a:xfrm>
            <a:custGeom>
              <a:avLst/>
              <a:gdLst/>
              <a:ahLst/>
              <a:cxnLst/>
              <a:rect l="l" t="t" r="r" b="b"/>
              <a:pathLst>
                <a:path w="753237" h="990600">
                  <a:moveTo>
                    <a:pt x="12700" y="0"/>
                  </a:moveTo>
                  <a:lnTo>
                    <a:pt x="740537" y="0"/>
                  </a:lnTo>
                  <a:cubicBezTo>
                    <a:pt x="747522" y="0"/>
                    <a:pt x="753237" y="5715"/>
                    <a:pt x="753237" y="12700"/>
                  </a:cubicBezTo>
                  <a:lnTo>
                    <a:pt x="753237" y="977900"/>
                  </a:lnTo>
                  <a:cubicBezTo>
                    <a:pt x="753237" y="984885"/>
                    <a:pt x="747522" y="990600"/>
                    <a:pt x="740537" y="990600"/>
                  </a:cubicBezTo>
                  <a:lnTo>
                    <a:pt x="12700" y="990600"/>
                  </a:lnTo>
                  <a:cubicBezTo>
                    <a:pt x="5715" y="990600"/>
                    <a:pt x="0" y="984885"/>
                    <a:pt x="0" y="977900"/>
                  </a:cubicBezTo>
                  <a:lnTo>
                    <a:pt x="0" y="12700"/>
                  </a:lnTo>
                  <a:cubicBezTo>
                    <a:pt x="0" y="5715"/>
                    <a:pt x="5715" y="0"/>
                    <a:pt x="12700" y="0"/>
                  </a:cubicBezTo>
                  <a:moveTo>
                    <a:pt x="12700" y="25400"/>
                  </a:moveTo>
                  <a:lnTo>
                    <a:pt x="12700" y="12700"/>
                  </a:lnTo>
                  <a:lnTo>
                    <a:pt x="25400" y="12700"/>
                  </a:lnTo>
                  <a:lnTo>
                    <a:pt x="25400" y="977900"/>
                  </a:lnTo>
                  <a:lnTo>
                    <a:pt x="12700" y="977900"/>
                  </a:lnTo>
                  <a:lnTo>
                    <a:pt x="12700" y="965200"/>
                  </a:lnTo>
                  <a:lnTo>
                    <a:pt x="740537" y="965200"/>
                  </a:lnTo>
                  <a:lnTo>
                    <a:pt x="740537" y="977900"/>
                  </a:lnTo>
                  <a:lnTo>
                    <a:pt x="727837" y="977900"/>
                  </a:lnTo>
                  <a:lnTo>
                    <a:pt x="727837" y="12700"/>
                  </a:lnTo>
                  <a:lnTo>
                    <a:pt x="740537" y="12700"/>
                  </a:lnTo>
                  <a:lnTo>
                    <a:pt x="740537" y="25400"/>
                  </a:lnTo>
                  <a:lnTo>
                    <a:pt x="12700" y="25400"/>
                  </a:lnTo>
                  <a:close/>
                </a:path>
              </a:pathLst>
            </a:custGeom>
            <a:solidFill>
              <a:srgbClr val="22D3EE"/>
            </a:solidFill>
          </p:spPr>
          <p:txBody>
            <a:bodyPr/>
            <a:lstStyle/>
            <a:p>
              <a:endParaRPr lang="en-US"/>
            </a:p>
          </p:txBody>
        </p:sp>
      </p:grpSp>
      <p:grpSp>
        <p:nvGrpSpPr>
          <p:cNvPr id="52" name="Group 52"/>
          <p:cNvGrpSpPr/>
          <p:nvPr/>
        </p:nvGrpSpPr>
        <p:grpSpPr>
          <a:xfrm>
            <a:off x="12217298" y="5587898"/>
            <a:ext cx="4191000" cy="457200"/>
            <a:chOff x="0" y="0"/>
            <a:chExt cx="5588000" cy="609600"/>
          </a:xfrm>
        </p:grpSpPr>
        <p:sp>
          <p:nvSpPr>
            <p:cNvPr id="53" name="Freeform 53"/>
            <p:cNvSpPr/>
            <p:nvPr/>
          </p:nvSpPr>
          <p:spPr>
            <a:xfrm>
              <a:off x="0" y="0"/>
              <a:ext cx="5588000" cy="609600"/>
            </a:xfrm>
            <a:custGeom>
              <a:avLst/>
              <a:gdLst/>
              <a:ahLst/>
              <a:cxnLst/>
              <a:rect l="l" t="t" r="r" b="b"/>
              <a:pathLst>
                <a:path w="5588000" h="609600">
                  <a:moveTo>
                    <a:pt x="0" y="0"/>
                  </a:moveTo>
                  <a:lnTo>
                    <a:pt x="5588000" y="0"/>
                  </a:lnTo>
                  <a:lnTo>
                    <a:pt x="5588000" y="609600"/>
                  </a:lnTo>
                  <a:lnTo>
                    <a:pt x="0" y="609600"/>
                  </a:lnTo>
                  <a:close/>
                </a:path>
              </a:pathLst>
            </a:custGeom>
            <a:solidFill>
              <a:srgbClr val="1E3A5F"/>
            </a:solidFill>
          </p:spPr>
          <p:txBody>
            <a:bodyPr/>
            <a:lstStyle/>
            <a:p>
              <a:endParaRPr lang="en-US"/>
            </a:p>
          </p:txBody>
        </p:sp>
      </p:grpSp>
      <p:grpSp>
        <p:nvGrpSpPr>
          <p:cNvPr id="54" name="Group 54"/>
          <p:cNvGrpSpPr/>
          <p:nvPr/>
        </p:nvGrpSpPr>
        <p:grpSpPr>
          <a:xfrm>
            <a:off x="12217298" y="6045098"/>
            <a:ext cx="4191000" cy="457200"/>
            <a:chOff x="0" y="0"/>
            <a:chExt cx="5588000" cy="609600"/>
          </a:xfrm>
        </p:grpSpPr>
        <p:sp>
          <p:nvSpPr>
            <p:cNvPr id="55" name="Freeform 55"/>
            <p:cNvSpPr/>
            <p:nvPr/>
          </p:nvSpPr>
          <p:spPr>
            <a:xfrm>
              <a:off x="0" y="0"/>
              <a:ext cx="5588000" cy="609600"/>
            </a:xfrm>
            <a:custGeom>
              <a:avLst/>
              <a:gdLst/>
              <a:ahLst/>
              <a:cxnLst/>
              <a:rect l="l" t="t" r="r" b="b"/>
              <a:pathLst>
                <a:path w="5588000" h="609600">
                  <a:moveTo>
                    <a:pt x="0" y="0"/>
                  </a:moveTo>
                  <a:lnTo>
                    <a:pt x="5588000" y="0"/>
                  </a:lnTo>
                  <a:lnTo>
                    <a:pt x="5588000" y="609600"/>
                  </a:lnTo>
                  <a:lnTo>
                    <a:pt x="0" y="609600"/>
                  </a:lnTo>
                  <a:close/>
                </a:path>
              </a:pathLst>
            </a:custGeom>
            <a:solidFill>
              <a:srgbClr val="122236"/>
            </a:solidFill>
          </p:spPr>
          <p:txBody>
            <a:bodyPr/>
            <a:lstStyle/>
            <a:p>
              <a:endParaRPr lang="en-US"/>
            </a:p>
          </p:txBody>
        </p:sp>
      </p:grpSp>
      <p:grpSp>
        <p:nvGrpSpPr>
          <p:cNvPr id="56" name="Group 56"/>
          <p:cNvGrpSpPr/>
          <p:nvPr/>
        </p:nvGrpSpPr>
        <p:grpSpPr>
          <a:xfrm>
            <a:off x="12217298" y="6502298"/>
            <a:ext cx="4191000" cy="457200"/>
            <a:chOff x="0" y="0"/>
            <a:chExt cx="5588000" cy="609600"/>
          </a:xfrm>
        </p:grpSpPr>
        <p:sp>
          <p:nvSpPr>
            <p:cNvPr id="57" name="Freeform 57"/>
            <p:cNvSpPr/>
            <p:nvPr/>
          </p:nvSpPr>
          <p:spPr>
            <a:xfrm>
              <a:off x="0" y="0"/>
              <a:ext cx="5588000" cy="609600"/>
            </a:xfrm>
            <a:custGeom>
              <a:avLst/>
              <a:gdLst/>
              <a:ahLst/>
              <a:cxnLst/>
              <a:rect l="l" t="t" r="r" b="b"/>
              <a:pathLst>
                <a:path w="5588000" h="609600">
                  <a:moveTo>
                    <a:pt x="0" y="0"/>
                  </a:moveTo>
                  <a:lnTo>
                    <a:pt x="5588000" y="0"/>
                  </a:lnTo>
                  <a:lnTo>
                    <a:pt x="5588000" y="609600"/>
                  </a:lnTo>
                  <a:lnTo>
                    <a:pt x="0" y="609600"/>
                  </a:lnTo>
                  <a:close/>
                </a:path>
              </a:pathLst>
            </a:custGeom>
            <a:solidFill>
              <a:srgbClr val="1E3A5F"/>
            </a:solidFill>
          </p:spPr>
          <p:txBody>
            <a:bodyPr/>
            <a:lstStyle/>
            <a:p>
              <a:endParaRPr lang="en-US"/>
            </a:p>
          </p:txBody>
        </p:sp>
      </p:grpSp>
      <p:grpSp>
        <p:nvGrpSpPr>
          <p:cNvPr id="58" name="Group 58"/>
          <p:cNvGrpSpPr/>
          <p:nvPr/>
        </p:nvGrpSpPr>
        <p:grpSpPr>
          <a:xfrm>
            <a:off x="12217298" y="6959498"/>
            <a:ext cx="4191000" cy="457200"/>
            <a:chOff x="0" y="0"/>
            <a:chExt cx="5588000" cy="609600"/>
          </a:xfrm>
        </p:grpSpPr>
        <p:sp>
          <p:nvSpPr>
            <p:cNvPr id="59" name="Freeform 59"/>
            <p:cNvSpPr/>
            <p:nvPr/>
          </p:nvSpPr>
          <p:spPr>
            <a:xfrm>
              <a:off x="0" y="0"/>
              <a:ext cx="5588000" cy="609600"/>
            </a:xfrm>
            <a:custGeom>
              <a:avLst/>
              <a:gdLst/>
              <a:ahLst/>
              <a:cxnLst/>
              <a:rect l="l" t="t" r="r" b="b"/>
              <a:pathLst>
                <a:path w="5588000" h="609600">
                  <a:moveTo>
                    <a:pt x="0" y="0"/>
                  </a:moveTo>
                  <a:lnTo>
                    <a:pt x="5588000" y="0"/>
                  </a:lnTo>
                  <a:lnTo>
                    <a:pt x="5588000" y="609600"/>
                  </a:lnTo>
                  <a:lnTo>
                    <a:pt x="0" y="609600"/>
                  </a:lnTo>
                  <a:close/>
                </a:path>
              </a:pathLst>
            </a:custGeom>
            <a:solidFill>
              <a:srgbClr val="122236"/>
            </a:solidFill>
          </p:spPr>
          <p:txBody>
            <a:bodyPr/>
            <a:lstStyle/>
            <a:p>
              <a:endParaRPr lang="en-US"/>
            </a:p>
          </p:txBody>
        </p:sp>
      </p:grpSp>
      <p:grpSp>
        <p:nvGrpSpPr>
          <p:cNvPr id="60" name="Group 60"/>
          <p:cNvGrpSpPr/>
          <p:nvPr/>
        </p:nvGrpSpPr>
        <p:grpSpPr>
          <a:xfrm>
            <a:off x="12217298" y="7416698"/>
            <a:ext cx="4191000" cy="457200"/>
            <a:chOff x="0" y="0"/>
            <a:chExt cx="5588000" cy="609600"/>
          </a:xfrm>
        </p:grpSpPr>
        <p:sp>
          <p:nvSpPr>
            <p:cNvPr id="61" name="Freeform 61"/>
            <p:cNvSpPr/>
            <p:nvPr/>
          </p:nvSpPr>
          <p:spPr>
            <a:xfrm>
              <a:off x="0" y="0"/>
              <a:ext cx="5588000" cy="609600"/>
            </a:xfrm>
            <a:custGeom>
              <a:avLst/>
              <a:gdLst/>
              <a:ahLst/>
              <a:cxnLst/>
              <a:rect l="l" t="t" r="r" b="b"/>
              <a:pathLst>
                <a:path w="5588000" h="609600">
                  <a:moveTo>
                    <a:pt x="0" y="0"/>
                  </a:moveTo>
                  <a:lnTo>
                    <a:pt x="5588000" y="0"/>
                  </a:lnTo>
                  <a:lnTo>
                    <a:pt x="5588000" y="609600"/>
                  </a:lnTo>
                  <a:lnTo>
                    <a:pt x="0" y="609600"/>
                  </a:lnTo>
                  <a:close/>
                </a:path>
              </a:pathLst>
            </a:custGeom>
            <a:solidFill>
              <a:srgbClr val="1E3A5F"/>
            </a:solidFill>
          </p:spPr>
          <p:txBody>
            <a:bodyPr/>
            <a:lstStyle/>
            <a:p>
              <a:endParaRPr lang="en-US"/>
            </a:p>
          </p:txBody>
        </p:sp>
      </p:grpSp>
      <p:grpSp>
        <p:nvGrpSpPr>
          <p:cNvPr id="62" name="Group 62"/>
          <p:cNvGrpSpPr/>
          <p:nvPr/>
        </p:nvGrpSpPr>
        <p:grpSpPr>
          <a:xfrm>
            <a:off x="12217298" y="7873898"/>
            <a:ext cx="4191000" cy="457200"/>
            <a:chOff x="0" y="0"/>
            <a:chExt cx="5588000" cy="609600"/>
          </a:xfrm>
        </p:grpSpPr>
        <p:sp>
          <p:nvSpPr>
            <p:cNvPr id="63" name="Freeform 63"/>
            <p:cNvSpPr/>
            <p:nvPr/>
          </p:nvSpPr>
          <p:spPr>
            <a:xfrm>
              <a:off x="0" y="0"/>
              <a:ext cx="5588000" cy="609600"/>
            </a:xfrm>
            <a:custGeom>
              <a:avLst/>
              <a:gdLst/>
              <a:ahLst/>
              <a:cxnLst/>
              <a:rect l="l" t="t" r="r" b="b"/>
              <a:pathLst>
                <a:path w="5588000" h="609600">
                  <a:moveTo>
                    <a:pt x="0" y="0"/>
                  </a:moveTo>
                  <a:lnTo>
                    <a:pt x="5588000" y="0"/>
                  </a:lnTo>
                  <a:lnTo>
                    <a:pt x="5588000" y="609600"/>
                  </a:lnTo>
                  <a:lnTo>
                    <a:pt x="0" y="609600"/>
                  </a:lnTo>
                  <a:close/>
                </a:path>
              </a:pathLst>
            </a:custGeom>
            <a:solidFill>
              <a:srgbClr val="122236"/>
            </a:solidFill>
          </p:spPr>
          <p:txBody>
            <a:bodyPr/>
            <a:lstStyle/>
            <a:p>
              <a:endParaRPr lang="en-US"/>
            </a:p>
          </p:txBody>
        </p:sp>
      </p:grpSp>
      <p:grpSp>
        <p:nvGrpSpPr>
          <p:cNvPr id="64" name="Group 64"/>
          <p:cNvGrpSpPr/>
          <p:nvPr/>
        </p:nvGrpSpPr>
        <p:grpSpPr>
          <a:xfrm>
            <a:off x="13461806" y="6273698"/>
            <a:ext cx="126806" cy="126806"/>
            <a:chOff x="0" y="0"/>
            <a:chExt cx="169075" cy="169075"/>
          </a:xfrm>
        </p:grpSpPr>
        <p:sp>
          <p:nvSpPr>
            <p:cNvPr id="65" name="Freeform 65"/>
            <p:cNvSpPr/>
            <p:nvPr/>
          </p:nvSpPr>
          <p:spPr>
            <a:xfrm>
              <a:off x="0" y="0"/>
              <a:ext cx="169164" cy="169164"/>
            </a:xfrm>
            <a:custGeom>
              <a:avLst/>
              <a:gdLst/>
              <a:ahLst/>
              <a:cxnLst/>
              <a:rect l="l" t="t" r="r" b="b"/>
              <a:pathLst>
                <a:path w="169164" h="169164">
                  <a:moveTo>
                    <a:pt x="0" y="84582"/>
                  </a:moveTo>
                  <a:cubicBezTo>
                    <a:pt x="0" y="37846"/>
                    <a:pt x="37846" y="0"/>
                    <a:pt x="84582" y="0"/>
                  </a:cubicBezTo>
                  <a:cubicBezTo>
                    <a:pt x="131318" y="0"/>
                    <a:pt x="169164" y="37846"/>
                    <a:pt x="169164" y="84582"/>
                  </a:cubicBezTo>
                  <a:cubicBezTo>
                    <a:pt x="169164" y="131318"/>
                    <a:pt x="131318" y="169164"/>
                    <a:pt x="84582" y="169164"/>
                  </a:cubicBezTo>
                  <a:cubicBezTo>
                    <a:pt x="37846" y="169164"/>
                    <a:pt x="0" y="131191"/>
                    <a:pt x="0" y="84582"/>
                  </a:cubicBezTo>
                  <a:close/>
                </a:path>
              </a:pathLst>
            </a:custGeom>
            <a:solidFill>
              <a:srgbClr val="22D3EE"/>
            </a:solidFill>
          </p:spPr>
          <p:txBody>
            <a:bodyPr/>
            <a:lstStyle/>
            <a:p>
              <a:endParaRPr lang="en-US"/>
            </a:p>
          </p:txBody>
        </p:sp>
      </p:grpSp>
      <p:grpSp>
        <p:nvGrpSpPr>
          <p:cNvPr id="66" name="Group 66"/>
          <p:cNvGrpSpPr/>
          <p:nvPr/>
        </p:nvGrpSpPr>
        <p:grpSpPr>
          <a:xfrm>
            <a:off x="14731898" y="6730898"/>
            <a:ext cx="126806" cy="126806"/>
            <a:chOff x="0" y="0"/>
            <a:chExt cx="169075" cy="169075"/>
          </a:xfrm>
        </p:grpSpPr>
        <p:sp>
          <p:nvSpPr>
            <p:cNvPr id="67" name="Freeform 67"/>
            <p:cNvSpPr/>
            <p:nvPr/>
          </p:nvSpPr>
          <p:spPr>
            <a:xfrm>
              <a:off x="0" y="0"/>
              <a:ext cx="169164" cy="169164"/>
            </a:xfrm>
            <a:custGeom>
              <a:avLst/>
              <a:gdLst/>
              <a:ahLst/>
              <a:cxnLst/>
              <a:rect l="l" t="t" r="r" b="b"/>
              <a:pathLst>
                <a:path w="169164" h="169164">
                  <a:moveTo>
                    <a:pt x="0" y="84582"/>
                  </a:moveTo>
                  <a:cubicBezTo>
                    <a:pt x="0" y="37846"/>
                    <a:pt x="37846" y="0"/>
                    <a:pt x="84582" y="0"/>
                  </a:cubicBezTo>
                  <a:cubicBezTo>
                    <a:pt x="131318" y="0"/>
                    <a:pt x="169164" y="37846"/>
                    <a:pt x="169164" y="84582"/>
                  </a:cubicBezTo>
                  <a:cubicBezTo>
                    <a:pt x="169164" y="131318"/>
                    <a:pt x="131318" y="169164"/>
                    <a:pt x="84582" y="169164"/>
                  </a:cubicBezTo>
                  <a:cubicBezTo>
                    <a:pt x="37846" y="169164"/>
                    <a:pt x="0" y="131191"/>
                    <a:pt x="0" y="84582"/>
                  </a:cubicBezTo>
                  <a:close/>
                </a:path>
              </a:pathLst>
            </a:custGeom>
            <a:solidFill>
              <a:srgbClr val="22D3EE"/>
            </a:solidFill>
          </p:spPr>
          <p:txBody>
            <a:bodyPr/>
            <a:lstStyle/>
            <a:p>
              <a:endParaRPr lang="en-US"/>
            </a:p>
          </p:txBody>
        </p:sp>
      </p:grpSp>
      <p:grpSp>
        <p:nvGrpSpPr>
          <p:cNvPr id="68" name="Group 68"/>
          <p:cNvGrpSpPr/>
          <p:nvPr/>
        </p:nvGrpSpPr>
        <p:grpSpPr>
          <a:xfrm>
            <a:off x="15240000" y="7188098"/>
            <a:ext cx="126806" cy="126806"/>
            <a:chOff x="0" y="0"/>
            <a:chExt cx="169075" cy="169075"/>
          </a:xfrm>
        </p:grpSpPr>
        <p:sp>
          <p:nvSpPr>
            <p:cNvPr id="69" name="Freeform 69"/>
            <p:cNvSpPr/>
            <p:nvPr/>
          </p:nvSpPr>
          <p:spPr>
            <a:xfrm>
              <a:off x="0" y="0"/>
              <a:ext cx="169164" cy="169164"/>
            </a:xfrm>
            <a:custGeom>
              <a:avLst/>
              <a:gdLst/>
              <a:ahLst/>
              <a:cxnLst/>
              <a:rect l="l" t="t" r="r" b="b"/>
              <a:pathLst>
                <a:path w="169164" h="169164">
                  <a:moveTo>
                    <a:pt x="0" y="84582"/>
                  </a:moveTo>
                  <a:cubicBezTo>
                    <a:pt x="0" y="37846"/>
                    <a:pt x="37846" y="0"/>
                    <a:pt x="84582" y="0"/>
                  </a:cubicBezTo>
                  <a:cubicBezTo>
                    <a:pt x="131318" y="0"/>
                    <a:pt x="169164" y="37846"/>
                    <a:pt x="169164" y="84582"/>
                  </a:cubicBezTo>
                  <a:cubicBezTo>
                    <a:pt x="169164" y="131318"/>
                    <a:pt x="131318" y="169164"/>
                    <a:pt x="84582" y="169164"/>
                  </a:cubicBezTo>
                  <a:cubicBezTo>
                    <a:pt x="37846" y="169164"/>
                    <a:pt x="0" y="131191"/>
                    <a:pt x="0" y="84582"/>
                  </a:cubicBezTo>
                  <a:close/>
                </a:path>
              </a:pathLst>
            </a:custGeom>
            <a:solidFill>
              <a:srgbClr val="22D3EE"/>
            </a:solidFill>
          </p:spPr>
          <p:txBody>
            <a:bodyPr/>
            <a:lstStyle/>
            <a:p>
              <a:endParaRPr lang="en-US"/>
            </a:p>
          </p:txBody>
        </p:sp>
      </p:grpSp>
      <p:grpSp>
        <p:nvGrpSpPr>
          <p:cNvPr id="70" name="Group 70"/>
          <p:cNvGrpSpPr/>
          <p:nvPr/>
        </p:nvGrpSpPr>
        <p:grpSpPr>
          <a:xfrm>
            <a:off x="13716000" y="7645298"/>
            <a:ext cx="126806" cy="126806"/>
            <a:chOff x="0" y="0"/>
            <a:chExt cx="169075" cy="169075"/>
          </a:xfrm>
        </p:grpSpPr>
        <p:sp>
          <p:nvSpPr>
            <p:cNvPr id="71" name="Freeform 71"/>
            <p:cNvSpPr/>
            <p:nvPr/>
          </p:nvSpPr>
          <p:spPr>
            <a:xfrm>
              <a:off x="0" y="0"/>
              <a:ext cx="169164" cy="169164"/>
            </a:xfrm>
            <a:custGeom>
              <a:avLst/>
              <a:gdLst/>
              <a:ahLst/>
              <a:cxnLst/>
              <a:rect l="l" t="t" r="r" b="b"/>
              <a:pathLst>
                <a:path w="169164" h="169164">
                  <a:moveTo>
                    <a:pt x="0" y="84582"/>
                  </a:moveTo>
                  <a:cubicBezTo>
                    <a:pt x="0" y="37846"/>
                    <a:pt x="37846" y="0"/>
                    <a:pt x="84582" y="0"/>
                  </a:cubicBezTo>
                  <a:cubicBezTo>
                    <a:pt x="131318" y="0"/>
                    <a:pt x="169164" y="37846"/>
                    <a:pt x="169164" y="84582"/>
                  </a:cubicBezTo>
                  <a:cubicBezTo>
                    <a:pt x="169164" y="131318"/>
                    <a:pt x="131318" y="169164"/>
                    <a:pt x="84582" y="169164"/>
                  </a:cubicBezTo>
                  <a:cubicBezTo>
                    <a:pt x="37846" y="169164"/>
                    <a:pt x="0" y="131191"/>
                    <a:pt x="0" y="84582"/>
                  </a:cubicBezTo>
                  <a:close/>
                </a:path>
              </a:pathLst>
            </a:custGeom>
            <a:solidFill>
              <a:srgbClr val="22D3EE"/>
            </a:solidFill>
          </p:spPr>
          <p:txBody>
            <a:bodyPr/>
            <a:lstStyle/>
            <a:p>
              <a:endParaRPr lang="en-US"/>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TextBox 2"/>
          <p:cNvSpPr txBox="1"/>
          <p:nvPr/>
        </p:nvSpPr>
        <p:spPr>
          <a:xfrm>
            <a:off x="1524000" y="1260281"/>
            <a:ext cx="5018665" cy="295275"/>
          </a:xfrm>
          <a:prstGeom prst="rect">
            <a:avLst/>
          </a:prstGeom>
        </p:spPr>
        <p:txBody>
          <a:bodyPr lIns="0" tIns="0" rIns="0" bIns="0" rtlCol="0" anchor="t">
            <a:spAutoFit/>
          </a:bodyPr>
          <a:lstStyle/>
          <a:p>
            <a:pPr algn="l">
              <a:lnSpc>
                <a:spcPts val="2400"/>
              </a:lnSpc>
            </a:pPr>
            <a:r>
              <a:rPr lang="en-US" sz="2000">
                <a:solidFill>
                  <a:srgbClr val="22D3EE"/>
                </a:solidFill>
                <a:latin typeface="Arial"/>
                <a:ea typeface="Arial"/>
                <a:cs typeface="Arial"/>
                <a:sym typeface="Arial"/>
              </a:rPr>
              <a:t>CODE · MILESTONE 1</a:t>
            </a:r>
          </a:p>
        </p:txBody>
      </p:sp>
      <p:sp>
        <p:nvSpPr>
          <p:cNvPr id="3" name="TextBox 3"/>
          <p:cNvSpPr txBox="1"/>
          <p:nvPr/>
        </p:nvSpPr>
        <p:spPr>
          <a:xfrm>
            <a:off x="1524000" y="1993706"/>
            <a:ext cx="15544800" cy="857250"/>
          </a:xfrm>
          <a:prstGeom prst="rect">
            <a:avLst/>
          </a:prstGeom>
        </p:spPr>
        <p:txBody>
          <a:bodyPr lIns="0" tIns="0" rIns="0" bIns="0" rtlCol="0" anchor="t">
            <a:spAutoFit/>
          </a:bodyPr>
          <a:lstStyle/>
          <a:p>
            <a:pPr algn="l">
              <a:lnSpc>
                <a:spcPts val="6719"/>
              </a:lnSpc>
            </a:pPr>
            <a:r>
              <a:rPr lang="en-US" sz="5599">
                <a:solidFill>
                  <a:srgbClr val="F1F5F9"/>
                </a:solidFill>
                <a:latin typeface="Arial"/>
                <a:ea typeface="Arial"/>
                <a:cs typeface="Arial"/>
                <a:sym typeface="Arial"/>
              </a:rPr>
              <a:t>Ray casting, </a:t>
            </a:r>
            <a:r>
              <a:rPr lang="en-US" sz="5599" b="1">
                <a:solidFill>
                  <a:srgbClr val="22D3EE"/>
                </a:solidFill>
                <a:latin typeface="Arial Bold"/>
                <a:ea typeface="Arial Bold"/>
                <a:cs typeface="Arial Bold"/>
                <a:sym typeface="Arial Bold"/>
              </a:rPr>
              <a:t>in C++</a:t>
            </a:r>
          </a:p>
        </p:txBody>
      </p:sp>
      <p:sp>
        <p:nvSpPr>
          <p:cNvPr id="4" name="TextBox 4"/>
          <p:cNvSpPr txBox="1"/>
          <p:nvPr/>
        </p:nvSpPr>
        <p:spPr>
          <a:xfrm>
            <a:off x="1524000" y="3495675"/>
            <a:ext cx="15544800" cy="276225"/>
          </a:xfrm>
          <a:prstGeom prst="rect">
            <a:avLst/>
          </a:prstGeom>
        </p:spPr>
        <p:txBody>
          <a:bodyPr lIns="0" tIns="0" rIns="0" bIns="0" rtlCol="0" anchor="t">
            <a:spAutoFit/>
          </a:bodyPr>
          <a:lstStyle/>
          <a:p>
            <a:pPr algn="l">
              <a:lnSpc>
                <a:spcPts val="2160"/>
              </a:lnSpc>
            </a:pPr>
            <a:r>
              <a:rPr lang="en-US" sz="1800">
                <a:solidFill>
                  <a:srgbClr val="94A3B8"/>
                </a:solidFill>
                <a:latin typeface="Courier New"/>
                <a:ea typeface="Courier New"/>
                <a:cs typeface="Courier New"/>
                <a:sym typeface="Courier New"/>
              </a:rPr>
              <a:t>src/geometry/ray_casting.cpp · </a:t>
            </a:r>
            <a:r>
              <a:rPr lang="en-US" sz="1800">
                <a:solidFill>
                  <a:srgbClr val="22D3EE"/>
                </a:solidFill>
                <a:latin typeface="Courier New"/>
                <a:ea typeface="Courier New"/>
                <a:cs typeface="Courier New"/>
                <a:sym typeface="Courier New"/>
              </a:rPr>
              <a:t>RayCaster::ray_cast_ring</a:t>
            </a:r>
          </a:p>
        </p:txBody>
      </p:sp>
      <p:grpSp>
        <p:nvGrpSpPr>
          <p:cNvPr id="5" name="Group 5"/>
          <p:cNvGrpSpPr/>
          <p:nvPr/>
        </p:nvGrpSpPr>
        <p:grpSpPr>
          <a:xfrm>
            <a:off x="1524000" y="3984216"/>
            <a:ext cx="15421575" cy="5562839"/>
            <a:chOff x="0" y="0"/>
            <a:chExt cx="20396200" cy="7357275"/>
          </a:xfrm>
        </p:grpSpPr>
        <p:sp>
          <p:nvSpPr>
            <p:cNvPr id="6" name="Freeform 6"/>
            <p:cNvSpPr/>
            <p:nvPr/>
          </p:nvSpPr>
          <p:spPr>
            <a:xfrm>
              <a:off x="12700" y="12700"/>
              <a:ext cx="20370800" cy="7331964"/>
            </a:xfrm>
            <a:custGeom>
              <a:avLst/>
              <a:gdLst/>
              <a:ahLst/>
              <a:cxnLst/>
              <a:rect l="l" t="t" r="r" b="b"/>
              <a:pathLst>
                <a:path w="20370800" h="7331964">
                  <a:moveTo>
                    <a:pt x="0" y="203200"/>
                  </a:moveTo>
                  <a:cubicBezTo>
                    <a:pt x="0" y="90932"/>
                    <a:pt x="91186" y="0"/>
                    <a:pt x="203581" y="0"/>
                  </a:cubicBezTo>
                  <a:lnTo>
                    <a:pt x="20167219" y="0"/>
                  </a:lnTo>
                  <a:cubicBezTo>
                    <a:pt x="20279613" y="0"/>
                    <a:pt x="20370800" y="90932"/>
                    <a:pt x="20370800" y="203200"/>
                  </a:cubicBezTo>
                  <a:lnTo>
                    <a:pt x="20370800" y="7128764"/>
                  </a:lnTo>
                  <a:cubicBezTo>
                    <a:pt x="20370800" y="7241032"/>
                    <a:pt x="20279613" y="7331964"/>
                    <a:pt x="20167219" y="7331964"/>
                  </a:cubicBezTo>
                  <a:lnTo>
                    <a:pt x="203581" y="7331964"/>
                  </a:lnTo>
                  <a:cubicBezTo>
                    <a:pt x="91186" y="7331964"/>
                    <a:pt x="0" y="7241032"/>
                    <a:pt x="0" y="7128764"/>
                  </a:cubicBezTo>
                  <a:close/>
                </a:path>
              </a:pathLst>
            </a:custGeom>
            <a:solidFill>
              <a:srgbClr val="122236"/>
            </a:solidFill>
          </p:spPr>
          <p:txBody>
            <a:bodyPr/>
            <a:lstStyle/>
            <a:p>
              <a:endParaRPr lang="en-US"/>
            </a:p>
          </p:txBody>
        </p:sp>
        <p:sp>
          <p:nvSpPr>
            <p:cNvPr id="7" name="Freeform 7"/>
            <p:cNvSpPr/>
            <p:nvPr/>
          </p:nvSpPr>
          <p:spPr>
            <a:xfrm>
              <a:off x="0" y="0"/>
              <a:ext cx="20396200" cy="7357364"/>
            </a:xfrm>
            <a:custGeom>
              <a:avLst/>
              <a:gdLst/>
              <a:ahLst/>
              <a:cxnLst/>
              <a:rect l="l" t="t" r="r" b="b"/>
              <a:pathLst>
                <a:path w="20396200" h="7357364">
                  <a:moveTo>
                    <a:pt x="0" y="215900"/>
                  </a:moveTo>
                  <a:cubicBezTo>
                    <a:pt x="0" y="96647"/>
                    <a:pt x="96901" y="0"/>
                    <a:pt x="216281" y="0"/>
                  </a:cubicBezTo>
                  <a:lnTo>
                    <a:pt x="20179919" y="0"/>
                  </a:lnTo>
                  <a:lnTo>
                    <a:pt x="20179919" y="12700"/>
                  </a:lnTo>
                  <a:lnTo>
                    <a:pt x="20179919" y="0"/>
                  </a:lnTo>
                  <a:cubicBezTo>
                    <a:pt x="20299299" y="0"/>
                    <a:pt x="20396200" y="96647"/>
                    <a:pt x="20396200" y="215900"/>
                  </a:cubicBezTo>
                  <a:lnTo>
                    <a:pt x="20383500" y="215900"/>
                  </a:lnTo>
                  <a:lnTo>
                    <a:pt x="20396200" y="215900"/>
                  </a:lnTo>
                  <a:lnTo>
                    <a:pt x="20396200" y="7141464"/>
                  </a:lnTo>
                  <a:lnTo>
                    <a:pt x="20383500" y="7141464"/>
                  </a:lnTo>
                  <a:lnTo>
                    <a:pt x="20396200" y="7141464"/>
                  </a:lnTo>
                  <a:cubicBezTo>
                    <a:pt x="20396200" y="7260717"/>
                    <a:pt x="20299299" y="7357364"/>
                    <a:pt x="20179919" y="7357364"/>
                  </a:cubicBezTo>
                  <a:lnTo>
                    <a:pt x="20179919" y="7344664"/>
                  </a:lnTo>
                  <a:lnTo>
                    <a:pt x="20179919" y="7357364"/>
                  </a:lnTo>
                  <a:lnTo>
                    <a:pt x="216281" y="7357364"/>
                  </a:lnTo>
                  <a:lnTo>
                    <a:pt x="216281" y="7344664"/>
                  </a:lnTo>
                  <a:lnTo>
                    <a:pt x="216281" y="7357364"/>
                  </a:lnTo>
                  <a:cubicBezTo>
                    <a:pt x="96901" y="7357364"/>
                    <a:pt x="0" y="7260717"/>
                    <a:pt x="0" y="7141464"/>
                  </a:cubicBezTo>
                  <a:lnTo>
                    <a:pt x="0" y="215900"/>
                  </a:lnTo>
                  <a:lnTo>
                    <a:pt x="12700" y="215900"/>
                  </a:lnTo>
                  <a:lnTo>
                    <a:pt x="0" y="215900"/>
                  </a:lnTo>
                  <a:moveTo>
                    <a:pt x="25400" y="215900"/>
                  </a:moveTo>
                  <a:lnTo>
                    <a:pt x="25400" y="7141464"/>
                  </a:lnTo>
                  <a:lnTo>
                    <a:pt x="12700" y="7141464"/>
                  </a:lnTo>
                  <a:lnTo>
                    <a:pt x="25400" y="7141464"/>
                  </a:lnTo>
                  <a:cubicBezTo>
                    <a:pt x="25400" y="7246620"/>
                    <a:pt x="110871" y="7331964"/>
                    <a:pt x="216281" y="7331964"/>
                  </a:cubicBezTo>
                  <a:lnTo>
                    <a:pt x="20179919" y="7331964"/>
                  </a:lnTo>
                  <a:cubicBezTo>
                    <a:pt x="20285329" y="7331964"/>
                    <a:pt x="20370800" y="7246620"/>
                    <a:pt x="20370800" y="7141464"/>
                  </a:cubicBezTo>
                  <a:lnTo>
                    <a:pt x="20370800" y="215900"/>
                  </a:lnTo>
                  <a:cubicBezTo>
                    <a:pt x="20370800" y="110744"/>
                    <a:pt x="20285329" y="25400"/>
                    <a:pt x="20179919" y="25400"/>
                  </a:cubicBezTo>
                  <a:lnTo>
                    <a:pt x="216281" y="25400"/>
                  </a:lnTo>
                  <a:lnTo>
                    <a:pt x="216281" y="12700"/>
                  </a:lnTo>
                  <a:lnTo>
                    <a:pt x="216281" y="25400"/>
                  </a:lnTo>
                  <a:cubicBezTo>
                    <a:pt x="110871" y="25400"/>
                    <a:pt x="25400" y="110744"/>
                    <a:pt x="25400" y="215900"/>
                  </a:cubicBezTo>
                  <a:close/>
                </a:path>
              </a:pathLst>
            </a:custGeom>
            <a:solidFill>
              <a:srgbClr val="1E3A5F"/>
            </a:solidFill>
          </p:spPr>
          <p:txBody>
            <a:bodyPr/>
            <a:lstStyle/>
            <a:p>
              <a:endParaRPr lang="en-US"/>
            </a:p>
          </p:txBody>
        </p:sp>
      </p:grpSp>
      <p:sp>
        <p:nvSpPr>
          <p:cNvPr id="8" name="TextBox 8"/>
          <p:cNvSpPr txBox="1"/>
          <p:nvPr/>
        </p:nvSpPr>
        <p:spPr>
          <a:xfrm>
            <a:off x="1993318" y="4210050"/>
            <a:ext cx="13908591" cy="334277"/>
          </a:xfrm>
          <a:prstGeom prst="rect">
            <a:avLst/>
          </a:prstGeom>
        </p:spPr>
        <p:txBody>
          <a:bodyPr lIns="0" tIns="0" rIns="0" bIns="0" rtlCol="0" anchor="t">
            <a:spAutoFit/>
          </a:bodyPr>
          <a:lstStyle/>
          <a:p>
            <a:pPr algn="l">
              <a:lnSpc>
                <a:spcPts val="2332"/>
              </a:lnSpc>
            </a:pPr>
            <a:r>
              <a:rPr lang="en-US" sz="1666" b="1">
                <a:solidFill>
                  <a:srgbClr val="22D3EE"/>
                </a:solidFill>
                <a:latin typeface="Courier New Bold"/>
                <a:ea typeface="Courier New Bold"/>
                <a:cs typeface="Courier New Bold"/>
                <a:sym typeface="Courier New Bold"/>
              </a:rPr>
              <a:t>int</a:t>
            </a:r>
            <a:r>
              <a:rPr lang="en-US" sz="1666">
                <a:solidFill>
                  <a:srgbClr val="F1F5F9"/>
                </a:solidFill>
                <a:latin typeface="Courier New"/>
                <a:ea typeface="Courier New"/>
                <a:cs typeface="Courier New"/>
                <a:sym typeface="Courier New"/>
              </a:rPr>
              <a:t> </a:t>
            </a:r>
            <a:r>
              <a:rPr lang="en-US" sz="1666">
                <a:solidFill>
                  <a:srgbClr val="FBBF24"/>
                </a:solidFill>
                <a:latin typeface="Courier New"/>
                <a:ea typeface="Courier New"/>
                <a:cs typeface="Courier New"/>
                <a:sym typeface="Courier New"/>
              </a:rPr>
              <a:t>ray_cast_ring</a:t>
            </a:r>
            <a:r>
              <a:rPr lang="en-US" sz="1666">
                <a:solidFill>
                  <a:srgbClr val="F1F5F9"/>
                </a:solidFill>
                <a:latin typeface="Courier New"/>
                <a:ea typeface="Courier New"/>
                <a:cs typeface="Courier New"/>
                <a:sym typeface="Courier New"/>
              </a:rPr>
              <a:t>(</a:t>
            </a:r>
            <a:r>
              <a:rPr lang="en-US" sz="1666" b="1">
                <a:solidFill>
                  <a:srgbClr val="22D3EE"/>
                </a:solidFill>
                <a:latin typeface="Courier New Bold"/>
                <a:ea typeface="Courier New Bold"/>
                <a:cs typeface="Courier New Bold"/>
                <a:sym typeface="Courier New Bold"/>
              </a:rPr>
              <a:t>const</a:t>
            </a:r>
            <a:r>
              <a:rPr lang="en-US" sz="1666">
                <a:solidFill>
                  <a:srgbClr val="F1F5F9"/>
                </a:solidFill>
                <a:latin typeface="Courier New"/>
                <a:ea typeface="Courier New"/>
                <a:cs typeface="Courier New"/>
                <a:sym typeface="Courier New"/>
              </a:rPr>
              <a:t> Point&amp; p, </a:t>
            </a:r>
            <a:r>
              <a:rPr lang="en-US" sz="1666" b="1">
                <a:solidFill>
                  <a:srgbClr val="22D3EE"/>
                </a:solidFill>
                <a:latin typeface="Courier New Bold"/>
                <a:ea typeface="Courier New Bold"/>
                <a:cs typeface="Courier New Bold"/>
                <a:sym typeface="Courier New Bold"/>
              </a:rPr>
              <a:t>const</a:t>
            </a:r>
            <a:r>
              <a:rPr lang="en-US" sz="1666">
                <a:solidFill>
                  <a:srgbClr val="F1F5F9"/>
                </a:solidFill>
                <a:latin typeface="Courier New"/>
                <a:ea typeface="Courier New"/>
                <a:cs typeface="Courier New"/>
                <a:sym typeface="Courier New"/>
              </a:rPr>
              <a:t> std::vector&lt;Point&gt;&amp; ring) {</a:t>
            </a:r>
          </a:p>
        </p:txBody>
      </p:sp>
      <p:sp>
        <p:nvSpPr>
          <p:cNvPr id="9" name="TextBox 9"/>
          <p:cNvSpPr txBox="1"/>
          <p:nvPr/>
        </p:nvSpPr>
        <p:spPr>
          <a:xfrm>
            <a:off x="1993318" y="4506227"/>
            <a:ext cx="13908591" cy="334277"/>
          </a:xfrm>
          <a:prstGeom prst="rect">
            <a:avLst/>
          </a:prstGeom>
        </p:spPr>
        <p:txBody>
          <a:bodyPr lIns="0" tIns="0" rIns="0" bIns="0" rtlCol="0" anchor="t">
            <a:spAutoFit/>
          </a:bodyPr>
          <a:lstStyle/>
          <a:p>
            <a:pPr algn="l">
              <a:lnSpc>
                <a:spcPts val="2332"/>
              </a:lnSpc>
            </a:pPr>
            <a:r>
              <a:rPr lang="en-US" sz="1666" b="1">
                <a:solidFill>
                  <a:srgbClr val="22D3EE"/>
                </a:solidFill>
                <a:latin typeface="Courier New Bold"/>
                <a:ea typeface="Courier New Bold"/>
                <a:cs typeface="Courier New Bold"/>
                <a:sym typeface="Courier New Bold"/>
              </a:rPr>
              <a:t>int</a:t>
            </a:r>
            <a:r>
              <a:rPr lang="en-US" sz="1666">
                <a:solidFill>
                  <a:srgbClr val="F1F5F9"/>
                </a:solidFill>
                <a:latin typeface="Courier New"/>
                <a:ea typeface="Courier New"/>
                <a:cs typeface="Courier New"/>
                <a:sym typeface="Courier New"/>
              </a:rPr>
              <a:t> crossings = 0;</a:t>
            </a:r>
          </a:p>
        </p:txBody>
      </p:sp>
      <p:sp>
        <p:nvSpPr>
          <p:cNvPr id="10" name="TextBox 10"/>
          <p:cNvSpPr txBox="1"/>
          <p:nvPr/>
        </p:nvSpPr>
        <p:spPr>
          <a:xfrm>
            <a:off x="1993318" y="4802404"/>
            <a:ext cx="13908591" cy="334277"/>
          </a:xfrm>
          <a:prstGeom prst="rect">
            <a:avLst/>
          </a:prstGeom>
        </p:spPr>
        <p:txBody>
          <a:bodyPr lIns="0" tIns="0" rIns="0" bIns="0" rtlCol="0" anchor="t">
            <a:spAutoFit/>
          </a:bodyPr>
          <a:lstStyle/>
          <a:p>
            <a:pPr algn="l">
              <a:lnSpc>
                <a:spcPts val="2332"/>
              </a:lnSpc>
            </a:pPr>
            <a:r>
              <a:rPr lang="en-US" sz="1666" b="1">
                <a:solidFill>
                  <a:srgbClr val="22D3EE"/>
                </a:solidFill>
                <a:latin typeface="Courier New Bold"/>
                <a:ea typeface="Courier New Bold"/>
                <a:cs typeface="Courier New Bold"/>
                <a:sym typeface="Courier New Bold"/>
              </a:rPr>
              <a:t>for</a:t>
            </a:r>
            <a:r>
              <a:rPr lang="en-US" sz="1666">
                <a:solidFill>
                  <a:srgbClr val="F1F5F9"/>
                </a:solidFill>
                <a:latin typeface="Courier New"/>
                <a:ea typeface="Courier New"/>
                <a:cs typeface="Courier New"/>
                <a:sym typeface="Courier New"/>
              </a:rPr>
              <a:t> (size_t i = 0; i &lt; ring.size(); ++i) {</a:t>
            </a:r>
          </a:p>
        </p:txBody>
      </p:sp>
      <p:sp>
        <p:nvSpPr>
          <p:cNvPr id="11" name="TextBox 11"/>
          <p:cNvSpPr txBox="1"/>
          <p:nvPr/>
        </p:nvSpPr>
        <p:spPr>
          <a:xfrm>
            <a:off x="1993318" y="5098572"/>
            <a:ext cx="13908591" cy="334277"/>
          </a:xfrm>
          <a:prstGeom prst="rect">
            <a:avLst/>
          </a:prstGeom>
        </p:spPr>
        <p:txBody>
          <a:bodyPr lIns="0" tIns="0" rIns="0" bIns="0" rtlCol="0" anchor="t">
            <a:spAutoFit/>
          </a:bodyPr>
          <a:lstStyle/>
          <a:p>
            <a:pPr algn="l">
              <a:lnSpc>
                <a:spcPts val="2332"/>
              </a:lnSpc>
            </a:pPr>
            <a:r>
              <a:rPr lang="en-US" sz="1666" b="1">
                <a:solidFill>
                  <a:srgbClr val="22D3EE"/>
                </a:solidFill>
                <a:latin typeface="Courier New Bold"/>
                <a:ea typeface="Courier New Bold"/>
                <a:cs typeface="Courier New Bold"/>
                <a:sym typeface="Courier New Bold"/>
              </a:rPr>
              <a:t>const</a:t>
            </a:r>
            <a:r>
              <a:rPr lang="en-US" sz="1666">
                <a:solidFill>
                  <a:srgbClr val="F1F5F9"/>
                </a:solidFill>
                <a:latin typeface="Courier New"/>
                <a:ea typeface="Courier New"/>
                <a:cs typeface="Courier New"/>
                <a:sym typeface="Courier New"/>
              </a:rPr>
              <a:t> Point&amp; a = ring[i];</a:t>
            </a:r>
          </a:p>
        </p:txBody>
      </p:sp>
      <p:sp>
        <p:nvSpPr>
          <p:cNvPr id="12" name="TextBox 12"/>
          <p:cNvSpPr txBox="1"/>
          <p:nvPr/>
        </p:nvSpPr>
        <p:spPr>
          <a:xfrm>
            <a:off x="1993318" y="5394748"/>
            <a:ext cx="13908591" cy="334277"/>
          </a:xfrm>
          <a:prstGeom prst="rect">
            <a:avLst/>
          </a:prstGeom>
        </p:spPr>
        <p:txBody>
          <a:bodyPr lIns="0" tIns="0" rIns="0" bIns="0" rtlCol="0" anchor="t">
            <a:spAutoFit/>
          </a:bodyPr>
          <a:lstStyle/>
          <a:p>
            <a:pPr algn="l">
              <a:lnSpc>
                <a:spcPts val="2332"/>
              </a:lnSpc>
            </a:pPr>
            <a:r>
              <a:rPr lang="en-US" sz="1666" b="1">
                <a:solidFill>
                  <a:srgbClr val="22D3EE"/>
                </a:solidFill>
                <a:latin typeface="Courier New Bold"/>
                <a:ea typeface="Courier New Bold"/>
                <a:cs typeface="Courier New Bold"/>
                <a:sym typeface="Courier New Bold"/>
              </a:rPr>
              <a:t>const</a:t>
            </a:r>
            <a:r>
              <a:rPr lang="en-US" sz="1666">
                <a:solidFill>
                  <a:srgbClr val="F1F5F9"/>
                </a:solidFill>
                <a:latin typeface="Courier New"/>
                <a:ea typeface="Courier New"/>
                <a:cs typeface="Courier New"/>
                <a:sym typeface="Courier New"/>
              </a:rPr>
              <a:t> Point&amp; b = ring[(i + 1) % ring.size()];</a:t>
            </a:r>
          </a:p>
        </p:txBody>
      </p:sp>
      <p:sp>
        <p:nvSpPr>
          <p:cNvPr id="13" name="TextBox 13"/>
          <p:cNvSpPr txBox="1"/>
          <p:nvPr/>
        </p:nvSpPr>
        <p:spPr>
          <a:xfrm>
            <a:off x="1993318" y="5987102"/>
            <a:ext cx="13908591" cy="334277"/>
          </a:xfrm>
          <a:prstGeom prst="rect">
            <a:avLst/>
          </a:prstGeom>
        </p:spPr>
        <p:txBody>
          <a:bodyPr lIns="0" tIns="0" rIns="0" bIns="0" rtlCol="0" anchor="t">
            <a:spAutoFit/>
          </a:bodyPr>
          <a:lstStyle/>
          <a:p>
            <a:pPr algn="l">
              <a:lnSpc>
                <a:spcPts val="2332"/>
              </a:lnSpc>
            </a:pPr>
            <a:r>
              <a:rPr lang="en-US" sz="1666" i="1">
                <a:solidFill>
                  <a:srgbClr val="94A3B8"/>
                </a:solidFill>
                <a:latin typeface="Courier New Italics"/>
                <a:ea typeface="Courier New Italics"/>
                <a:cs typeface="Courier New Italics"/>
                <a:sym typeface="Courier New Italics"/>
              </a:rPr>
              <a:t>// Skip horizontal edges &amp; out-of-y-range edges</a:t>
            </a:r>
          </a:p>
        </p:txBody>
      </p:sp>
      <p:sp>
        <p:nvSpPr>
          <p:cNvPr id="14" name="TextBox 14"/>
          <p:cNvSpPr txBox="1"/>
          <p:nvPr/>
        </p:nvSpPr>
        <p:spPr>
          <a:xfrm>
            <a:off x="1993318" y="6283270"/>
            <a:ext cx="13908591" cy="334277"/>
          </a:xfrm>
          <a:prstGeom prst="rect">
            <a:avLst/>
          </a:prstGeom>
        </p:spPr>
        <p:txBody>
          <a:bodyPr lIns="0" tIns="0" rIns="0" bIns="0" rtlCol="0" anchor="t">
            <a:spAutoFit/>
          </a:bodyPr>
          <a:lstStyle/>
          <a:p>
            <a:pPr algn="l">
              <a:lnSpc>
                <a:spcPts val="2332"/>
              </a:lnSpc>
            </a:pPr>
            <a:r>
              <a:rPr lang="en-US" sz="1666" b="1">
                <a:solidFill>
                  <a:srgbClr val="22D3EE"/>
                </a:solidFill>
                <a:latin typeface="Courier New Bold"/>
                <a:ea typeface="Courier New Bold"/>
                <a:cs typeface="Courier New Bold"/>
                <a:sym typeface="Courier New Bold"/>
              </a:rPr>
              <a:t>if</a:t>
            </a:r>
            <a:r>
              <a:rPr lang="en-US" sz="1666">
                <a:solidFill>
                  <a:srgbClr val="F1F5F9"/>
                </a:solidFill>
                <a:latin typeface="Courier New"/>
                <a:ea typeface="Courier New"/>
                <a:cs typeface="Courier New"/>
                <a:sym typeface="Courier New"/>
              </a:rPr>
              <a:t> (std::abs(a.y - b.y) &lt; EPSILON) </a:t>
            </a:r>
            <a:r>
              <a:rPr lang="en-US" sz="1666" b="1">
                <a:solidFill>
                  <a:srgbClr val="22D3EE"/>
                </a:solidFill>
                <a:latin typeface="Courier New Bold"/>
                <a:ea typeface="Courier New Bold"/>
                <a:cs typeface="Courier New Bold"/>
                <a:sym typeface="Courier New Bold"/>
              </a:rPr>
              <a:t>continue</a:t>
            </a:r>
            <a:r>
              <a:rPr lang="en-US" sz="1666">
                <a:solidFill>
                  <a:srgbClr val="F1F5F9"/>
                </a:solidFill>
                <a:latin typeface="Courier New"/>
                <a:ea typeface="Courier New"/>
                <a:cs typeface="Courier New"/>
                <a:sym typeface="Courier New"/>
              </a:rPr>
              <a:t>;</a:t>
            </a:r>
          </a:p>
        </p:txBody>
      </p:sp>
      <p:sp>
        <p:nvSpPr>
          <p:cNvPr id="15" name="TextBox 15"/>
          <p:cNvSpPr txBox="1"/>
          <p:nvPr/>
        </p:nvSpPr>
        <p:spPr>
          <a:xfrm>
            <a:off x="1993318" y="6579447"/>
            <a:ext cx="13908591" cy="334277"/>
          </a:xfrm>
          <a:prstGeom prst="rect">
            <a:avLst/>
          </a:prstGeom>
        </p:spPr>
        <p:txBody>
          <a:bodyPr lIns="0" tIns="0" rIns="0" bIns="0" rtlCol="0" anchor="t">
            <a:spAutoFit/>
          </a:bodyPr>
          <a:lstStyle/>
          <a:p>
            <a:pPr algn="l">
              <a:lnSpc>
                <a:spcPts val="2332"/>
              </a:lnSpc>
            </a:pPr>
            <a:r>
              <a:rPr lang="en-US" sz="1666" b="1">
                <a:solidFill>
                  <a:srgbClr val="22D3EE"/>
                </a:solidFill>
                <a:latin typeface="Courier New Bold"/>
                <a:ea typeface="Courier New Bold"/>
                <a:cs typeface="Courier New Bold"/>
                <a:sym typeface="Courier New Bold"/>
              </a:rPr>
              <a:t>if</a:t>
            </a:r>
            <a:r>
              <a:rPr lang="en-US" sz="1666">
                <a:solidFill>
                  <a:srgbClr val="F1F5F9"/>
                </a:solidFill>
                <a:latin typeface="Courier New"/>
                <a:ea typeface="Courier New"/>
                <a:cs typeface="Courier New"/>
                <a:sym typeface="Courier New"/>
              </a:rPr>
              <a:t> (point_on_segment(p, a, b)) </a:t>
            </a:r>
            <a:r>
              <a:rPr lang="en-US" sz="1666" b="1">
                <a:solidFill>
                  <a:srgbClr val="22D3EE"/>
                </a:solidFill>
                <a:latin typeface="Courier New Bold"/>
                <a:ea typeface="Courier New Bold"/>
                <a:cs typeface="Courier New Bold"/>
                <a:sym typeface="Courier New Bold"/>
              </a:rPr>
              <a:t>return</a:t>
            </a:r>
            <a:r>
              <a:rPr lang="en-US" sz="1666">
                <a:solidFill>
                  <a:srgbClr val="F1F5F9"/>
                </a:solidFill>
                <a:latin typeface="Courier New"/>
                <a:ea typeface="Courier New"/>
                <a:cs typeface="Courier New"/>
                <a:sym typeface="Courier New"/>
              </a:rPr>
              <a:t> 0; </a:t>
            </a:r>
            <a:r>
              <a:rPr lang="en-US" sz="1666" i="1">
                <a:solidFill>
                  <a:srgbClr val="94A3B8"/>
                </a:solidFill>
                <a:latin typeface="Courier New Italics"/>
                <a:ea typeface="Courier New Italics"/>
                <a:cs typeface="Courier New Italics"/>
                <a:sym typeface="Courier New Italics"/>
              </a:rPr>
              <a:t>// ON_BOUNDARY</a:t>
            </a:r>
          </a:p>
        </p:txBody>
      </p:sp>
      <p:sp>
        <p:nvSpPr>
          <p:cNvPr id="16" name="TextBox 16"/>
          <p:cNvSpPr txBox="1"/>
          <p:nvPr/>
        </p:nvSpPr>
        <p:spPr>
          <a:xfrm>
            <a:off x="1993318" y="7171800"/>
            <a:ext cx="13908591" cy="334277"/>
          </a:xfrm>
          <a:prstGeom prst="rect">
            <a:avLst/>
          </a:prstGeom>
        </p:spPr>
        <p:txBody>
          <a:bodyPr lIns="0" tIns="0" rIns="0" bIns="0" rtlCol="0" anchor="t">
            <a:spAutoFit/>
          </a:bodyPr>
          <a:lstStyle/>
          <a:p>
            <a:pPr algn="l">
              <a:lnSpc>
                <a:spcPts val="2332"/>
              </a:lnSpc>
            </a:pPr>
            <a:r>
              <a:rPr lang="en-US" sz="1666" i="1">
                <a:solidFill>
                  <a:srgbClr val="94A3B8"/>
                </a:solidFill>
                <a:latin typeface="Courier New Italics"/>
                <a:ea typeface="Courier New Italics"/>
                <a:cs typeface="Courier New Italics"/>
                <a:sym typeface="Courier New Italics"/>
              </a:rPr>
              <a:t>// Cast ray rightward; count only valid crossings</a:t>
            </a:r>
          </a:p>
        </p:txBody>
      </p:sp>
      <p:sp>
        <p:nvSpPr>
          <p:cNvPr id="17" name="TextBox 17"/>
          <p:cNvSpPr txBox="1"/>
          <p:nvPr/>
        </p:nvSpPr>
        <p:spPr>
          <a:xfrm>
            <a:off x="1993318" y="7467977"/>
            <a:ext cx="13908591" cy="334277"/>
          </a:xfrm>
          <a:prstGeom prst="rect">
            <a:avLst/>
          </a:prstGeom>
        </p:spPr>
        <p:txBody>
          <a:bodyPr lIns="0" tIns="0" rIns="0" bIns="0" rtlCol="0" anchor="t">
            <a:spAutoFit/>
          </a:bodyPr>
          <a:lstStyle/>
          <a:p>
            <a:pPr algn="l">
              <a:lnSpc>
                <a:spcPts val="2332"/>
              </a:lnSpc>
            </a:pPr>
            <a:r>
              <a:rPr lang="en-US" sz="1666" b="1">
                <a:solidFill>
                  <a:srgbClr val="22D3EE"/>
                </a:solidFill>
                <a:latin typeface="Courier New Bold"/>
                <a:ea typeface="Courier New Bold"/>
                <a:cs typeface="Courier New Bold"/>
                <a:sym typeface="Courier New Bold"/>
              </a:rPr>
              <a:t>double</a:t>
            </a:r>
            <a:r>
              <a:rPr lang="en-US" sz="1666">
                <a:solidFill>
                  <a:srgbClr val="F1F5F9"/>
                </a:solidFill>
                <a:latin typeface="Courier New"/>
                <a:ea typeface="Courier New"/>
                <a:cs typeface="Courier New"/>
                <a:sym typeface="Courier New"/>
              </a:rPr>
              <a:t> t = (p.y - a.y) / (b.y - a.y);</a:t>
            </a:r>
          </a:p>
        </p:txBody>
      </p:sp>
      <p:sp>
        <p:nvSpPr>
          <p:cNvPr id="18" name="TextBox 18"/>
          <p:cNvSpPr txBox="1"/>
          <p:nvPr/>
        </p:nvSpPr>
        <p:spPr>
          <a:xfrm>
            <a:off x="1993318" y="7764145"/>
            <a:ext cx="13908591" cy="334277"/>
          </a:xfrm>
          <a:prstGeom prst="rect">
            <a:avLst/>
          </a:prstGeom>
        </p:spPr>
        <p:txBody>
          <a:bodyPr lIns="0" tIns="0" rIns="0" bIns="0" rtlCol="0" anchor="t">
            <a:spAutoFit/>
          </a:bodyPr>
          <a:lstStyle/>
          <a:p>
            <a:pPr algn="l">
              <a:lnSpc>
                <a:spcPts val="2332"/>
              </a:lnSpc>
            </a:pPr>
            <a:r>
              <a:rPr lang="en-US" sz="1666" b="1">
                <a:solidFill>
                  <a:srgbClr val="22D3EE"/>
                </a:solidFill>
                <a:latin typeface="Courier New Bold"/>
                <a:ea typeface="Courier New Bold"/>
                <a:cs typeface="Courier New Bold"/>
                <a:sym typeface="Courier New Bold"/>
              </a:rPr>
              <a:t>double</a:t>
            </a:r>
            <a:r>
              <a:rPr lang="en-US" sz="1666">
                <a:solidFill>
                  <a:srgbClr val="F1F5F9"/>
                </a:solidFill>
                <a:latin typeface="Courier New"/>
                <a:ea typeface="Courier New"/>
                <a:cs typeface="Courier New"/>
                <a:sym typeface="Courier New"/>
              </a:rPr>
              <a:t> x_intersect = a.x + t * (b.x - a.x);</a:t>
            </a:r>
          </a:p>
        </p:txBody>
      </p:sp>
      <p:sp>
        <p:nvSpPr>
          <p:cNvPr id="19" name="TextBox 19"/>
          <p:cNvSpPr txBox="1"/>
          <p:nvPr/>
        </p:nvSpPr>
        <p:spPr>
          <a:xfrm>
            <a:off x="1993318" y="8060322"/>
            <a:ext cx="13908591" cy="334277"/>
          </a:xfrm>
          <a:prstGeom prst="rect">
            <a:avLst/>
          </a:prstGeom>
        </p:spPr>
        <p:txBody>
          <a:bodyPr lIns="0" tIns="0" rIns="0" bIns="0" rtlCol="0" anchor="t">
            <a:spAutoFit/>
          </a:bodyPr>
          <a:lstStyle/>
          <a:p>
            <a:pPr algn="l">
              <a:lnSpc>
                <a:spcPts val="2332"/>
              </a:lnSpc>
            </a:pPr>
            <a:r>
              <a:rPr lang="en-US" sz="1666" b="1">
                <a:solidFill>
                  <a:srgbClr val="22D3EE"/>
                </a:solidFill>
                <a:latin typeface="Courier New Bold"/>
                <a:ea typeface="Courier New Bold"/>
                <a:cs typeface="Courier New Bold"/>
                <a:sym typeface="Courier New Bold"/>
              </a:rPr>
              <a:t>if</a:t>
            </a:r>
            <a:r>
              <a:rPr lang="en-US" sz="1666">
                <a:solidFill>
                  <a:srgbClr val="F1F5F9"/>
                </a:solidFill>
                <a:latin typeface="Courier New"/>
                <a:ea typeface="Courier New"/>
                <a:cs typeface="Courier New"/>
                <a:sym typeface="Courier New"/>
              </a:rPr>
              <a:t> (x_intersect &gt; p.x &amp;&amp; (a.y &gt; p.y) != (b.y &gt; p.y))</a:t>
            </a:r>
          </a:p>
        </p:txBody>
      </p:sp>
      <p:sp>
        <p:nvSpPr>
          <p:cNvPr id="20" name="TextBox 20"/>
          <p:cNvSpPr txBox="1"/>
          <p:nvPr/>
        </p:nvSpPr>
        <p:spPr>
          <a:xfrm>
            <a:off x="1993318" y="8356498"/>
            <a:ext cx="13908591" cy="334277"/>
          </a:xfrm>
          <a:prstGeom prst="rect">
            <a:avLst/>
          </a:prstGeom>
        </p:spPr>
        <p:txBody>
          <a:bodyPr lIns="0" tIns="0" rIns="0" bIns="0" rtlCol="0" anchor="t">
            <a:spAutoFit/>
          </a:bodyPr>
          <a:lstStyle/>
          <a:p>
            <a:pPr algn="l">
              <a:lnSpc>
                <a:spcPts val="2332"/>
              </a:lnSpc>
            </a:pPr>
            <a:r>
              <a:rPr lang="en-US" sz="1666">
                <a:solidFill>
                  <a:srgbClr val="F1F5F9"/>
                </a:solidFill>
                <a:latin typeface="Courier New"/>
                <a:ea typeface="Courier New"/>
                <a:cs typeface="Courier New"/>
                <a:sym typeface="Courier New"/>
              </a:rPr>
              <a:t>crossings++;</a:t>
            </a:r>
          </a:p>
        </p:txBody>
      </p:sp>
      <p:sp>
        <p:nvSpPr>
          <p:cNvPr id="21" name="TextBox 21"/>
          <p:cNvSpPr txBox="1"/>
          <p:nvPr/>
        </p:nvSpPr>
        <p:spPr>
          <a:xfrm>
            <a:off x="1993318" y="8652675"/>
            <a:ext cx="13908591" cy="334277"/>
          </a:xfrm>
          <a:prstGeom prst="rect">
            <a:avLst/>
          </a:prstGeom>
        </p:spPr>
        <p:txBody>
          <a:bodyPr lIns="0" tIns="0" rIns="0" bIns="0" rtlCol="0" anchor="t">
            <a:spAutoFit/>
          </a:bodyPr>
          <a:lstStyle/>
          <a:p>
            <a:pPr algn="l">
              <a:lnSpc>
                <a:spcPts val="2332"/>
              </a:lnSpc>
            </a:pPr>
            <a:r>
              <a:rPr lang="en-US" sz="1666">
                <a:solidFill>
                  <a:srgbClr val="F1F5F9"/>
                </a:solidFill>
                <a:latin typeface="Courier New"/>
                <a:ea typeface="Courier New"/>
                <a:cs typeface="Courier New"/>
                <a:sym typeface="Courier New"/>
              </a:rPr>
              <a:t>}</a:t>
            </a:r>
          </a:p>
        </p:txBody>
      </p:sp>
      <p:sp>
        <p:nvSpPr>
          <p:cNvPr id="22" name="TextBox 22"/>
          <p:cNvSpPr txBox="1"/>
          <p:nvPr/>
        </p:nvSpPr>
        <p:spPr>
          <a:xfrm>
            <a:off x="1993318" y="8948843"/>
            <a:ext cx="13908591" cy="334277"/>
          </a:xfrm>
          <a:prstGeom prst="rect">
            <a:avLst/>
          </a:prstGeom>
        </p:spPr>
        <p:txBody>
          <a:bodyPr lIns="0" tIns="0" rIns="0" bIns="0" rtlCol="0" anchor="t">
            <a:spAutoFit/>
          </a:bodyPr>
          <a:lstStyle/>
          <a:p>
            <a:pPr algn="l">
              <a:lnSpc>
                <a:spcPts val="2332"/>
              </a:lnSpc>
            </a:pPr>
            <a:r>
              <a:rPr lang="en-US" sz="1666" b="1">
                <a:solidFill>
                  <a:srgbClr val="22D3EE"/>
                </a:solidFill>
                <a:latin typeface="Courier New Bold"/>
                <a:ea typeface="Courier New Bold"/>
                <a:cs typeface="Courier New Bold"/>
                <a:sym typeface="Courier New Bold"/>
              </a:rPr>
              <a:t>return</a:t>
            </a:r>
            <a:r>
              <a:rPr lang="en-US" sz="1666">
                <a:solidFill>
                  <a:srgbClr val="F1F5F9"/>
                </a:solidFill>
                <a:latin typeface="Courier New"/>
                <a:ea typeface="Courier New"/>
                <a:cs typeface="Courier New"/>
                <a:sym typeface="Courier New"/>
              </a:rPr>
              <a:t> crossings; </a:t>
            </a:r>
            <a:r>
              <a:rPr lang="en-US" sz="1666" i="1">
                <a:solidFill>
                  <a:srgbClr val="94A3B8"/>
                </a:solidFill>
                <a:latin typeface="Courier New Italics"/>
                <a:ea typeface="Courier New Italics"/>
                <a:cs typeface="Courier New Italics"/>
                <a:sym typeface="Courier New Italics"/>
              </a:rPr>
              <a:t>// odd = INSIDE, even = OUTSIDE</a:t>
            </a:r>
          </a:p>
        </p:txBody>
      </p:sp>
      <p:sp>
        <p:nvSpPr>
          <p:cNvPr id="23" name="TextBox 23"/>
          <p:cNvSpPr txBox="1"/>
          <p:nvPr/>
        </p:nvSpPr>
        <p:spPr>
          <a:xfrm>
            <a:off x="1993318" y="9245020"/>
            <a:ext cx="13908591" cy="334277"/>
          </a:xfrm>
          <a:prstGeom prst="rect">
            <a:avLst/>
          </a:prstGeom>
        </p:spPr>
        <p:txBody>
          <a:bodyPr lIns="0" tIns="0" rIns="0" bIns="0" rtlCol="0" anchor="t">
            <a:spAutoFit/>
          </a:bodyPr>
          <a:lstStyle/>
          <a:p>
            <a:pPr algn="l">
              <a:lnSpc>
                <a:spcPts val="2332"/>
              </a:lnSpc>
            </a:pPr>
            <a:r>
              <a:rPr lang="en-US" sz="1666">
                <a:solidFill>
                  <a:srgbClr val="F1F5F9"/>
                </a:solidFill>
                <a:latin typeface="Courier New"/>
                <a:ea typeface="Courier New"/>
                <a:cs typeface="Courier New"/>
                <a:sym typeface="Courier New"/>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TextBox 2"/>
          <p:cNvSpPr txBox="1"/>
          <p:nvPr/>
        </p:nvSpPr>
        <p:spPr>
          <a:xfrm>
            <a:off x="1524000" y="1260281"/>
            <a:ext cx="5834158" cy="295275"/>
          </a:xfrm>
          <a:prstGeom prst="rect">
            <a:avLst/>
          </a:prstGeom>
        </p:spPr>
        <p:txBody>
          <a:bodyPr lIns="0" tIns="0" rIns="0" bIns="0" rtlCol="0" anchor="t">
            <a:spAutoFit/>
          </a:bodyPr>
          <a:lstStyle/>
          <a:p>
            <a:pPr algn="l">
              <a:lnSpc>
                <a:spcPts val="2400"/>
              </a:lnSpc>
            </a:pPr>
            <a:r>
              <a:rPr lang="en-US" sz="2000">
                <a:solidFill>
                  <a:srgbClr val="22D3EE"/>
                </a:solidFill>
                <a:latin typeface="Arial"/>
                <a:ea typeface="Arial"/>
                <a:cs typeface="Arial"/>
                <a:sym typeface="Arial"/>
              </a:rPr>
              <a:t>MILESTONE 1 · RESULTS</a:t>
            </a:r>
          </a:p>
        </p:txBody>
      </p:sp>
      <p:sp>
        <p:nvSpPr>
          <p:cNvPr id="3" name="TextBox 3"/>
          <p:cNvSpPr txBox="1"/>
          <p:nvPr/>
        </p:nvSpPr>
        <p:spPr>
          <a:xfrm>
            <a:off x="1524000" y="2003231"/>
            <a:ext cx="15544800" cy="885825"/>
          </a:xfrm>
          <a:prstGeom prst="rect">
            <a:avLst/>
          </a:prstGeom>
        </p:spPr>
        <p:txBody>
          <a:bodyPr lIns="0" tIns="0" rIns="0" bIns="0" rtlCol="0" anchor="t">
            <a:spAutoFit/>
          </a:bodyPr>
          <a:lstStyle/>
          <a:p>
            <a:pPr algn="l">
              <a:lnSpc>
                <a:spcPts val="7200"/>
              </a:lnSpc>
            </a:pPr>
            <a:r>
              <a:rPr lang="en-US" sz="6000">
                <a:solidFill>
                  <a:srgbClr val="F1F5F9"/>
                </a:solidFill>
                <a:latin typeface="Arial"/>
                <a:ea typeface="Arial"/>
                <a:cs typeface="Arial"/>
                <a:sym typeface="Arial"/>
              </a:rPr>
              <a:t>Up to </a:t>
            </a:r>
            <a:r>
              <a:rPr lang="en-US" sz="6000" b="1">
                <a:solidFill>
                  <a:srgbClr val="22D3EE"/>
                </a:solidFill>
                <a:latin typeface="Arial Bold"/>
                <a:ea typeface="Arial Bold"/>
                <a:cs typeface="Arial Bold"/>
                <a:sym typeface="Arial Bold"/>
              </a:rPr>
              <a:t>31.8×</a:t>
            </a:r>
            <a:r>
              <a:rPr lang="en-US" sz="6000">
                <a:solidFill>
                  <a:srgbClr val="F1F5F9"/>
                </a:solidFill>
                <a:latin typeface="Arial"/>
                <a:ea typeface="Arial"/>
                <a:cs typeface="Arial"/>
                <a:sym typeface="Arial"/>
              </a:rPr>
              <a:t> speedup over brute force</a:t>
            </a:r>
          </a:p>
        </p:txBody>
      </p:sp>
      <p:grpSp>
        <p:nvGrpSpPr>
          <p:cNvPr id="4" name="Group 4"/>
          <p:cNvGrpSpPr/>
          <p:nvPr/>
        </p:nvGrpSpPr>
        <p:grpSpPr>
          <a:xfrm>
            <a:off x="1524000" y="4191000"/>
            <a:ext cx="5587898" cy="2717302"/>
            <a:chOff x="0" y="0"/>
            <a:chExt cx="7450531" cy="3623069"/>
          </a:xfrm>
        </p:grpSpPr>
        <p:sp>
          <p:nvSpPr>
            <p:cNvPr id="5" name="Freeform 5"/>
            <p:cNvSpPr/>
            <p:nvPr/>
          </p:nvSpPr>
          <p:spPr>
            <a:xfrm>
              <a:off x="0" y="0"/>
              <a:ext cx="7450582" cy="3623056"/>
            </a:xfrm>
            <a:custGeom>
              <a:avLst/>
              <a:gdLst/>
              <a:ahLst/>
              <a:cxnLst/>
              <a:rect l="l" t="t" r="r" b="b"/>
              <a:pathLst>
                <a:path w="7450582" h="3623056">
                  <a:moveTo>
                    <a:pt x="0" y="0"/>
                  </a:moveTo>
                  <a:lnTo>
                    <a:pt x="7450582" y="0"/>
                  </a:lnTo>
                  <a:lnTo>
                    <a:pt x="7450582" y="3623056"/>
                  </a:lnTo>
                  <a:lnTo>
                    <a:pt x="0" y="3623056"/>
                  </a:lnTo>
                  <a:close/>
                </a:path>
              </a:pathLst>
            </a:custGeom>
            <a:solidFill>
              <a:srgbClr val="122236"/>
            </a:solidFill>
          </p:spPr>
          <p:txBody>
            <a:bodyPr/>
            <a:lstStyle/>
            <a:p>
              <a:endParaRPr lang="en-US"/>
            </a:p>
          </p:txBody>
        </p:sp>
      </p:grpSp>
      <p:grpSp>
        <p:nvGrpSpPr>
          <p:cNvPr id="6" name="Group 6"/>
          <p:cNvGrpSpPr/>
          <p:nvPr/>
        </p:nvGrpSpPr>
        <p:grpSpPr>
          <a:xfrm>
            <a:off x="1524000" y="4143375"/>
            <a:ext cx="95250" cy="2812552"/>
            <a:chOff x="0" y="0"/>
            <a:chExt cx="127000" cy="3750069"/>
          </a:xfrm>
        </p:grpSpPr>
        <p:sp>
          <p:nvSpPr>
            <p:cNvPr id="7" name="Freeform 7"/>
            <p:cNvSpPr/>
            <p:nvPr/>
          </p:nvSpPr>
          <p:spPr>
            <a:xfrm>
              <a:off x="0" y="63500"/>
              <a:ext cx="127000" cy="3623056"/>
            </a:xfrm>
            <a:custGeom>
              <a:avLst/>
              <a:gdLst/>
              <a:ahLst/>
              <a:cxnLst/>
              <a:rect l="l" t="t" r="r" b="b"/>
              <a:pathLst>
                <a:path w="127000" h="3623056">
                  <a:moveTo>
                    <a:pt x="127000" y="0"/>
                  </a:moveTo>
                  <a:lnTo>
                    <a:pt x="127000" y="3623056"/>
                  </a:lnTo>
                  <a:lnTo>
                    <a:pt x="0" y="3623056"/>
                  </a:lnTo>
                  <a:lnTo>
                    <a:pt x="0" y="0"/>
                  </a:lnTo>
                  <a:close/>
                </a:path>
              </a:pathLst>
            </a:custGeom>
            <a:solidFill>
              <a:srgbClr val="22D3EE"/>
            </a:solidFill>
          </p:spPr>
          <p:txBody>
            <a:bodyPr/>
            <a:lstStyle/>
            <a:p>
              <a:endParaRPr lang="en-US"/>
            </a:p>
          </p:txBody>
        </p:sp>
      </p:grpSp>
      <p:sp>
        <p:nvSpPr>
          <p:cNvPr id="8" name="TextBox 8"/>
          <p:cNvSpPr txBox="1"/>
          <p:nvPr/>
        </p:nvSpPr>
        <p:spPr>
          <a:xfrm>
            <a:off x="2076450" y="4527356"/>
            <a:ext cx="4669812" cy="1619250"/>
          </a:xfrm>
          <a:prstGeom prst="rect">
            <a:avLst/>
          </a:prstGeom>
        </p:spPr>
        <p:txBody>
          <a:bodyPr lIns="0" tIns="0" rIns="0" bIns="0" rtlCol="0" anchor="t">
            <a:spAutoFit/>
          </a:bodyPr>
          <a:lstStyle/>
          <a:p>
            <a:pPr algn="l">
              <a:lnSpc>
                <a:spcPts val="6719"/>
              </a:lnSpc>
            </a:pPr>
            <a:r>
              <a:rPr lang="en-US" sz="5599" b="1">
                <a:solidFill>
                  <a:srgbClr val="22D3EE"/>
                </a:solidFill>
                <a:latin typeface="Courier New Bold"/>
                <a:ea typeface="Courier New Bold"/>
                <a:cs typeface="Courier New Bold"/>
                <a:sym typeface="Courier New Bold"/>
              </a:rPr>
              <a:t>16.5s → 0.79s</a:t>
            </a:r>
          </a:p>
        </p:txBody>
      </p:sp>
      <p:sp>
        <p:nvSpPr>
          <p:cNvPr id="9" name="TextBox 9"/>
          <p:cNvSpPr txBox="1"/>
          <p:nvPr/>
        </p:nvSpPr>
        <p:spPr>
          <a:xfrm>
            <a:off x="2076450" y="6229055"/>
            <a:ext cx="4669812" cy="323850"/>
          </a:xfrm>
          <a:prstGeom prst="rect">
            <a:avLst/>
          </a:prstGeom>
        </p:spPr>
        <p:txBody>
          <a:bodyPr lIns="0" tIns="0" rIns="0" bIns="0" rtlCol="0" anchor="t">
            <a:spAutoFit/>
          </a:bodyPr>
          <a:lstStyle/>
          <a:p>
            <a:pPr algn="l">
              <a:lnSpc>
                <a:spcPts val="2640"/>
              </a:lnSpc>
            </a:pPr>
            <a:r>
              <a:rPr lang="en-US" sz="2200">
                <a:solidFill>
                  <a:srgbClr val="94A3B8"/>
                </a:solidFill>
                <a:latin typeface="Arial"/>
                <a:ea typeface="Arial"/>
                <a:cs typeface="Arial"/>
                <a:sym typeface="Arial"/>
              </a:rPr>
              <a:t>1M UNIFORM POINTS</a:t>
            </a:r>
          </a:p>
        </p:txBody>
      </p:sp>
      <p:grpSp>
        <p:nvGrpSpPr>
          <p:cNvPr id="10" name="Group 10"/>
          <p:cNvGrpSpPr/>
          <p:nvPr/>
        </p:nvGrpSpPr>
        <p:grpSpPr>
          <a:xfrm>
            <a:off x="1524000" y="7263708"/>
            <a:ext cx="5587898" cy="1320403"/>
            <a:chOff x="0" y="0"/>
            <a:chExt cx="7450531" cy="1760538"/>
          </a:xfrm>
        </p:grpSpPr>
        <p:sp>
          <p:nvSpPr>
            <p:cNvPr id="11" name="Freeform 11"/>
            <p:cNvSpPr/>
            <p:nvPr/>
          </p:nvSpPr>
          <p:spPr>
            <a:xfrm>
              <a:off x="0" y="0"/>
              <a:ext cx="7450582" cy="1760601"/>
            </a:xfrm>
            <a:custGeom>
              <a:avLst/>
              <a:gdLst/>
              <a:ahLst/>
              <a:cxnLst/>
              <a:rect l="l" t="t" r="r" b="b"/>
              <a:pathLst>
                <a:path w="7450582" h="1760601">
                  <a:moveTo>
                    <a:pt x="0" y="0"/>
                  </a:moveTo>
                  <a:lnTo>
                    <a:pt x="7450582" y="0"/>
                  </a:lnTo>
                  <a:lnTo>
                    <a:pt x="7450582" y="1760601"/>
                  </a:lnTo>
                  <a:lnTo>
                    <a:pt x="0" y="1760601"/>
                  </a:lnTo>
                  <a:close/>
                </a:path>
              </a:pathLst>
            </a:custGeom>
            <a:solidFill>
              <a:srgbClr val="122236"/>
            </a:solidFill>
          </p:spPr>
          <p:txBody>
            <a:bodyPr/>
            <a:lstStyle/>
            <a:p>
              <a:endParaRPr lang="en-US"/>
            </a:p>
          </p:txBody>
        </p:sp>
      </p:grpSp>
      <p:sp>
        <p:nvSpPr>
          <p:cNvPr id="12" name="TextBox 12"/>
          <p:cNvSpPr txBox="1"/>
          <p:nvPr/>
        </p:nvSpPr>
        <p:spPr>
          <a:xfrm>
            <a:off x="1930298" y="7520883"/>
            <a:ext cx="4870809" cy="758428"/>
          </a:xfrm>
          <a:prstGeom prst="rect">
            <a:avLst/>
          </a:prstGeom>
        </p:spPr>
        <p:txBody>
          <a:bodyPr lIns="0" tIns="0" rIns="0" bIns="0" rtlCol="0" anchor="t">
            <a:spAutoFit/>
          </a:bodyPr>
          <a:lstStyle/>
          <a:p>
            <a:pPr algn="l">
              <a:lnSpc>
                <a:spcPts val="2800"/>
              </a:lnSpc>
            </a:pPr>
            <a:r>
              <a:rPr lang="en-US" sz="2000" b="1">
                <a:solidFill>
                  <a:srgbClr val="F1F5F9"/>
                </a:solidFill>
                <a:latin typeface="Arial Bold"/>
                <a:ea typeface="Arial Bold"/>
                <a:cs typeface="Arial Bold"/>
                <a:sym typeface="Arial Bold"/>
              </a:rPr>
              <a:t>Validated</a:t>
            </a:r>
            <a:r>
              <a:rPr lang="en-US" sz="2000">
                <a:solidFill>
                  <a:srgbClr val="94A3B8"/>
                </a:solidFill>
                <a:latin typeface="Arial"/>
                <a:ea typeface="Arial"/>
                <a:cs typeface="Arial"/>
                <a:sym typeface="Arial"/>
              </a:rPr>
              <a:t> against brute force on Pakistan GeoJSON: 204 polygons, 745 centroids.</a:t>
            </a:r>
          </a:p>
        </p:txBody>
      </p:sp>
      <p:pic>
        <p:nvPicPr>
          <p:cNvPr id="13" name="Picture 13"/>
          <p:cNvPicPr>
            <a:picLocks noChangeAspect="1"/>
          </p:cNvPicPr>
          <p:nvPr/>
        </p:nvPicPr>
        <p:blipFill>
          <a:blip r:embed="rId3"/>
          <a:stretch>
            <a:fillRect/>
          </a:stretch>
        </p:blipFill>
        <p:spPr>
          <a:xfrm>
            <a:off x="6832402" y="3276600"/>
            <a:ext cx="10972800" cy="7162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TextBox 2"/>
          <p:cNvSpPr txBox="1"/>
          <p:nvPr/>
        </p:nvSpPr>
        <p:spPr>
          <a:xfrm>
            <a:off x="1524000" y="1260281"/>
            <a:ext cx="7748416" cy="295275"/>
          </a:xfrm>
          <a:prstGeom prst="rect">
            <a:avLst/>
          </a:prstGeom>
        </p:spPr>
        <p:txBody>
          <a:bodyPr lIns="0" tIns="0" rIns="0" bIns="0" rtlCol="0" anchor="t">
            <a:spAutoFit/>
          </a:bodyPr>
          <a:lstStyle/>
          <a:p>
            <a:pPr algn="l">
              <a:lnSpc>
                <a:spcPts val="2400"/>
              </a:lnSpc>
            </a:pPr>
            <a:r>
              <a:rPr lang="en-US" sz="2000">
                <a:solidFill>
                  <a:srgbClr val="22D3EE"/>
                </a:solidFill>
                <a:latin typeface="Arial"/>
                <a:ea typeface="Arial"/>
                <a:cs typeface="Arial"/>
                <a:sym typeface="Arial"/>
              </a:rPr>
              <a:t>MILESTONE 2 · SHARED MEMORY</a:t>
            </a:r>
          </a:p>
        </p:txBody>
      </p:sp>
      <p:sp>
        <p:nvSpPr>
          <p:cNvPr id="3" name="TextBox 3"/>
          <p:cNvSpPr txBox="1"/>
          <p:nvPr/>
        </p:nvSpPr>
        <p:spPr>
          <a:xfrm>
            <a:off x="1524000" y="2003231"/>
            <a:ext cx="15544800" cy="885825"/>
          </a:xfrm>
          <a:prstGeom prst="rect">
            <a:avLst/>
          </a:prstGeom>
        </p:spPr>
        <p:txBody>
          <a:bodyPr lIns="0" tIns="0" rIns="0" bIns="0" rtlCol="0" anchor="t">
            <a:spAutoFit/>
          </a:bodyPr>
          <a:lstStyle/>
          <a:p>
            <a:pPr algn="l">
              <a:lnSpc>
                <a:spcPts val="7200"/>
              </a:lnSpc>
            </a:pPr>
            <a:r>
              <a:rPr lang="en-US" sz="6000">
                <a:solidFill>
                  <a:srgbClr val="F1F5F9"/>
                </a:solidFill>
                <a:latin typeface="Arial"/>
                <a:ea typeface="Arial"/>
                <a:cs typeface="Arial"/>
                <a:sym typeface="Arial"/>
              </a:rPr>
              <a:t>Five strategies, </a:t>
            </a:r>
            <a:r>
              <a:rPr lang="en-US" sz="6000" b="1">
                <a:solidFill>
                  <a:srgbClr val="22D3EE"/>
                </a:solidFill>
                <a:latin typeface="Arial Bold"/>
                <a:ea typeface="Arial Bold"/>
                <a:cs typeface="Arial Bold"/>
                <a:sym typeface="Arial Bold"/>
              </a:rPr>
              <a:t>one machine</a:t>
            </a:r>
          </a:p>
        </p:txBody>
      </p:sp>
      <p:grpSp>
        <p:nvGrpSpPr>
          <p:cNvPr id="4" name="Group 4"/>
          <p:cNvGrpSpPr/>
          <p:nvPr/>
        </p:nvGrpSpPr>
        <p:grpSpPr>
          <a:xfrm>
            <a:off x="1524000" y="4191000"/>
            <a:ext cx="6096000" cy="4572000"/>
            <a:chOff x="0" y="0"/>
            <a:chExt cx="8128000" cy="6096000"/>
          </a:xfrm>
        </p:grpSpPr>
        <p:sp>
          <p:nvSpPr>
            <p:cNvPr id="5" name="Freeform 5"/>
            <p:cNvSpPr/>
            <p:nvPr/>
          </p:nvSpPr>
          <p:spPr>
            <a:xfrm>
              <a:off x="0" y="0"/>
              <a:ext cx="8128000" cy="6096000"/>
            </a:xfrm>
            <a:custGeom>
              <a:avLst/>
              <a:gdLst/>
              <a:ahLst/>
              <a:cxnLst/>
              <a:rect l="l" t="t" r="r" b="b"/>
              <a:pathLst>
                <a:path w="8128000" h="6096000">
                  <a:moveTo>
                    <a:pt x="0" y="203200"/>
                  </a:moveTo>
                  <a:cubicBezTo>
                    <a:pt x="0" y="90932"/>
                    <a:pt x="90932" y="0"/>
                    <a:pt x="203200" y="0"/>
                  </a:cubicBezTo>
                  <a:lnTo>
                    <a:pt x="7924800" y="0"/>
                  </a:lnTo>
                  <a:cubicBezTo>
                    <a:pt x="8037068" y="0"/>
                    <a:pt x="8128000" y="90932"/>
                    <a:pt x="8128000" y="203200"/>
                  </a:cubicBezTo>
                  <a:lnTo>
                    <a:pt x="8128000" y="5892800"/>
                  </a:lnTo>
                  <a:cubicBezTo>
                    <a:pt x="8128000" y="6005068"/>
                    <a:pt x="8037068" y="6096000"/>
                    <a:pt x="7924800" y="6096000"/>
                  </a:cubicBezTo>
                  <a:lnTo>
                    <a:pt x="203200" y="6096000"/>
                  </a:lnTo>
                  <a:cubicBezTo>
                    <a:pt x="90932" y="6096000"/>
                    <a:pt x="0" y="6005068"/>
                    <a:pt x="0" y="5892800"/>
                  </a:cubicBezTo>
                  <a:close/>
                </a:path>
              </a:pathLst>
            </a:custGeom>
            <a:solidFill>
              <a:srgbClr val="122236"/>
            </a:solidFill>
          </p:spPr>
          <p:txBody>
            <a:bodyPr/>
            <a:lstStyle/>
            <a:p>
              <a:endParaRPr lang="en-US"/>
            </a:p>
          </p:txBody>
        </p:sp>
      </p:grpSp>
      <p:grpSp>
        <p:nvGrpSpPr>
          <p:cNvPr id="6" name="Group 6"/>
          <p:cNvGrpSpPr/>
          <p:nvPr/>
        </p:nvGrpSpPr>
        <p:grpSpPr>
          <a:xfrm>
            <a:off x="3860606" y="4572000"/>
            <a:ext cx="1422206" cy="914400"/>
            <a:chOff x="0" y="0"/>
            <a:chExt cx="1896275" cy="1219200"/>
          </a:xfrm>
        </p:grpSpPr>
        <p:sp>
          <p:nvSpPr>
            <p:cNvPr id="7" name="Freeform 7"/>
            <p:cNvSpPr/>
            <p:nvPr/>
          </p:nvSpPr>
          <p:spPr>
            <a:xfrm>
              <a:off x="0" y="0"/>
              <a:ext cx="1896237" cy="1219200"/>
            </a:xfrm>
            <a:custGeom>
              <a:avLst/>
              <a:gdLst/>
              <a:ahLst/>
              <a:cxnLst/>
              <a:rect l="l" t="t" r="r" b="b"/>
              <a:pathLst>
                <a:path w="1896237" h="1219200">
                  <a:moveTo>
                    <a:pt x="0" y="203200"/>
                  </a:moveTo>
                  <a:cubicBezTo>
                    <a:pt x="0" y="90932"/>
                    <a:pt x="90932" y="0"/>
                    <a:pt x="203200" y="0"/>
                  </a:cubicBezTo>
                  <a:lnTo>
                    <a:pt x="1693037" y="0"/>
                  </a:lnTo>
                  <a:cubicBezTo>
                    <a:pt x="1805305" y="0"/>
                    <a:pt x="1896237" y="90932"/>
                    <a:pt x="1896237" y="203200"/>
                  </a:cubicBezTo>
                  <a:lnTo>
                    <a:pt x="1896237" y="1016000"/>
                  </a:lnTo>
                  <a:cubicBezTo>
                    <a:pt x="1896237" y="1128268"/>
                    <a:pt x="1805305" y="1219200"/>
                    <a:pt x="1693037" y="1219200"/>
                  </a:cubicBezTo>
                  <a:lnTo>
                    <a:pt x="203200" y="1219200"/>
                  </a:lnTo>
                  <a:cubicBezTo>
                    <a:pt x="90932" y="1219200"/>
                    <a:pt x="0" y="1128268"/>
                    <a:pt x="0" y="1016000"/>
                  </a:cubicBezTo>
                  <a:close/>
                </a:path>
              </a:pathLst>
            </a:custGeom>
            <a:solidFill>
              <a:srgbClr val="22D3EE"/>
            </a:solidFill>
          </p:spPr>
          <p:txBody>
            <a:bodyPr/>
            <a:lstStyle/>
            <a:p>
              <a:endParaRPr lang="en-US"/>
            </a:p>
          </p:txBody>
        </p:sp>
      </p:grpSp>
      <p:sp>
        <p:nvSpPr>
          <p:cNvPr id="8" name="TextBox 8"/>
          <p:cNvSpPr txBox="1"/>
          <p:nvPr/>
        </p:nvSpPr>
        <p:spPr>
          <a:xfrm>
            <a:off x="3846376" y="4765481"/>
            <a:ext cx="1450648" cy="295275"/>
          </a:xfrm>
          <a:prstGeom prst="rect">
            <a:avLst/>
          </a:prstGeom>
        </p:spPr>
        <p:txBody>
          <a:bodyPr lIns="0" tIns="0" rIns="0" bIns="0" rtlCol="0" anchor="t">
            <a:spAutoFit/>
          </a:bodyPr>
          <a:lstStyle/>
          <a:p>
            <a:pPr algn="ctr">
              <a:lnSpc>
                <a:spcPts val="2400"/>
              </a:lnSpc>
            </a:pPr>
            <a:r>
              <a:rPr lang="en-US" sz="2000" b="1">
                <a:solidFill>
                  <a:srgbClr val="0A1628"/>
                </a:solidFill>
                <a:latin typeface="Arial Bold"/>
                <a:ea typeface="Arial Bold"/>
                <a:cs typeface="Arial Bold"/>
                <a:sym typeface="Arial Bold"/>
              </a:rPr>
              <a:t>FORK</a:t>
            </a:r>
          </a:p>
        </p:txBody>
      </p:sp>
      <p:grpSp>
        <p:nvGrpSpPr>
          <p:cNvPr id="9" name="Group 9"/>
          <p:cNvGrpSpPr/>
          <p:nvPr/>
        </p:nvGrpSpPr>
        <p:grpSpPr>
          <a:xfrm>
            <a:off x="2416188" y="5575249"/>
            <a:ext cx="678723" cy="1124979"/>
            <a:chOff x="0" y="0"/>
            <a:chExt cx="904964" cy="1499972"/>
          </a:xfrm>
        </p:grpSpPr>
        <p:sp>
          <p:nvSpPr>
            <p:cNvPr id="10" name="Freeform 10"/>
            <p:cNvSpPr/>
            <p:nvPr/>
          </p:nvSpPr>
          <p:spPr>
            <a:xfrm>
              <a:off x="0" y="0"/>
              <a:ext cx="905002" cy="1499997"/>
            </a:xfrm>
            <a:custGeom>
              <a:avLst/>
              <a:gdLst/>
              <a:ahLst/>
              <a:cxnLst/>
              <a:rect l="l" t="t" r="r" b="b"/>
              <a:pathLst>
                <a:path w="905002" h="1499997">
                  <a:moveTo>
                    <a:pt x="0" y="0"/>
                  </a:moveTo>
                  <a:lnTo>
                    <a:pt x="905002" y="0"/>
                  </a:lnTo>
                  <a:lnTo>
                    <a:pt x="905002" y="1499997"/>
                  </a:lnTo>
                  <a:lnTo>
                    <a:pt x="0" y="1499997"/>
                  </a:lnTo>
                  <a:close/>
                </a:path>
              </a:pathLst>
            </a:custGeom>
            <a:solidFill>
              <a:srgbClr val="22D3EE"/>
            </a:solidFill>
          </p:spPr>
          <p:txBody>
            <a:bodyPr/>
            <a:lstStyle/>
            <a:p>
              <a:endParaRPr lang="en-US"/>
            </a:p>
          </p:txBody>
        </p:sp>
      </p:grpSp>
      <p:grpSp>
        <p:nvGrpSpPr>
          <p:cNvPr id="11" name="Group 11"/>
          <p:cNvGrpSpPr/>
          <p:nvPr/>
        </p:nvGrpSpPr>
        <p:grpSpPr>
          <a:xfrm>
            <a:off x="3682898" y="5587898"/>
            <a:ext cx="50606" cy="1269806"/>
            <a:chOff x="0" y="0"/>
            <a:chExt cx="67475" cy="1693075"/>
          </a:xfrm>
        </p:grpSpPr>
        <p:sp>
          <p:nvSpPr>
            <p:cNvPr id="12" name="Freeform 12"/>
            <p:cNvSpPr/>
            <p:nvPr/>
          </p:nvSpPr>
          <p:spPr>
            <a:xfrm>
              <a:off x="0" y="0"/>
              <a:ext cx="67437" cy="1693037"/>
            </a:xfrm>
            <a:custGeom>
              <a:avLst/>
              <a:gdLst/>
              <a:ahLst/>
              <a:cxnLst/>
              <a:rect l="l" t="t" r="r" b="b"/>
              <a:pathLst>
                <a:path w="67437" h="1693037">
                  <a:moveTo>
                    <a:pt x="0" y="0"/>
                  </a:moveTo>
                  <a:lnTo>
                    <a:pt x="67437" y="0"/>
                  </a:lnTo>
                  <a:lnTo>
                    <a:pt x="67437" y="1693037"/>
                  </a:lnTo>
                  <a:lnTo>
                    <a:pt x="0" y="1693037"/>
                  </a:lnTo>
                  <a:close/>
                </a:path>
              </a:pathLst>
            </a:custGeom>
            <a:solidFill>
              <a:srgbClr val="22D3EE"/>
            </a:solidFill>
          </p:spPr>
          <p:txBody>
            <a:bodyPr/>
            <a:lstStyle/>
            <a:p>
              <a:endParaRPr lang="en-US"/>
            </a:p>
          </p:txBody>
        </p:sp>
      </p:grpSp>
      <p:grpSp>
        <p:nvGrpSpPr>
          <p:cNvPr id="13" name="Group 13"/>
          <p:cNvGrpSpPr/>
          <p:nvPr/>
        </p:nvGrpSpPr>
        <p:grpSpPr>
          <a:xfrm>
            <a:off x="4953000" y="5587898"/>
            <a:ext cx="50606" cy="1269806"/>
            <a:chOff x="0" y="0"/>
            <a:chExt cx="67475" cy="1693075"/>
          </a:xfrm>
        </p:grpSpPr>
        <p:sp>
          <p:nvSpPr>
            <p:cNvPr id="14" name="Freeform 14"/>
            <p:cNvSpPr/>
            <p:nvPr/>
          </p:nvSpPr>
          <p:spPr>
            <a:xfrm>
              <a:off x="0" y="0"/>
              <a:ext cx="67437" cy="1693037"/>
            </a:xfrm>
            <a:custGeom>
              <a:avLst/>
              <a:gdLst/>
              <a:ahLst/>
              <a:cxnLst/>
              <a:rect l="l" t="t" r="r" b="b"/>
              <a:pathLst>
                <a:path w="67437" h="1693037">
                  <a:moveTo>
                    <a:pt x="0" y="0"/>
                  </a:moveTo>
                  <a:lnTo>
                    <a:pt x="67437" y="0"/>
                  </a:lnTo>
                  <a:lnTo>
                    <a:pt x="67437" y="1693037"/>
                  </a:lnTo>
                  <a:lnTo>
                    <a:pt x="0" y="1693037"/>
                  </a:lnTo>
                  <a:close/>
                </a:path>
              </a:pathLst>
            </a:custGeom>
            <a:solidFill>
              <a:srgbClr val="22D3EE"/>
            </a:solidFill>
          </p:spPr>
          <p:txBody>
            <a:bodyPr/>
            <a:lstStyle/>
            <a:p>
              <a:endParaRPr lang="en-US"/>
            </a:p>
          </p:txBody>
        </p:sp>
      </p:grpSp>
      <p:grpSp>
        <p:nvGrpSpPr>
          <p:cNvPr id="15" name="Group 15"/>
          <p:cNvGrpSpPr/>
          <p:nvPr/>
        </p:nvGrpSpPr>
        <p:grpSpPr>
          <a:xfrm>
            <a:off x="5591289" y="5575249"/>
            <a:ext cx="678723" cy="1124979"/>
            <a:chOff x="0" y="0"/>
            <a:chExt cx="904964" cy="1499972"/>
          </a:xfrm>
        </p:grpSpPr>
        <p:sp>
          <p:nvSpPr>
            <p:cNvPr id="16" name="Freeform 16"/>
            <p:cNvSpPr/>
            <p:nvPr/>
          </p:nvSpPr>
          <p:spPr>
            <a:xfrm>
              <a:off x="0" y="0"/>
              <a:ext cx="905002" cy="1499997"/>
            </a:xfrm>
            <a:custGeom>
              <a:avLst/>
              <a:gdLst/>
              <a:ahLst/>
              <a:cxnLst/>
              <a:rect l="l" t="t" r="r" b="b"/>
              <a:pathLst>
                <a:path w="905002" h="1499997">
                  <a:moveTo>
                    <a:pt x="0" y="0"/>
                  </a:moveTo>
                  <a:lnTo>
                    <a:pt x="905002" y="0"/>
                  </a:lnTo>
                  <a:lnTo>
                    <a:pt x="905002" y="1499997"/>
                  </a:lnTo>
                  <a:lnTo>
                    <a:pt x="0" y="1499997"/>
                  </a:lnTo>
                  <a:close/>
                </a:path>
              </a:pathLst>
            </a:custGeom>
            <a:solidFill>
              <a:srgbClr val="22D3EE"/>
            </a:solidFill>
          </p:spPr>
          <p:txBody>
            <a:bodyPr/>
            <a:lstStyle/>
            <a:p>
              <a:endParaRPr lang="en-US"/>
            </a:p>
          </p:txBody>
        </p:sp>
      </p:grpSp>
      <p:grpSp>
        <p:nvGrpSpPr>
          <p:cNvPr id="17" name="Group 17"/>
          <p:cNvGrpSpPr/>
          <p:nvPr/>
        </p:nvGrpSpPr>
        <p:grpSpPr>
          <a:xfrm>
            <a:off x="2031806" y="7239000"/>
            <a:ext cx="914400" cy="1269806"/>
            <a:chOff x="0" y="0"/>
            <a:chExt cx="1219200" cy="1693075"/>
          </a:xfrm>
        </p:grpSpPr>
        <p:sp>
          <p:nvSpPr>
            <p:cNvPr id="18" name="Freeform 18"/>
            <p:cNvSpPr/>
            <p:nvPr/>
          </p:nvSpPr>
          <p:spPr>
            <a:xfrm>
              <a:off x="0" y="0"/>
              <a:ext cx="1219200" cy="1693164"/>
            </a:xfrm>
            <a:custGeom>
              <a:avLst/>
              <a:gdLst/>
              <a:ahLst/>
              <a:cxnLst/>
              <a:rect l="l" t="t" r="r" b="b"/>
              <a:pathLst>
                <a:path w="1219200" h="1693164">
                  <a:moveTo>
                    <a:pt x="0" y="135509"/>
                  </a:moveTo>
                  <a:cubicBezTo>
                    <a:pt x="0" y="60706"/>
                    <a:pt x="60706" y="0"/>
                    <a:pt x="135509" y="0"/>
                  </a:cubicBezTo>
                  <a:lnTo>
                    <a:pt x="1083691" y="0"/>
                  </a:lnTo>
                  <a:cubicBezTo>
                    <a:pt x="1158494" y="0"/>
                    <a:pt x="1219200" y="60706"/>
                    <a:pt x="1219200" y="135509"/>
                  </a:cubicBezTo>
                  <a:lnTo>
                    <a:pt x="1219200" y="1557655"/>
                  </a:lnTo>
                  <a:cubicBezTo>
                    <a:pt x="1219200" y="1632458"/>
                    <a:pt x="1158494" y="1693164"/>
                    <a:pt x="1083691" y="1693164"/>
                  </a:cubicBezTo>
                  <a:lnTo>
                    <a:pt x="135509" y="1693164"/>
                  </a:lnTo>
                  <a:cubicBezTo>
                    <a:pt x="60706" y="1693037"/>
                    <a:pt x="0" y="1632458"/>
                    <a:pt x="0" y="1557655"/>
                  </a:cubicBezTo>
                  <a:close/>
                </a:path>
              </a:pathLst>
            </a:custGeom>
            <a:solidFill>
              <a:srgbClr val="06B6D4"/>
            </a:solidFill>
          </p:spPr>
          <p:txBody>
            <a:bodyPr/>
            <a:lstStyle/>
            <a:p>
              <a:endParaRPr lang="en-US"/>
            </a:p>
          </p:txBody>
        </p:sp>
      </p:grpSp>
      <p:grpSp>
        <p:nvGrpSpPr>
          <p:cNvPr id="19" name="Group 19"/>
          <p:cNvGrpSpPr/>
          <p:nvPr/>
        </p:nvGrpSpPr>
        <p:grpSpPr>
          <a:xfrm>
            <a:off x="3301898" y="7239000"/>
            <a:ext cx="914400" cy="1269806"/>
            <a:chOff x="0" y="0"/>
            <a:chExt cx="1219200" cy="1693075"/>
          </a:xfrm>
        </p:grpSpPr>
        <p:sp>
          <p:nvSpPr>
            <p:cNvPr id="20" name="Freeform 20"/>
            <p:cNvSpPr/>
            <p:nvPr/>
          </p:nvSpPr>
          <p:spPr>
            <a:xfrm>
              <a:off x="0" y="0"/>
              <a:ext cx="1219200" cy="1693164"/>
            </a:xfrm>
            <a:custGeom>
              <a:avLst/>
              <a:gdLst/>
              <a:ahLst/>
              <a:cxnLst/>
              <a:rect l="l" t="t" r="r" b="b"/>
              <a:pathLst>
                <a:path w="1219200" h="1693164">
                  <a:moveTo>
                    <a:pt x="0" y="135509"/>
                  </a:moveTo>
                  <a:cubicBezTo>
                    <a:pt x="0" y="60706"/>
                    <a:pt x="60706" y="0"/>
                    <a:pt x="135509" y="0"/>
                  </a:cubicBezTo>
                  <a:lnTo>
                    <a:pt x="1083691" y="0"/>
                  </a:lnTo>
                  <a:cubicBezTo>
                    <a:pt x="1158494" y="0"/>
                    <a:pt x="1219200" y="60706"/>
                    <a:pt x="1219200" y="135509"/>
                  </a:cubicBezTo>
                  <a:lnTo>
                    <a:pt x="1219200" y="1557655"/>
                  </a:lnTo>
                  <a:cubicBezTo>
                    <a:pt x="1219200" y="1632458"/>
                    <a:pt x="1158494" y="1693164"/>
                    <a:pt x="1083691" y="1693164"/>
                  </a:cubicBezTo>
                  <a:lnTo>
                    <a:pt x="135509" y="1693164"/>
                  </a:lnTo>
                  <a:cubicBezTo>
                    <a:pt x="60706" y="1693037"/>
                    <a:pt x="0" y="1632458"/>
                    <a:pt x="0" y="1557655"/>
                  </a:cubicBezTo>
                  <a:close/>
                </a:path>
              </a:pathLst>
            </a:custGeom>
            <a:solidFill>
              <a:srgbClr val="22D3EE"/>
            </a:solidFill>
          </p:spPr>
          <p:txBody>
            <a:bodyPr/>
            <a:lstStyle/>
            <a:p>
              <a:endParaRPr lang="en-US"/>
            </a:p>
          </p:txBody>
        </p:sp>
      </p:grpSp>
      <p:grpSp>
        <p:nvGrpSpPr>
          <p:cNvPr id="21" name="Group 21"/>
          <p:cNvGrpSpPr/>
          <p:nvPr/>
        </p:nvGrpSpPr>
        <p:grpSpPr>
          <a:xfrm>
            <a:off x="4572000" y="7239000"/>
            <a:ext cx="914400" cy="1269806"/>
            <a:chOff x="0" y="0"/>
            <a:chExt cx="1219200" cy="1693075"/>
          </a:xfrm>
        </p:grpSpPr>
        <p:sp>
          <p:nvSpPr>
            <p:cNvPr id="22" name="Freeform 22"/>
            <p:cNvSpPr/>
            <p:nvPr/>
          </p:nvSpPr>
          <p:spPr>
            <a:xfrm>
              <a:off x="0" y="0"/>
              <a:ext cx="1219200" cy="1693164"/>
            </a:xfrm>
            <a:custGeom>
              <a:avLst/>
              <a:gdLst/>
              <a:ahLst/>
              <a:cxnLst/>
              <a:rect l="l" t="t" r="r" b="b"/>
              <a:pathLst>
                <a:path w="1219200" h="1693164">
                  <a:moveTo>
                    <a:pt x="0" y="135509"/>
                  </a:moveTo>
                  <a:cubicBezTo>
                    <a:pt x="0" y="60706"/>
                    <a:pt x="60706" y="0"/>
                    <a:pt x="135509" y="0"/>
                  </a:cubicBezTo>
                  <a:lnTo>
                    <a:pt x="1083691" y="0"/>
                  </a:lnTo>
                  <a:cubicBezTo>
                    <a:pt x="1158494" y="0"/>
                    <a:pt x="1219200" y="60706"/>
                    <a:pt x="1219200" y="135509"/>
                  </a:cubicBezTo>
                  <a:lnTo>
                    <a:pt x="1219200" y="1557655"/>
                  </a:lnTo>
                  <a:cubicBezTo>
                    <a:pt x="1219200" y="1632458"/>
                    <a:pt x="1158494" y="1693164"/>
                    <a:pt x="1083691" y="1693164"/>
                  </a:cubicBezTo>
                  <a:lnTo>
                    <a:pt x="135509" y="1693164"/>
                  </a:lnTo>
                  <a:cubicBezTo>
                    <a:pt x="60706" y="1693037"/>
                    <a:pt x="0" y="1632458"/>
                    <a:pt x="0" y="1557655"/>
                  </a:cubicBezTo>
                  <a:close/>
                </a:path>
              </a:pathLst>
            </a:custGeom>
            <a:solidFill>
              <a:srgbClr val="06B6D4"/>
            </a:solidFill>
          </p:spPr>
          <p:txBody>
            <a:bodyPr/>
            <a:lstStyle/>
            <a:p>
              <a:endParaRPr lang="en-US"/>
            </a:p>
          </p:txBody>
        </p:sp>
      </p:grpSp>
      <p:grpSp>
        <p:nvGrpSpPr>
          <p:cNvPr id="23" name="Group 23"/>
          <p:cNvGrpSpPr/>
          <p:nvPr/>
        </p:nvGrpSpPr>
        <p:grpSpPr>
          <a:xfrm>
            <a:off x="5841806" y="7239000"/>
            <a:ext cx="914400" cy="1269806"/>
            <a:chOff x="0" y="0"/>
            <a:chExt cx="1219200" cy="1693075"/>
          </a:xfrm>
        </p:grpSpPr>
        <p:sp>
          <p:nvSpPr>
            <p:cNvPr id="24" name="Freeform 24"/>
            <p:cNvSpPr/>
            <p:nvPr/>
          </p:nvSpPr>
          <p:spPr>
            <a:xfrm>
              <a:off x="0" y="0"/>
              <a:ext cx="1219200" cy="1693164"/>
            </a:xfrm>
            <a:custGeom>
              <a:avLst/>
              <a:gdLst/>
              <a:ahLst/>
              <a:cxnLst/>
              <a:rect l="l" t="t" r="r" b="b"/>
              <a:pathLst>
                <a:path w="1219200" h="1693164">
                  <a:moveTo>
                    <a:pt x="0" y="135509"/>
                  </a:moveTo>
                  <a:cubicBezTo>
                    <a:pt x="0" y="60706"/>
                    <a:pt x="60706" y="0"/>
                    <a:pt x="135509" y="0"/>
                  </a:cubicBezTo>
                  <a:lnTo>
                    <a:pt x="1083691" y="0"/>
                  </a:lnTo>
                  <a:cubicBezTo>
                    <a:pt x="1158494" y="0"/>
                    <a:pt x="1219200" y="60706"/>
                    <a:pt x="1219200" y="135509"/>
                  </a:cubicBezTo>
                  <a:lnTo>
                    <a:pt x="1219200" y="1557655"/>
                  </a:lnTo>
                  <a:cubicBezTo>
                    <a:pt x="1219200" y="1632458"/>
                    <a:pt x="1158494" y="1693164"/>
                    <a:pt x="1083691" y="1693164"/>
                  </a:cubicBezTo>
                  <a:lnTo>
                    <a:pt x="135509" y="1693164"/>
                  </a:lnTo>
                  <a:cubicBezTo>
                    <a:pt x="60706" y="1693037"/>
                    <a:pt x="0" y="1632458"/>
                    <a:pt x="0" y="1557655"/>
                  </a:cubicBezTo>
                  <a:close/>
                </a:path>
              </a:pathLst>
            </a:custGeom>
            <a:solidFill>
              <a:srgbClr val="22D3EE"/>
            </a:solidFill>
          </p:spPr>
          <p:txBody>
            <a:bodyPr/>
            <a:lstStyle/>
            <a:p>
              <a:endParaRPr lang="en-US"/>
            </a:p>
          </p:txBody>
        </p:sp>
      </p:grpSp>
      <p:sp>
        <p:nvSpPr>
          <p:cNvPr id="25" name="TextBox 25"/>
          <p:cNvSpPr txBox="1"/>
          <p:nvPr/>
        </p:nvSpPr>
        <p:spPr>
          <a:xfrm>
            <a:off x="2022662" y="7458075"/>
            <a:ext cx="932688" cy="581025"/>
          </a:xfrm>
          <a:prstGeom prst="rect">
            <a:avLst/>
          </a:prstGeom>
        </p:spPr>
        <p:txBody>
          <a:bodyPr lIns="0" tIns="0" rIns="0" bIns="0" rtlCol="0" anchor="t">
            <a:spAutoFit/>
          </a:bodyPr>
          <a:lstStyle/>
          <a:p>
            <a:pPr algn="ctr">
              <a:lnSpc>
                <a:spcPts val="2879"/>
              </a:lnSpc>
            </a:pPr>
            <a:r>
              <a:rPr lang="en-US" sz="2400" b="1">
                <a:solidFill>
                  <a:srgbClr val="0A1628"/>
                </a:solidFill>
                <a:latin typeface="Arial Bold"/>
                <a:ea typeface="Arial Bold"/>
                <a:cs typeface="Arial Bold"/>
                <a:sym typeface="Arial Bold"/>
              </a:rPr>
              <a:t>T1</a:t>
            </a:r>
          </a:p>
        </p:txBody>
      </p:sp>
      <p:sp>
        <p:nvSpPr>
          <p:cNvPr id="26" name="TextBox 26"/>
          <p:cNvSpPr txBox="1"/>
          <p:nvPr/>
        </p:nvSpPr>
        <p:spPr>
          <a:xfrm>
            <a:off x="3292754" y="7458075"/>
            <a:ext cx="932688" cy="581025"/>
          </a:xfrm>
          <a:prstGeom prst="rect">
            <a:avLst/>
          </a:prstGeom>
        </p:spPr>
        <p:txBody>
          <a:bodyPr lIns="0" tIns="0" rIns="0" bIns="0" rtlCol="0" anchor="t">
            <a:spAutoFit/>
          </a:bodyPr>
          <a:lstStyle/>
          <a:p>
            <a:pPr algn="ctr">
              <a:lnSpc>
                <a:spcPts val="2879"/>
              </a:lnSpc>
            </a:pPr>
            <a:r>
              <a:rPr lang="en-US" sz="2400" b="1">
                <a:solidFill>
                  <a:srgbClr val="0A1628"/>
                </a:solidFill>
                <a:latin typeface="Arial Bold"/>
                <a:ea typeface="Arial Bold"/>
                <a:cs typeface="Arial Bold"/>
                <a:sym typeface="Arial Bold"/>
              </a:rPr>
              <a:t>T2</a:t>
            </a:r>
          </a:p>
        </p:txBody>
      </p:sp>
      <p:sp>
        <p:nvSpPr>
          <p:cNvPr id="27" name="TextBox 27"/>
          <p:cNvSpPr txBox="1"/>
          <p:nvPr/>
        </p:nvSpPr>
        <p:spPr>
          <a:xfrm>
            <a:off x="4562856" y="7458075"/>
            <a:ext cx="932688" cy="581025"/>
          </a:xfrm>
          <a:prstGeom prst="rect">
            <a:avLst/>
          </a:prstGeom>
        </p:spPr>
        <p:txBody>
          <a:bodyPr lIns="0" tIns="0" rIns="0" bIns="0" rtlCol="0" anchor="t">
            <a:spAutoFit/>
          </a:bodyPr>
          <a:lstStyle/>
          <a:p>
            <a:pPr algn="ctr">
              <a:lnSpc>
                <a:spcPts val="2879"/>
              </a:lnSpc>
            </a:pPr>
            <a:r>
              <a:rPr lang="en-US" sz="2400" b="1">
                <a:solidFill>
                  <a:srgbClr val="0A1628"/>
                </a:solidFill>
                <a:latin typeface="Arial Bold"/>
                <a:ea typeface="Arial Bold"/>
                <a:cs typeface="Arial Bold"/>
                <a:sym typeface="Arial Bold"/>
              </a:rPr>
              <a:t>T3</a:t>
            </a:r>
          </a:p>
        </p:txBody>
      </p:sp>
      <p:sp>
        <p:nvSpPr>
          <p:cNvPr id="28" name="TextBox 28"/>
          <p:cNvSpPr txBox="1"/>
          <p:nvPr/>
        </p:nvSpPr>
        <p:spPr>
          <a:xfrm>
            <a:off x="5832662" y="7458075"/>
            <a:ext cx="932688" cy="581025"/>
          </a:xfrm>
          <a:prstGeom prst="rect">
            <a:avLst/>
          </a:prstGeom>
        </p:spPr>
        <p:txBody>
          <a:bodyPr lIns="0" tIns="0" rIns="0" bIns="0" rtlCol="0" anchor="t">
            <a:spAutoFit/>
          </a:bodyPr>
          <a:lstStyle/>
          <a:p>
            <a:pPr algn="ctr">
              <a:lnSpc>
                <a:spcPts val="2879"/>
              </a:lnSpc>
            </a:pPr>
            <a:r>
              <a:rPr lang="en-US" sz="2400" b="1">
                <a:solidFill>
                  <a:srgbClr val="0A1628"/>
                </a:solidFill>
                <a:latin typeface="Arial Bold"/>
                <a:ea typeface="Arial Bold"/>
                <a:cs typeface="Arial Bold"/>
                <a:sym typeface="Arial Bold"/>
              </a:rPr>
              <a:t>T4</a:t>
            </a:r>
          </a:p>
        </p:txBody>
      </p:sp>
      <p:grpSp>
        <p:nvGrpSpPr>
          <p:cNvPr id="29" name="Group 29"/>
          <p:cNvGrpSpPr/>
          <p:nvPr/>
        </p:nvGrpSpPr>
        <p:grpSpPr>
          <a:xfrm>
            <a:off x="8127806" y="4191000"/>
            <a:ext cx="8763000" cy="850706"/>
            <a:chOff x="0" y="0"/>
            <a:chExt cx="11684000" cy="1134275"/>
          </a:xfrm>
        </p:grpSpPr>
        <p:sp>
          <p:nvSpPr>
            <p:cNvPr id="30" name="Freeform 30"/>
            <p:cNvSpPr/>
            <p:nvPr/>
          </p:nvSpPr>
          <p:spPr>
            <a:xfrm>
              <a:off x="0" y="0"/>
              <a:ext cx="11684000" cy="1134237"/>
            </a:xfrm>
            <a:custGeom>
              <a:avLst/>
              <a:gdLst/>
              <a:ahLst/>
              <a:cxnLst/>
              <a:rect l="l" t="t" r="r" b="b"/>
              <a:pathLst>
                <a:path w="11684000" h="1134237">
                  <a:moveTo>
                    <a:pt x="0" y="0"/>
                  </a:moveTo>
                  <a:lnTo>
                    <a:pt x="11684000" y="0"/>
                  </a:lnTo>
                  <a:lnTo>
                    <a:pt x="11684000" y="1134237"/>
                  </a:lnTo>
                  <a:lnTo>
                    <a:pt x="0" y="1134237"/>
                  </a:lnTo>
                  <a:close/>
                </a:path>
              </a:pathLst>
            </a:custGeom>
            <a:solidFill>
              <a:srgbClr val="122236"/>
            </a:solidFill>
          </p:spPr>
          <p:txBody>
            <a:bodyPr/>
            <a:lstStyle/>
            <a:p>
              <a:endParaRPr lang="en-US"/>
            </a:p>
          </p:txBody>
        </p:sp>
      </p:grpSp>
      <p:grpSp>
        <p:nvGrpSpPr>
          <p:cNvPr id="31" name="Group 31"/>
          <p:cNvGrpSpPr/>
          <p:nvPr/>
        </p:nvGrpSpPr>
        <p:grpSpPr>
          <a:xfrm>
            <a:off x="8127797" y="4143375"/>
            <a:ext cx="95250" cy="945956"/>
            <a:chOff x="0" y="0"/>
            <a:chExt cx="127000" cy="1261275"/>
          </a:xfrm>
        </p:grpSpPr>
        <p:sp>
          <p:nvSpPr>
            <p:cNvPr id="32" name="Freeform 32"/>
            <p:cNvSpPr/>
            <p:nvPr/>
          </p:nvSpPr>
          <p:spPr>
            <a:xfrm>
              <a:off x="0" y="63500"/>
              <a:ext cx="127000" cy="1134237"/>
            </a:xfrm>
            <a:custGeom>
              <a:avLst/>
              <a:gdLst/>
              <a:ahLst/>
              <a:cxnLst/>
              <a:rect l="l" t="t" r="r" b="b"/>
              <a:pathLst>
                <a:path w="127000" h="1134237">
                  <a:moveTo>
                    <a:pt x="127000" y="0"/>
                  </a:moveTo>
                  <a:lnTo>
                    <a:pt x="127000" y="1134237"/>
                  </a:lnTo>
                  <a:lnTo>
                    <a:pt x="0" y="1134237"/>
                  </a:lnTo>
                  <a:lnTo>
                    <a:pt x="0" y="0"/>
                  </a:lnTo>
                  <a:close/>
                </a:path>
              </a:pathLst>
            </a:custGeom>
            <a:solidFill>
              <a:srgbClr val="22D3EE"/>
            </a:solidFill>
          </p:spPr>
          <p:txBody>
            <a:bodyPr/>
            <a:lstStyle/>
            <a:p>
              <a:endParaRPr lang="en-US"/>
            </a:p>
          </p:txBody>
        </p:sp>
      </p:grpSp>
      <p:sp>
        <p:nvSpPr>
          <p:cNvPr id="33" name="TextBox 33"/>
          <p:cNvSpPr txBox="1"/>
          <p:nvPr/>
        </p:nvSpPr>
        <p:spPr>
          <a:xfrm>
            <a:off x="8578453" y="4435373"/>
            <a:ext cx="2361171" cy="352425"/>
          </a:xfrm>
          <a:prstGeom prst="rect">
            <a:avLst/>
          </a:prstGeom>
        </p:spPr>
        <p:txBody>
          <a:bodyPr lIns="0" tIns="0" rIns="0" bIns="0" rtlCol="0" anchor="t">
            <a:spAutoFit/>
          </a:bodyPr>
          <a:lstStyle/>
          <a:p>
            <a:pPr algn="l">
              <a:lnSpc>
                <a:spcPts val="2879"/>
              </a:lnSpc>
            </a:pPr>
            <a:r>
              <a:rPr lang="en-US" sz="2400" b="1">
                <a:solidFill>
                  <a:srgbClr val="F1F5F9"/>
                </a:solidFill>
                <a:latin typeface="Arial Bold"/>
                <a:ea typeface="Arial Bold"/>
                <a:cs typeface="Arial Bold"/>
                <a:sym typeface="Arial Bold"/>
              </a:rPr>
              <a:t>Static OpenMP</a:t>
            </a:r>
          </a:p>
        </p:txBody>
      </p:sp>
      <p:grpSp>
        <p:nvGrpSpPr>
          <p:cNvPr id="34" name="Group 34"/>
          <p:cNvGrpSpPr/>
          <p:nvPr/>
        </p:nvGrpSpPr>
        <p:grpSpPr>
          <a:xfrm>
            <a:off x="8127806" y="5244703"/>
            <a:ext cx="8763000" cy="850706"/>
            <a:chOff x="0" y="0"/>
            <a:chExt cx="11684000" cy="1134275"/>
          </a:xfrm>
        </p:grpSpPr>
        <p:sp>
          <p:nvSpPr>
            <p:cNvPr id="35" name="Freeform 35"/>
            <p:cNvSpPr/>
            <p:nvPr/>
          </p:nvSpPr>
          <p:spPr>
            <a:xfrm>
              <a:off x="0" y="0"/>
              <a:ext cx="11684000" cy="1134237"/>
            </a:xfrm>
            <a:custGeom>
              <a:avLst/>
              <a:gdLst/>
              <a:ahLst/>
              <a:cxnLst/>
              <a:rect l="l" t="t" r="r" b="b"/>
              <a:pathLst>
                <a:path w="11684000" h="1134237">
                  <a:moveTo>
                    <a:pt x="0" y="0"/>
                  </a:moveTo>
                  <a:lnTo>
                    <a:pt x="11684000" y="0"/>
                  </a:lnTo>
                  <a:lnTo>
                    <a:pt x="11684000" y="1134237"/>
                  </a:lnTo>
                  <a:lnTo>
                    <a:pt x="0" y="1134237"/>
                  </a:lnTo>
                  <a:close/>
                </a:path>
              </a:pathLst>
            </a:custGeom>
            <a:solidFill>
              <a:srgbClr val="122236"/>
            </a:solidFill>
          </p:spPr>
          <p:txBody>
            <a:bodyPr/>
            <a:lstStyle/>
            <a:p>
              <a:endParaRPr lang="en-US"/>
            </a:p>
          </p:txBody>
        </p:sp>
      </p:grpSp>
      <p:grpSp>
        <p:nvGrpSpPr>
          <p:cNvPr id="36" name="Group 36"/>
          <p:cNvGrpSpPr/>
          <p:nvPr/>
        </p:nvGrpSpPr>
        <p:grpSpPr>
          <a:xfrm>
            <a:off x="8127797" y="5197078"/>
            <a:ext cx="95250" cy="945956"/>
            <a:chOff x="0" y="0"/>
            <a:chExt cx="127000" cy="1261275"/>
          </a:xfrm>
        </p:grpSpPr>
        <p:sp>
          <p:nvSpPr>
            <p:cNvPr id="37" name="Freeform 37"/>
            <p:cNvSpPr/>
            <p:nvPr/>
          </p:nvSpPr>
          <p:spPr>
            <a:xfrm>
              <a:off x="0" y="63500"/>
              <a:ext cx="127000" cy="1134237"/>
            </a:xfrm>
            <a:custGeom>
              <a:avLst/>
              <a:gdLst/>
              <a:ahLst/>
              <a:cxnLst/>
              <a:rect l="l" t="t" r="r" b="b"/>
              <a:pathLst>
                <a:path w="127000" h="1134237">
                  <a:moveTo>
                    <a:pt x="127000" y="0"/>
                  </a:moveTo>
                  <a:lnTo>
                    <a:pt x="127000" y="1134237"/>
                  </a:lnTo>
                  <a:lnTo>
                    <a:pt x="0" y="1134237"/>
                  </a:lnTo>
                  <a:lnTo>
                    <a:pt x="0" y="0"/>
                  </a:lnTo>
                  <a:close/>
                </a:path>
              </a:pathLst>
            </a:custGeom>
            <a:solidFill>
              <a:srgbClr val="22D3EE"/>
            </a:solidFill>
          </p:spPr>
          <p:txBody>
            <a:bodyPr/>
            <a:lstStyle/>
            <a:p>
              <a:endParaRPr lang="en-US"/>
            </a:p>
          </p:txBody>
        </p:sp>
      </p:grpSp>
      <p:sp>
        <p:nvSpPr>
          <p:cNvPr id="38" name="TextBox 38"/>
          <p:cNvSpPr txBox="1"/>
          <p:nvPr/>
        </p:nvSpPr>
        <p:spPr>
          <a:xfrm>
            <a:off x="8578453" y="5489077"/>
            <a:ext cx="2810513" cy="352425"/>
          </a:xfrm>
          <a:prstGeom prst="rect">
            <a:avLst/>
          </a:prstGeom>
        </p:spPr>
        <p:txBody>
          <a:bodyPr lIns="0" tIns="0" rIns="0" bIns="0" rtlCol="0" anchor="t">
            <a:spAutoFit/>
          </a:bodyPr>
          <a:lstStyle/>
          <a:p>
            <a:pPr algn="l">
              <a:lnSpc>
                <a:spcPts val="2879"/>
              </a:lnSpc>
            </a:pPr>
            <a:r>
              <a:rPr lang="en-US" sz="2400" b="1">
                <a:solidFill>
                  <a:srgbClr val="F1F5F9"/>
                </a:solidFill>
                <a:latin typeface="Arial Bold"/>
                <a:ea typeface="Arial Bold"/>
                <a:cs typeface="Arial Bold"/>
                <a:sym typeface="Arial Bold"/>
              </a:rPr>
              <a:t>Dynamic OpenMP</a:t>
            </a:r>
          </a:p>
        </p:txBody>
      </p:sp>
      <p:grpSp>
        <p:nvGrpSpPr>
          <p:cNvPr id="39" name="Group 39"/>
          <p:cNvGrpSpPr/>
          <p:nvPr/>
        </p:nvGrpSpPr>
        <p:grpSpPr>
          <a:xfrm>
            <a:off x="8127806" y="6298406"/>
            <a:ext cx="8763000" cy="850706"/>
            <a:chOff x="0" y="0"/>
            <a:chExt cx="11684000" cy="1134275"/>
          </a:xfrm>
        </p:grpSpPr>
        <p:sp>
          <p:nvSpPr>
            <p:cNvPr id="40" name="Freeform 40"/>
            <p:cNvSpPr/>
            <p:nvPr/>
          </p:nvSpPr>
          <p:spPr>
            <a:xfrm>
              <a:off x="0" y="0"/>
              <a:ext cx="11684000" cy="1134237"/>
            </a:xfrm>
            <a:custGeom>
              <a:avLst/>
              <a:gdLst/>
              <a:ahLst/>
              <a:cxnLst/>
              <a:rect l="l" t="t" r="r" b="b"/>
              <a:pathLst>
                <a:path w="11684000" h="1134237">
                  <a:moveTo>
                    <a:pt x="0" y="0"/>
                  </a:moveTo>
                  <a:lnTo>
                    <a:pt x="11684000" y="0"/>
                  </a:lnTo>
                  <a:lnTo>
                    <a:pt x="11684000" y="1134237"/>
                  </a:lnTo>
                  <a:lnTo>
                    <a:pt x="0" y="1134237"/>
                  </a:lnTo>
                  <a:close/>
                </a:path>
              </a:pathLst>
            </a:custGeom>
            <a:solidFill>
              <a:srgbClr val="122236"/>
            </a:solidFill>
          </p:spPr>
          <p:txBody>
            <a:bodyPr/>
            <a:lstStyle/>
            <a:p>
              <a:endParaRPr lang="en-US"/>
            </a:p>
          </p:txBody>
        </p:sp>
      </p:grpSp>
      <p:grpSp>
        <p:nvGrpSpPr>
          <p:cNvPr id="41" name="Group 41"/>
          <p:cNvGrpSpPr/>
          <p:nvPr/>
        </p:nvGrpSpPr>
        <p:grpSpPr>
          <a:xfrm>
            <a:off x="8127797" y="6250781"/>
            <a:ext cx="95250" cy="945956"/>
            <a:chOff x="0" y="0"/>
            <a:chExt cx="127000" cy="1261275"/>
          </a:xfrm>
        </p:grpSpPr>
        <p:sp>
          <p:nvSpPr>
            <p:cNvPr id="42" name="Freeform 42"/>
            <p:cNvSpPr/>
            <p:nvPr/>
          </p:nvSpPr>
          <p:spPr>
            <a:xfrm>
              <a:off x="0" y="63500"/>
              <a:ext cx="127000" cy="1134237"/>
            </a:xfrm>
            <a:custGeom>
              <a:avLst/>
              <a:gdLst/>
              <a:ahLst/>
              <a:cxnLst/>
              <a:rect l="l" t="t" r="r" b="b"/>
              <a:pathLst>
                <a:path w="127000" h="1134237">
                  <a:moveTo>
                    <a:pt x="127000" y="0"/>
                  </a:moveTo>
                  <a:lnTo>
                    <a:pt x="127000" y="1134237"/>
                  </a:lnTo>
                  <a:lnTo>
                    <a:pt x="0" y="1134237"/>
                  </a:lnTo>
                  <a:lnTo>
                    <a:pt x="0" y="0"/>
                  </a:lnTo>
                  <a:close/>
                </a:path>
              </a:pathLst>
            </a:custGeom>
            <a:solidFill>
              <a:srgbClr val="22D3EE"/>
            </a:solidFill>
          </p:spPr>
          <p:txBody>
            <a:bodyPr/>
            <a:lstStyle/>
            <a:p>
              <a:endParaRPr lang="en-US"/>
            </a:p>
          </p:txBody>
        </p:sp>
      </p:grpSp>
      <p:sp>
        <p:nvSpPr>
          <p:cNvPr id="43" name="TextBox 43"/>
          <p:cNvSpPr txBox="1"/>
          <p:nvPr/>
        </p:nvSpPr>
        <p:spPr>
          <a:xfrm>
            <a:off x="8578453" y="6542780"/>
            <a:ext cx="2300145" cy="352425"/>
          </a:xfrm>
          <a:prstGeom prst="rect">
            <a:avLst/>
          </a:prstGeom>
        </p:spPr>
        <p:txBody>
          <a:bodyPr lIns="0" tIns="0" rIns="0" bIns="0" rtlCol="0" anchor="t">
            <a:spAutoFit/>
          </a:bodyPr>
          <a:lstStyle/>
          <a:p>
            <a:pPr algn="l">
              <a:lnSpc>
                <a:spcPts val="2879"/>
              </a:lnSpc>
            </a:pPr>
            <a:r>
              <a:rPr lang="en-US" sz="2400" b="1">
                <a:solidFill>
                  <a:srgbClr val="F1F5F9"/>
                </a:solidFill>
                <a:latin typeface="Arial Bold"/>
                <a:ea typeface="Arial Bold"/>
                <a:cs typeface="Arial Bold"/>
                <a:sym typeface="Arial Bold"/>
              </a:rPr>
              <a:t>Tiled + Morton</a:t>
            </a:r>
          </a:p>
        </p:txBody>
      </p:sp>
      <p:grpSp>
        <p:nvGrpSpPr>
          <p:cNvPr id="44" name="Group 44"/>
          <p:cNvGrpSpPr/>
          <p:nvPr/>
        </p:nvGrpSpPr>
        <p:grpSpPr>
          <a:xfrm>
            <a:off x="8127806" y="7352109"/>
            <a:ext cx="8763000" cy="850706"/>
            <a:chOff x="0" y="0"/>
            <a:chExt cx="11684000" cy="1134275"/>
          </a:xfrm>
        </p:grpSpPr>
        <p:sp>
          <p:nvSpPr>
            <p:cNvPr id="45" name="Freeform 45"/>
            <p:cNvSpPr/>
            <p:nvPr/>
          </p:nvSpPr>
          <p:spPr>
            <a:xfrm>
              <a:off x="0" y="0"/>
              <a:ext cx="11684000" cy="1134237"/>
            </a:xfrm>
            <a:custGeom>
              <a:avLst/>
              <a:gdLst/>
              <a:ahLst/>
              <a:cxnLst/>
              <a:rect l="l" t="t" r="r" b="b"/>
              <a:pathLst>
                <a:path w="11684000" h="1134237">
                  <a:moveTo>
                    <a:pt x="0" y="0"/>
                  </a:moveTo>
                  <a:lnTo>
                    <a:pt x="11684000" y="0"/>
                  </a:lnTo>
                  <a:lnTo>
                    <a:pt x="11684000" y="1134237"/>
                  </a:lnTo>
                  <a:lnTo>
                    <a:pt x="0" y="1134237"/>
                  </a:lnTo>
                  <a:close/>
                </a:path>
              </a:pathLst>
            </a:custGeom>
            <a:solidFill>
              <a:srgbClr val="122236"/>
            </a:solidFill>
          </p:spPr>
          <p:txBody>
            <a:bodyPr/>
            <a:lstStyle/>
            <a:p>
              <a:endParaRPr lang="en-US"/>
            </a:p>
          </p:txBody>
        </p:sp>
      </p:grpSp>
      <p:grpSp>
        <p:nvGrpSpPr>
          <p:cNvPr id="46" name="Group 46"/>
          <p:cNvGrpSpPr/>
          <p:nvPr/>
        </p:nvGrpSpPr>
        <p:grpSpPr>
          <a:xfrm>
            <a:off x="8127797" y="7304484"/>
            <a:ext cx="95250" cy="945956"/>
            <a:chOff x="0" y="0"/>
            <a:chExt cx="127000" cy="1261275"/>
          </a:xfrm>
        </p:grpSpPr>
        <p:sp>
          <p:nvSpPr>
            <p:cNvPr id="47" name="Freeform 47"/>
            <p:cNvSpPr/>
            <p:nvPr/>
          </p:nvSpPr>
          <p:spPr>
            <a:xfrm>
              <a:off x="0" y="63500"/>
              <a:ext cx="127000" cy="1134237"/>
            </a:xfrm>
            <a:custGeom>
              <a:avLst/>
              <a:gdLst/>
              <a:ahLst/>
              <a:cxnLst/>
              <a:rect l="l" t="t" r="r" b="b"/>
              <a:pathLst>
                <a:path w="127000" h="1134237">
                  <a:moveTo>
                    <a:pt x="127000" y="0"/>
                  </a:moveTo>
                  <a:lnTo>
                    <a:pt x="127000" y="1134237"/>
                  </a:lnTo>
                  <a:lnTo>
                    <a:pt x="0" y="1134237"/>
                  </a:lnTo>
                  <a:lnTo>
                    <a:pt x="0" y="0"/>
                  </a:lnTo>
                  <a:close/>
                </a:path>
              </a:pathLst>
            </a:custGeom>
            <a:solidFill>
              <a:srgbClr val="22D3EE"/>
            </a:solidFill>
          </p:spPr>
          <p:txBody>
            <a:bodyPr/>
            <a:lstStyle/>
            <a:p>
              <a:endParaRPr lang="en-US"/>
            </a:p>
          </p:txBody>
        </p:sp>
      </p:grpSp>
      <p:sp>
        <p:nvSpPr>
          <p:cNvPr id="48" name="TextBox 48"/>
          <p:cNvSpPr txBox="1"/>
          <p:nvPr/>
        </p:nvSpPr>
        <p:spPr>
          <a:xfrm>
            <a:off x="8578453" y="7596483"/>
            <a:ext cx="2257339" cy="352425"/>
          </a:xfrm>
          <a:prstGeom prst="rect">
            <a:avLst/>
          </a:prstGeom>
        </p:spPr>
        <p:txBody>
          <a:bodyPr lIns="0" tIns="0" rIns="0" bIns="0" rtlCol="0" anchor="t">
            <a:spAutoFit/>
          </a:bodyPr>
          <a:lstStyle/>
          <a:p>
            <a:pPr algn="l">
              <a:lnSpc>
                <a:spcPts val="2879"/>
              </a:lnSpc>
            </a:pPr>
            <a:r>
              <a:rPr lang="en-US" sz="2400" b="1">
                <a:solidFill>
                  <a:srgbClr val="F1F5F9"/>
                </a:solidFill>
                <a:latin typeface="Arial Bold"/>
                <a:ea typeface="Arial Bold"/>
                <a:cs typeface="Arial Bold"/>
                <a:sym typeface="Arial Bold"/>
              </a:rPr>
              <a:t>Work-Stealing</a:t>
            </a:r>
          </a:p>
        </p:txBody>
      </p:sp>
      <p:grpSp>
        <p:nvGrpSpPr>
          <p:cNvPr id="49" name="Group 49"/>
          <p:cNvGrpSpPr/>
          <p:nvPr/>
        </p:nvGrpSpPr>
        <p:grpSpPr>
          <a:xfrm>
            <a:off x="8127806" y="8405812"/>
            <a:ext cx="8763000" cy="850706"/>
            <a:chOff x="0" y="0"/>
            <a:chExt cx="11684000" cy="1134275"/>
          </a:xfrm>
        </p:grpSpPr>
        <p:sp>
          <p:nvSpPr>
            <p:cNvPr id="50" name="Freeform 50"/>
            <p:cNvSpPr/>
            <p:nvPr/>
          </p:nvSpPr>
          <p:spPr>
            <a:xfrm>
              <a:off x="0" y="0"/>
              <a:ext cx="11684000" cy="1134237"/>
            </a:xfrm>
            <a:custGeom>
              <a:avLst/>
              <a:gdLst/>
              <a:ahLst/>
              <a:cxnLst/>
              <a:rect l="l" t="t" r="r" b="b"/>
              <a:pathLst>
                <a:path w="11684000" h="1134237">
                  <a:moveTo>
                    <a:pt x="0" y="0"/>
                  </a:moveTo>
                  <a:lnTo>
                    <a:pt x="11684000" y="0"/>
                  </a:lnTo>
                  <a:lnTo>
                    <a:pt x="11684000" y="1134237"/>
                  </a:lnTo>
                  <a:lnTo>
                    <a:pt x="0" y="1134237"/>
                  </a:lnTo>
                  <a:close/>
                </a:path>
              </a:pathLst>
            </a:custGeom>
            <a:solidFill>
              <a:srgbClr val="122236"/>
            </a:solidFill>
          </p:spPr>
          <p:txBody>
            <a:bodyPr/>
            <a:lstStyle/>
            <a:p>
              <a:endParaRPr lang="en-US"/>
            </a:p>
          </p:txBody>
        </p:sp>
      </p:grpSp>
      <p:grpSp>
        <p:nvGrpSpPr>
          <p:cNvPr id="51" name="Group 51"/>
          <p:cNvGrpSpPr/>
          <p:nvPr/>
        </p:nvGrpSpPr>
        <p:grpSpPr>
          <a:xfrm>
            <a:off x="8127797" y="8358188"/>
            <a:ext cx="95250" cy="945956"/>
            <a:chOff x="0" y="0"/>
            <a:chExt cx="127000" cy="1261275"/>
          </a:xfrm>
        </p:grpSpPr>
        <p:sp>
          <p:nvSpPr>
            <p:cNvPr id="52" name="Freeform 52"/>
            <p:cNvSpPr/>
            <p:nvPr/>
          </p:nvSpPr>
          <p:spPr>
            <a:xfrm>
              <a:off x="0" y="63500"/>
              <a:ext cx="127000" cy="1134237"/>
            </a:xfrm>
            <a:custGeom>
              <a:avLst/>
              <a:gdLst/>
              <a:ahLst/>
              <a:cxnLst/>
              <a:rect l="l" t="t" r="r" b="b"/>
              <a:pathLst>
                <a:path w="127000" h="1134237">
                  <a:moveTo>
                    <a:pt x="127000" y="0"/>
                  </a:moveTo>
                  <a:lnTo>
                    <a:pt x="127000" y="1134237"/>
                  </a:lnTo>
                  <a:lnTo>
                    <a:pt x="0" y="1134237"/>
                  </a:lnTo>
                  <a:lnTo>
                    <a:pt x="0" y="0"/>
                  </a:lnTo>
                  <a:close/>
                </a:path>
              </a:pathLst>
            </a:custGeom>
            <a:solidFill>
              <a:srgbClr val="06B6D4"/>
            </a:solidFill>
          </p:spPr>
          <p:txBody>
            <a:bodyPr/>
            <a:lstStyle/>
            <a:p>
              <a:endParaRPr lang="en-US"/>
            </a:p>
          </p:txBody>
        </p:sp>
      </p:grpSp>
      <p:sp>
        <p:nvSpPr>
          <p:cNvPr id="53" name="TextBox 53"/>
          <p:cNvSpPr txBox="1"/>
          <p:nvPr/>
        </p:nvSpPr>
        <p:spPr>
          <a:xfrm>
            <a:off x="8578453" y="8650186"/>
            <a:ext cx="2124656" cy="352425"/>
          </a:xfrm>
          <a:prstGeom prst="rect">
            <a:avLst/>
          </a:prstGeom>
        </p:spPr>
        <p:txBody>
          <a:bodyPr lIns="0" tIns="0" rIns="0" bIns="0" rtlCol="0" anchor="t">
            <a:spAutoFit/>
          </a:bodyPr>
          <a:lstStyle/>
          <a:p>
            <a:pPr algn="l">
              <a:lnSpc>
                <a:spcPts val="2879"/>
              </a:lnSpc>
            </a:pPr>
            <a:r>
              <a:rPr lang="en-US" sz="2400" b="1">
                <a:solidFill>
                  <a:srgbClr val="22D3EE"/>
                </a:solidFill>
                <a:latin typeface="Arial Bold"/>
                <a:ea typeface="Arial Bold"/>
                <a:cs typeface="Arial Bold"/>
                <a:sym typeface="Arial Bold"/>
              </a:rPr>
              <a:t>Hybrid (Best)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TextBox 2"/>
          <p:cNvSpPr txBox="1"/>
          <p:nvPr/>
        </p:nvSpPr>
        <p:spPr>
          <a:xfrm>
            <a:off x="1524000" y="1260281"/>
            <a:ext cx="5018665" cy="295275"/>
          </a:xfrm>
          <a:prstGeom prst="rect">
            <a:avLst/>
          </a:prstGeom>
        </p:spPr>
        <p:txBody>
          <a:bodyPr lIns="0" tIns="0" rIns="0" bIns="0" rtlCol="0" anchor="t">
            <a:spAutoFit/>
          </a:bodyPr>
          <a:lstStyle/>
          <a:p>
            <a:pPr algn="l">
              <a:lnSpc>
                <a:spcPts val="2400"/>
              </a:lnSpc>
            </a:pPr>
            <a:r>
              <a:rPr lang="en-US" sz="2000">
                <a:solidFill>
                  <a:srgbClr val="22D3EE"/>
                </a:solidFill>
                <a:latin typeface="Arial"/>
                <a:ea typeface="Arial"/>
                <a:cs typeface="Arial"/>
                <a:sym typeface="Arial"/>
              </a:rPr>
              <a:t>CODE · MILESTONE 2</a:t>
            </a:r>
          </a:p>
        </p:txBody>
      </p:sp>
      <p:sp>
        <p:nvSpPr>
          <p:cNvPr id="3" name="TextBox 3"/>
          <p:cNvSpPr txBox="1"/>
          <p:nvPr/>
        </p:nvSpPr>
        <p:spPr>
          <a:xfrm>
            <a:off x="1524000" y="1993706"/>
            <a:ext cx="15544800" cy="857250"/>
          </a:xfrm>
          <a:prstGeom prst="rect">
            <a:avLst/>
          </a:prstGeom>
        </p:spPr>
        <p:txBody>
          <a:bodyPr lIns="0" tIns="0" rIns="0" bIns="0" rtlCol="0" anchor="t">
            <a:spAutoFit/>
          </a:bodyPr>
          <a:lstStyle/>
          <a:p>
            <a:pPr algn="l">
              <a:lnSpc>
                <a:spcPts val="6719"/>
              </a:lnSpc>
            </a:pPr>
            <a:r>
              <a:rPr lang="en-US" sz="5599">
                <a:solidFill>
                  <a:srgbClr val="F1F5F9"/>
                </a:solidFill>
                <a:latin typeface="Arial"/>
                <a:ea typeface="Arial"/>
                <a:cs typeface="Arial"/>
                <a:sym typeface="Arial"/>
              </a:rPr>
              <a:t>OpenMP </a:t>
            </a:r>
            <a:r>
              <a:rPr lang="en-US" sz="5599" b="1">
                <a:solidFill>
                  <a:srgbClr val="22D3EE"/>
                </a:solidFill>
                <a:latin typeface="Arial Bold"/>
                <a:ea typeface="Arial Bold"/>
                <a:cs typeface="Arial Bold"/>
                <a:sym typeface="Arial Bold"/>
              </a:rPr>
              <a:t>scheduling</a:t>
            </a:r>
          </a:p>
        </p:txBody>
      </p:sp>
      <p:sp>
        <p:nvSpPr>
          <p:cNvPr id="4" name="TextBox 4"/>
          <p:cNvSpPr txBox="1"/>
          <p:nvPr/>
        </p:nvSpPr>
        <p:spPr>
          <a:xfrm>
            <a:off x="1524000" y="3495675"/>
            <a:ext cx="9844840" cy="276225"/>
          </a:xfrm>
          <a:prstGeom prst="rect">
            <a:avLst/>
          </a:prstGeom>
        </p:spPr>
        <p:txBody>
          <a:bodyPr lIns="0" tIns="0" rIns="0" bIns="0" rtlCol="0" anchor="t">
            <a:spAutoFit/>
          </a:bodyPr>
          <a:lstStyle/>
          <a:p>
            <a:pPr algn="l">
              <a:lnSpc>
                <a:spcPts val="2160"/>
              </a:lnSpc>
            </a:pPr>
            <a:r>
              <a:rPr lang="en-US" sz="1800">
                <a:solidFill>
                  <a:srgbClr val="94A3B8"/>
                </a:solidFill>
                <a:latin typeface="Courier New"/>
                <a:ea typeface="Courier New"/>
                <a:cs typeface="Courier New"/>
                <a:sym typeface="Courier New"/>
              </a:rPr>
              <a:t>src/parallel/parallel_classifier.cpp · </a:t>
            </a:r>
            <a:r>
              <a:rPr lang="en-US" sz="1800">
                <a:solidFill>
                  <a:srgbClr val="22D3EE"/>
                </a:solidFill>
                <a:latin typeface="Courier New"/>
                <a:ea typeface="Courier New"/>
                <a:cs typeface="Courier New"/>
                <a:sym typeface="Courier New"/>
              </a:rPr>
              <a:t>classify_dynamic</a:t>
            </a:r>
          </a:p>
        </p:txBody>
      </p:sp>
      <p:grpSp>
        <p:nvGrpSpPr>
          <p:cNvPr id="5" name="Group 5"/>
          <p:cNvGrpSpPr/>
          <p:nvPr/>
        </p:nvGrpSpPr>
        <p:grpSpPr>
          <a:xfrm>
            <a:off x="1201229" y="4248150"/>
            <a:ext cx="10099669" cy="5740013"/>
            <a:chOff x="0" y="0"/>
            <a:chExt cx="12945275" cy="7357275"/>
          </a:xfrm>
        </p:grpSpPr>
        <p:sp>
          <p:nvSpPr>
            <p:cNvPr id="6" name="Freeform 6"/>
            <p:cNvSpPr/>
            <p:nvPr/>
          </p:nvSpPr>
          <p:spPr>
            <a:xfrm>
              <a:off x="12700" y="12700"/>
              <a:ext cx="12919838" cy="7331964"/>
            </a:xfrm>
            <a:custGeom>
              <a:avLst/>
              <a:gdLst/>
              <a:ahLst/>
              <a:cxnLst/>
              <a:rect l="l" t="t" r="r" b="b"/>
              <a:pathLst>
                <a:path w="12919838" h="7331964">
                  <a:moveTo>
                    <a:pt x="0" y="203200"/>
                  </a:moveTo>
                  <a:cubicBezTo>
                    <a:pt x="0" y="90932"/>
                    <a:pt x="91059" y="0"/>
                    <a:pt x="203454" y="0"/>
                  </a:cubicBezTo>
                  <a:lnTo>
                    <a:pt x="12716383" y="0"/>
                  </a:lnTo>
                  <a:cubicBezTo>
                    <a:pt x="12828778" y="0"/>
                    <a:pt x="12919838" y="90932"/>
                    <a:pt x="12919838" y="203200"/>
                  </a:cubicBezTo>
                  <a:lnTo>
                    <a:pt x="12919838" y="7128764"/>
                  </a:lnTo>
                  <a:cubicBezTo>
                    <a:pt x="12919838" y="7241032"/>
                    <a:pt x="12828778" y="7331964"/>
                    <a:pt x="12716383" y="7331964"/>
                  </a:cubicBezTo>
                  <a:lnTo>
                    <a:pt x="203454" y="7331964"/>
                  </a:lnTo>
                  <a:cubicBezTo>
                    <a:pt x="91059" y="7331964"/>
                    <a:pt x="0" y="7241032"/>
                    <a:pt x="0" y="7128764"/>
                  </a:cubicBezTo>
                  <a:close/>
                </a:path>
              </a:pathLst>
            </a:custGeom>
            <a:solidFill>
              <a:srgbClr val="122236"/>
            </a:solidFill>
          </p:spPr>
          <p:txBody>
            <a:bodyPr/>
            <a:lstStyle/>
            <a:p>
              <a:endParaRPr lang="en-US"/>
            </a:p>
          </p:txBody>
        </p:sp>
        <p:sp>
          <p:nvSpPr>
            <p:cNvPr id="7" name="Freeform 7"/>
            <p:cNvSpPr/>
            <p:nvPr/>
          </p:nvSpPr>
          <p:spPr>
            <a:xfrm>
              <a:off x="0" y="0"/>
              <a:ext cx="12945238" cy="7357364"/>
            </a:xfrm>
            <a:custGeom>
              <a:avLst/>
              <a:gdLst/>
              <a:ahLst/>
              <a:cxnLst/>
              <a:rect l="l" t="t" r="r" b="b"/>
              <a:pathLst>
                <a:path w="12945238" h="7357364">
                  <a:moveTo>
                    <a:pt x="0" y="215900"/>
                  </a:moveTo>
                  <a:cubicBezTo>
                    <a:pt x="0" y="96647"/>
                    <a:pt x="96774" y="0"/>
                    <a:pt x="216154" y="0"/>
                  </a:cubicBezTo>
                  <a:lnTo>
                    <a:pt x="12729083" y="0"/>
                  </a:lnTo>
                  <a:lnTo>
                    <a:pt x="12729083" y="12700"/>
                  </a:lnTo>
                  <a:lnTo>
                    <a:pt x="12729083" y="0"/>
                  </a:lnTo>
                  <a:cubicBezTo>
                    <a:pt x="12848463" y="0"/>
                    <a:pt x="12945238" y="96647"/>
                    <a:pt x="12945238" y="215900"/>
                  </a:cubicBezTo>
                  <a:lnTo>
                    <a:pt x="12932538" y="215900"/>
                  </a:lnTo>
                  <a:lnTo>
                    <a:pt x="12945238" y="215900"/>
                  </a:lnTo>
                  <a:lnTo>
                    <a:pt x="12945238" y="7141464"/>
                  </a:lnTo>
                  <a:lnTo>
                    <a:pt x="12932538" y="7141464"/>
                  </a:lnTo>
                  <a:lnTo>
                    <a:pt x="12945238" y="7141464"/>
                  </a:lnTo>
                  <a:cubicBezTo>
                    <a:pt x="12945238" y="7260717"/>
                    <a:pt x="12848463" y="7357364"/>
                    <a:pt x="12729083" y="7357364"/>
                  </a:cubicBezTo>
                  <a:lnTo>
                    <a:pt x="12729083" y="7344664"/>
                  </a:lnTo>
                  <a:lnTo>
                    <a:pt x="12729083" y="7357364"/>
                  </a:lnTo>
                  <a:lnTo>
                    <a:pt x="216154" y="7357364"/>
                  </a:lnTo>
                  <a:lnTo>
                    <a:pt x="216154" y="7344664"/>
                  </a:lnTo>
                  <a:lnTo>
                    <a:pt x="216154" y="7357364"/>
                  </a:lnTo>
                  <a:cubicBezTo>
                    <a:pt x="96774" y="7357364"/>
                    <a:pt x="0" y="7260717"/>
                    <a:pt x="0" y="7141464"/>
                  </a:cubicBezTo>
                  <a:lnTo>
                    <a:pt x="0" y="215900"/>
                  </a:lnTo>
                  <a:lnTo>
                    <a:pt x="12700" y="215900"/>
                  </a:lnTo>
                  <a:lnTo>
                    <a:pt x="0" y="215900"/>
                  </a:lnTo>
                  <a:moveTo>
                    <a:pt x="25400" y="215900"/>
                  </a:moveTo>
                  <a:lnTo>
                    <a:pt x="25400" y="7141464"/>
                  </a:lnTo>
                  <a:lnTo>
                    <a:pt x="12700" y="7141464"/>
                  </a:lnTo>
                  <a:lnTo>
                    <a:pt x="25400" y="7141464"/>
                  </a:lnTo>
                  <a:cubicBezTo>
                    <a:pt x="25400" y="7246620"/>
                    <a:pt x="110744" y="7331964"/>
                    <a:pt x="216154" y="7331964"/>
                  </a:cubicBezTo>
                  <a:lnTo>
                    <a:pt x="12729083" y="7331964"/>
                  </a:lnTo>
                  <a:cubicBezTo>
                    <a:pt x="12834493" y="7331964"/>
                    <a:pt x="12919838" y="7246620"/>
                    <a:pt x="12919838" y="7141464"/>
                  </a:cubicBezTo>
                  <a:lnTo>
                    <a:pt x="12919838" y="215900"/>
                  </a:lnTo>
                  <a:cubicBezTo>
                    <a:pt x="12919838" y="110744"/>
                    <a:pt x="12834493" y="25400"/>
                    <a:pt x="12729083" y="25400"/>
                  </a:cubicBezTo>
                  <a:lnTo>
                    <a:pt x="216154" y="25400"/>
                  </a:lnTo>
                  <a:lnTo>
                    <a:pt x="216154" y="12700"/>
                  </a:lnTo>
                  <a:lnTo>
                    <a:pt x="216154" y="25400"/>
                  </a:lnTo>
                  <a:cubicBezTo>
                    <a:pt x="110744" y="25400"/>
                    <a:pt x="25400" y="110744"/>
                    <a:pt x="25400" y="215900"/>
                  </a:cubicBezTo>
                  <a:close/>
                </a:path>
              </a:pathLst>
            </a:custGeom>
            <a:solidFill>
              <a:srgbClr val="1E3A5F"/>
            </a:solidFill>
          </p:spPr>
          <p:txBody>
            <a:bodyPr/>
            <a:lstStyle/>
            <a:p>
              <a:endParaRPr lang="en-US"/>
            </a:p>
          </p:txBody>
        </p:sp>
      </p:grpSp>
      <p:sp>
        <p:nvSpPr>
          <p:cNvPr id="8" name="TextBox 8"/>
          <p:cNvSpPr txBox="1"/>
          <p:nvPr/>
        </p:nvSpPr>
        <p:spPr>
          <a:xfrm>
            <a:off x="1981200" y="4302023"/>
            <a:ext cx="9326880" cy="447380"/>
          </a:xfrm>
          <a:prstGeom prst="rect">
            <a:avLst/>
          </a:prstGeom>
        </p:spPr>
        <p:txBody>
          <a:bodyPr lIns="0" tIns="0" rIns="0" bIns="0" rtlCol="0" anchor="t">
            <a:spAutoFit/>
          </a:bodyPr>
          <a:lstStyle/>
          <a:p>
            <a:pPr algn="l">
              <a:lnSpc>
                <a:spcPts val="3000"/>
              </a:lnSpc>
            </a:pPr>
            <a:r>
              <a:rPr lang="en-US" sz="2000" b="1">
                <a:solidFill>
                  <a:srgbClr val="22D3EE"/>
                </a:solidFill>
                <a:latin typeface="Courier New Bold"/>
                <a:ea typeface="Courier New Bold"/>
                <a:cs typeface="Courier New Bold"/>
                <a:sym typeface="Courier New Bold"/>
              </a:rPr>
              <a:t>const int</a:t>
            </a:r>
            <a:r>
              <a:rPr lang="en-US" sz="2000">
                <a:solidFill>
                  <a:srgbClr val="F1F5F9"/>
                </a:solidFill>
                <a:latin typeface="Courier New"/>
                <a:ea typeface="Courier New"/>
                <a:cs typeface="Courier New"/>
                <a:sym typeface="Courier New"/>
              </a:rPr>
              <a:t> chunk = std::max(1,</a:t>
            </a:r>
          </a:p>
        </p:txBody>
      </p:sp>
      <p:sp>
        <p:nvSpPr>
          <p:cNvPr id="9" name="TextBox 9"/>
          <p:cNvSpPr txBox="1"/>
          <p:nvPr/>
        </p:nvSpPr>
        <p:spPr>
          <a:xfrm>
            <a:off x="1981200" y="4682728"/>
            <a:ext cx="9326880" cy="447380"/>
          </a:xfrm>
          <a:prstGeom prst="rect">
            <a:avLst/>
          </a:prstGeom>
        </p:spPr>
        <p:txBody>
          <a:bodyPr lIns="0" tIns="0" rIns="0" bIns="0" rtlCol="0" anchor="t">
            <a:spAutoFit/>
          </a:bodyPr>
          <a:lstStyle/>
          <a:p>
            <a:pPr algn="l">
              <a:lnSpc>
                <a:spcPts val="3000"/>
              </a:lnSpc>
            </a:pPr>
            <a:r>
              <a:rPr lang="en-US" sz="2000">
                <a:solidFill>
                  <a:srgbClr val="F1F5F9"/>
                </a:solidFill>
                <a:latin typeface="Courier New"/>
                <a:ea typeface="Courier New"/>
                <a:cs typeface="Courier New"/>
                <a:sym typeface="Courier New"/>
              </a:rPr>
              <a:t>(</a:t>
            </a:r>
            <a:r>
              <a:rPr lang="en-US" sz="2000" b="1">
                <a:solidFill>
                  <a:srgbClr val="22D3EE"/>
                </a:solidFill>
                <a:latin typeface="Courier New Bold"/>
                <a:ea typeface="Courier New Bold"/>
                <a:cs typeface="Courier New Bold"/>
                <a:sym typeface="Courier New Bold"/>
              </a:rPr>
              <a:t>int</a:t>
            </a:r>
            <a:r>
              <a:rPr lang="en-US" sz="2000">
                <a:solidFill>
                  <a:srgbClr val="F1F5F9"/>
                </a:solidFill>
                <a:latin typeface="Courier New"/>
                <a:ea typeface="Courier New"/>
                <a:cs typeface="Courier New"/>
                <a:sym typeface="Courier New"/>
              </a:rPr>
              <a:t>)(std::sqrt(n) / 4));</a:t>
            </a:r>
          </a:p>
        </p:txBody>
      </p:sp>
      <p:sp>
        <p:nvSpPr>
          <p:cNvPr id="10" name="TextBox 10"/>
          <p:cNvSpPr txBox="1"/>
          <p:nvPr/>
        </p:nvSpPr>
        <p:spPr>
          <a:xfrm>
            <a:off x="1981200" y="5444138"/>
            <a:ext cx="9326880" cy="447380"/>
          </a:xfrm>
          <a:prstGeom prst="rect">
            <a:avLst/>
          </a:prstGeom>
        </p:spPr>
        <p:txBody>
          <a:bodyPr lIns="0" tIns="0" rIns="0" bIns="0" rtlCol="0" anchor="t">
            <a:spAutoFit/>
          </a:bodyPr>
          <a:lstStyle/>
          <a:p>
            <a:pPr algn="l">
              <a:lnSpc>
                <a:spcPts val="3000"/>
              </a:lnSpc>
            </a:pPr>
            <a:r>
              <a:rPr lang="en-US" sz="2000">
                <a:solidFill>
                  <a:srgbClr val="F1F5F9"/>
                </a:solidFill>
                <a:latin typeface="Courier New"/>
                <a:ea typeface="Courier New"/>
                <a:cs typeface="Courier New"/>
                <a:sym typeface="Courier New"/>
              </a:rPr>
              <a:t>#pragma omp parallel for \</a:t>
            </a:r>
          </a:p>
        </p:txBody>
      </p:sp>
      <p:sp>
        <p:nvSpPr>
          <p:cNvPr id="11" name="TextBox 11"/>
          <p:cNvSpPr txBox="1"/>
          <p:nvPr/>
        </p:nvSpPr>
        <p:spPr>
          <a:xfrm>
            <a:off x="1981200" y="5824833"/>
            <a:ext cx="9326880" cy="447380"/>
          </a:xfrm>
          <a:prstGeom prst="rect">
            <a:avLst/>
          </a:prstGeom>
        </p:spPr>
        <p:txBody>
          <a:bodyPr lIns="0" tIns="0" rIns="0" bIns="0" rtlCol="0" anchor="t">
            <a:spAutoFit/>
          </a:bodyPr>
          <a:lstStyle/>
          <a:p>
            <a:pPr algn="l">
              <a:lnSpc>
                <a:spcPts val="3000"/>
              </a:lnSpc>
            </a:pPr>
            <a:r>
              <a:rPr lang="en-US" sz="2000">
                <a:solidFill>
                  <a:srgbClr val="F1F5F9"/>
                </a:solidFill>
                <a:latin typeface="Courier New"/>
                <a:ea typeface="Courier New"/>
                <a:cs typeface="Courier New"/>
                <a:sym typeface="Courier New"/>
              </a:rPr>
              <a:t>schedule(</a:t>
            </a:r>
            <a:r>
              <a:rPr lang="en-US" sz="2000" b="1">
                <a:solidFill>
                  <a:srgbClr val="22D3EE"/>
                </a:solidFill>
                <a:latin typeface="Courier New Bold"/>
                <a:ea typeface="Courier New Bold"/>
                <a:cs typeface="Courier New Bold"/>
                <a:sym typeface="Courier New Bold"/>
              </a:rPr>
              <a:t>dynamic</a:t>
            </a:r>
            <a:r>
              <a:rPr lang="en-US" sz="2000">
                <a:solidFill>
                  <a:srgbClr val="F1F5F9"/>
                </a:solidFill>
                <a:latin typeface="Courier New"/>
                <a:ea typeface="Courier New"/>
                <a:cs typeface="Courier New"/>
                <a:sym typeface="Courier New"/>
              </a:rPr>
              <a:t>, chunk) \</a:t>
            </a:r>
          </a:p>
        </p:txBody>
      </p:sp>
      <p:sp>
        <p:nvSpPr>
          <p:cNvPr id="12" name="TextBox 12"/>
          <p:cNvSpPr txBox="1"/>
          <p:nvPr/>
        </p:nvSpPr>
        <p:spPr>
          <a:xfrm>
            <a:off x="1981200" y="6205537"/>
            <a:ext cx="9326880" cy="447380"/>
          </a:xfrm>
          <a:prstGeom prst="rect">
            <a:avLst/>
          </a:prstGeom>
        </p:spPr>
        <p:txBody>
          <a:bodyPr lIns="0" tIns="0" rIns="0" bIns="0" rtlCol="0" anchor="t">
            <a:spAutoFit/>
          </a:bodyPr>
          <a:lstStyle/>
          <a:p>
            <a:pPr algn="l">
              <a:lnSpc>
                <a:spcPts val="3000"/>
              </a:lnSpc>
            </a:pPr>
            <a:r>
              <a:rPr lang="en-US" sz="2000">
                <a:solidFill>
                  <a:srgbClr val="F1F5F9"/>
                </a:solidFill>
                <a:latin typeface="Courier New"/>
                <a:ea typeface="Courier New"/>
                <a:cs typeface="Courier New"/>
                <a:sym typeface="Courier New"/>
              </a:rPr>
              <a:t>if(n &gt; 50000)</a:t>
            </a:r>
          </a:p>
        </p:txBody>
      </p:sp>
      <p:sp>
        <p:nvSpPr>
          <p:cNvPr id="13" name="TextBox 13"/>
          <p:cNvSpPr txBox="1"/>
          <p:nvPr/>
        </p:nvSpPr>
        <p:spPr>
          <a:xfrm>
            <a:off x="1981200" y="6586242"/>
            <a:ext cx="9326880" cy="447380"/>
          </a:xfrm>
          <a:prstGeom prst="rect">
            <a:avLst/>
          </a:prstGeom>
        </p:spPr>
        <p:txBody>
          <a:bodyPr lIns="0" tIns="0" rIns="0" bIns="0" rtlCol="0" anchor="t">
            <a:spAutoFit/>
          </a:bodyPr>
          <a:lstStyle/>
          <a:p>
            <a:pPr algn="l">
              <a:lnSpc>
                <a:spcPts val="3000"/>
              </a:lnSpc>
            </a:pPr>
            <a:r>
              <a:rPr lang="en-US" sz="2000" b="1">
                <a:solidFill>
                  <a:srgbClr val="22D3EE"/>
                </a:solidFill>
                <a:latin typeface="Courier New Bold"/>
                <a:ea typeface="Courier New Bold"/>
                <a:cs typeface="Courier New Bold"/>
                <a:sym typeface="Courier New Bold"/>
              </a:rPr>
              <a:t>for</a:t>
            </a:r>
            <a:r>
              <a:rPr lang="en-US" sz="2000">
                <a:solidFill>
                  <a:srgbClr val="F1F5F9"/>
                </a:solidFill>
                <a:latin typeface="Courier New"/>
                <a:ea typeface="Courier New"/>
                <a:cs typeface="Courier New"/>
                <a:sym typeface="Courier New"/>
              </a:rPr>
              <a:t> (</a:t>
            </a:r>
            <a:r>
              <a:rPr lang="en-US" sz="2000" b="1">
                <a:solidFill>
                  <a:srgbClr val="22D3EE"/>
                </a:solidFill>
                <a:latin typeface="Courier New Bold"/>
                <a:ea typeface="Courier New Bold"/>
                <a:cs typeface="Courier New Bold"/>
                <a:sym typeface="Courier New Bold"/>
              </a:rPr>
              <a:t>int</a:t>
            </a:r>
            <a:r>
              <a:rPr lang="en-US" sz="2000">
                <a:solidFill>
                  <a:srgbClr val="F1F5F9"/>
                </a:solidFill>
                <a:latin typeface="Courier New"/>
                <a:ea typeface="Courier New"/>
                <a:cs typeface="Courier New"/>
                <a:sym typeface="Courier New"/>
              </a:rPr>
              <a:t> i = 0; i &lt; n; ++i) {</a:t>
            </a:r>
          </a:p>
        </p:txBody>
      </p:sp>
      <p:sp>
        <p:nvSpPr>
          <p:cNvPr id="14" name="TextBox 14"/>
          <p:cNvSpPr txBox="1"/>
          <p:nvPr/>
        </p:nvSpPr>
        <p:spPr>
          <a:xfrm>
            <a:off x="1981200" y="6966947"/>
            <a:ext cx="9326880" cy="447380"/>
          </a:xfrm>
          <a:prstGeom prst="rect">
            <a:avLst/>
          </a:prstGeom>
        </p:spPr>
        <p:txBody>
          <a:bodyPr lIns="0" tIns="0" rIns="0" bIns="0" rtlCol="0" anchor="t">
            <a:spAutoFit/>
          </a:bodyPr>
          <a:lstStyle/>
          <a:p>
            <a:pPr algn="l">
              <a:lnSpc>
                <a:spcPts val="3000"/>
              </a:lnSpc>
            </a:pPr>
            <a:r>
              <a:rPr lang="en-US" sz="2000">
                <a:solidFill>
                  <a:srgbClr val="F1F5F9"/>
                </a:solidFill>
                <a:latin typeface="Courier New"/>
                <a:ea typeface="Courier New"/>
                <a:cs typeface="Courier New"/>
                <a:sym typeface="Courier New"/>
              </a:rPr>
              <a:t>results[i] = {</a:t>
            </a:r>
          </a:p>
        </p:txBody>
      </p:sp>
      <p:sp>
        <p:nvSpPr>
          <p:cNvPr id="15" name="TextBox 15"/>
          <p:cNvSpPr txBox="1"/>
          <p:nvPr/>
        </p:nvSpPr>
        <p:spPr>
          <a:xfrm>
            <a:off x="1981200" y="7347642"/>
            <a:ext cx="9326880" cy="447380"/>
          </a:xfrm>
          <a:prstGeom prst="rect">
            <a:avLst/>
          </a:prstGeom>
        </p:spPr>
        <p:txBody>
          <a:bodyPr lIns="0" tIns="0" rIns="0" bIns="0" rtlCol="0" anchor="t">
            <a:spAutoFit/>
          </a:bodyPr>
          <a:lstStyle/>
          <a:p>
            <a:pPr algn="l">
              <a:lnSpc>
                <a:spcPts val="3000"/>
              </a:lnSpc>
            </a:pPr>
            <a:r>
              <a:rPr lang="en-US" sz="2000">
                <a:solidFill>
                  <a:srgbClr val="F1F5F9"/>
                </a:solidFill>
                <a:latin typeface="Courier New"/>
                <a:ea typeface="Courier New"/>
                <a:cs typeface="Courier New"/>
                <a:sym typeface="Courier New"/>
              </a:rPr>
              <a:t>i,</a:t>
            </a:r>
          </a:p>
        </p:txBody>
      </p:sp>
      <p:sp>
        <p:nvSpPr>
          <p:cNvPr id="16" name="TextBox 16"/>
          <p:cNvSpPr txBox="1"/>
          <p:nvPr/>
        </p:nvSpPr>
        <p:spPr>
          <a:xfrm>
            <a:off x="1981200" y="7728347"/>
            <a:ext cx="9326880" cy="447380"/>
          </a:xfrm>
          <a:prstGeom prst="rect">
            <a:avLst/>
          </a:prstGeom>
        </p:spPr>
        <p:txBody>
          <a:bodyPr lIns="0" tIns="0" rIns="0" bIns="0" rtlCol="0" anchor="t">
            <a:spAutoFit/>
          </a:bodyPr>
          <a:lstStyle/>
          <a:p>
            <a:pPr algn="l">
              <a:lnSpc>
                <a:spcPts val="3000"/>
              </a:lnSpc>
            </a:pPr>
            <a:r>
              <a:rPr lang="en-US" sz="2000">
                <a:solidFill>
                  <a:srgbClr val="FBBF24"/>
                </a:solidFill>
                <a:latin typeface="Courier New"/>
                <a:ea typeface="Courier New"/>
                <a:cs typeface="Courier New"/>
                <a:sym typeface="Courier New"/>
              </a:rPr>
              <a:t>classify_one</a:t>
            </a:r>
            <a:r>
              <a:rPr lang="en-US" sz="2000">
                <a:solidFill>
                  <a:srgbClr val="F1F5F9"/>
                </a:solidFill>
                <a:latin typeface="Courier New"/>
                <a:ea typeface="Courier New"/>
                <a:cs typeface="Courier New"/>
                <a:sym typeface="Courier New"/>
              </a:rPr>
              <a:t>(</a:t>
            </a:r>
          </a:p>
        </p:txBody>
      </p:sp>
      <p:sp>
        <p:nvSpPr>
          <p:cNvPr id="17" name="TextBox 17"/>
          <p:cNvSpPr txBox="1"/>
          <p:nvPr/>
        </p:nvSpPr>
        <p:spPr>
          <a:xfrm>
            <a:off x="1981200" y="8109052"/>
            <a:ext cx="9326880" cy="447380"/>
          </a:xfrm>
          <a:prstGeom prst="rect">
            <a:avLst/>
          </a:prstGeom>
        </p:spPr>
        <p:txBody>
          <a:bodyPr lIns="0" tIns="0" rIns="0" bIns="0" rtlCol="0" anchor="t">
            <a:spAutoFit/>
          </a:bodyPr>
          <a:lstStyle/>
          <a:p>
            <a:pPr algn="l">
              <a:lnSpc>
                <a:spcPts val="3000"/>
              </a:lnSpc>
            </a:pPr>
            <a:r>
              <a:rPr lang="en-US" sz="2000">
                <a:solidFill>
                  <a:srgbClr val="F1F5F9"/>
                </a:solidFill>
                <a:latin typeface="Courier New"/>
                <a:ea typeface="Courier New"/>
                <a:cs typeface="Courier New"/>
                <a:sym typeface="Courier New"/>
              </a:rPr>
              <a:t>points[i],</a:t>
            </a:r>
          </a:p>
        </p:txBody>
      </p:sp>
      <p:sp>
        <p:nvSpPr>
          <p:cNvPr id="18" name="TextBox 18"/>
          <p:cNvSpPr txBox="1"/>
          <p:nvPr/>
        </p:nvSpPr>
        <p:spPr>
          <a:xfrm>
            <a:off x="1981200" y="8489747"/>
            <a:ext cx="9326880" cy="447380"/>
          </a:xfrm>
          <a:prstGeom prst="rect">
            <a:avLst/>
          </a:prstGeom>
        </p:spPr>
        <p:txBody>
          <a:bodyPr lIns="0" tIns="0" rIns="0" bIns="0" rtlCol="0" anchor="t">
            <a:spAutoFit/>
          </a:bodyPr>
          <a:lstStyle/>
          <a:p>
            <a:pPr algn="l">
              <a:lnSpc>
                <a:spcPts val="3000"/>
              </a:lnSpc>
            </a:pPr>
            <a:r>
              <a:rPr lang="en-US" sz="2000">
                <a:solidFill>
                  <a:srgbClr val="F1F5F9"/>
                </a:solidFill>
                <a:latin typeface="Courier New"/>
                <a:ea typeface="Courier New"/>
                <a:cs typeface="Courier New"/>
                <a:sym typeface="Courier New"/>
              </a:rPr>
              <a:t>polygons,</a:t>
            </a:r>
          </a:p>
        </p:txBody>
      </p:sp>
      <p:sp>
        <p:nvSpPr>
          <p:cNvPr id="19" name="TextBox 19"/>
          <p:cNvSpPr txBox="1"/>
          <p:nvPr/>
        </p:nvSpPr>
        <p:spPr>
          <a:xfrm>
            <a:off x="1981200" y="8870452"/>
            <a:ext cx="9326880" cy="447380"/>
          </a:xfrm>
          <a:prstGeom prst="rect">
            <a:avLst/>
          </a:prstGeom>
        </p:spPr>
        <p:txBody>
          <a:bodyPr lIns="0" tIns="0" rIns="0" bIns="0" rtlCol="0" anchor="t">
            <a:spAutoFit/>
          </a:bodyPr>
          <a:lstStyle/>
          <a:p>
            <a:pPr algn="l">
              <a:lnSpc>
                <a:spcPts val="3000"/>
              </a:lnSpc>
            </a:pPr>
            <a:r>
              <a:rPr lang="en-US" sz="2000">
                <a:solidFill>
                  <a:srgbClr val="F1F5F9"/>
                </a:solidFill>
                <a:latin typeface="Courier New"/>
                <a:ea typeface="Courier New"/>
                <a:cs typeface="Courier New"/>
                <a:sym typeface="Courier New"/>
              </a:rPr>
              <a:t>index)</a:t>
            </a:r>
          </a:p>
        </p:txBody>
      </p:sp>
      <p:sp>
        <p:nvSpPr>
          <p:cNvPr id="20" name="TextBox 20"/>
          <p:cNvSpPr txBox="1"/>
          <p:nvPr/>
        </p:nvSpPr>
        <p:spPr>
          <a:xfrm>
            <a:off x="1981200" y="9251156"/>
            <a:ext cx="9326880" cy="447380"/>
          </a:xfrm>
          <a:prstGeom prst="rect">
            <a:avLst/>
          </a:prstGeom>
        </p:spPr>
        <p:txBody>
          <a:bodyPr lIns="0" tIns="0" rIns="0" bIns="0" rtlCol="0" anchor="t">
            <a:spAutoFit/>
          </a:bodyPr>
          <a:lstStyle/>
          <a:p>
            <a:pPr algn="l">
              <a:lnSpc>
                <a:spcPts val="3000"/>
              </a:lnSpc>
            </a:pPr>
            <a:r>
              <a:rPr lang="en-US" sz="2000">
                <a:solidFill>
                  <a:srgbClr val="F1F5F9"/>
                </a:solidFill>
                <a:latin typeface="Courier New"/>
                <a:ea typeface="Courier New"/>
                <a:cs typeface="Courier New"/>
                <a:sym typeface="Courier New"/>
              </a:rPr>
              <a:t>};</a:t>
            </a:r>
          </a:p>
        </p:txBody>
      </p:sp>
      <p:sp>
        <p:nvSpPr>
          <p:cNvPr id="21" name="TextBox 21"/>
          <p:cNvSpPr txBox="1"/>
          <p:nvPr/>
        </p:nvSpPr>
        <p:spPr>
          <a:xfrm>
            <a:off x="1981200" y="9631861"/>
            <a:ext cx="9326880" cy="447380"/>
          </a:xfrm>
          <a:prstGeom prst="rect">
            <a:avLst/>
          </a:prstGeom>
        </p:spPr>
        <p:txBody>
          <a:bodyPr lIns="0" tIns="0" rIns="0" bIns="0" rtlCol="0" anchor="t">
            <a:spAutoFit/>
          </a:bodyPr>
          <a:lstStyle/>
          <a:p>
            <a:pPr algn="l">
              <a:lnSpc>
                <a:spcPts val="3000"/>
              </a:lnSpc>
            </a:pPr>
            <a:r>
              <a:rPr lang="en-US" sz="2000">
                <a:solidFill>
                  <a:srgbClr val="F1F5F9"/>
                </a:solidFill>
                <a:latin typeface="Courier New"/>
                <a:ea typeface="Courier New"/>
                <a:cs typeface="Courier New"/>
                <a:sym typeface="Courier New"/>
              </a:rPr>
              <a:t>}</a:t>
            </a:r>
          </a:p>
        </p:txBody>
      </p:sp>
      <p:grpSp>
        <p:nvGrpSpPr>
          <p:cNvPr id="22" name="Group 22"/>
          <p:cNvGrpSpPr/>
          <p:nvPr/>
        </p:nvGrpSpPr>
        <p:grpSpPr>
          <a:xfrm>
            <a:off x="11683898" y="4063898"/>
            <a:ext cx="5079806" cy="1269502"/>
            <a:chOff x="0" y="0"/>
            <a:chExt cx="6773075" cy="1692669"/>
          </a:xfrm>
        </p:grpSpPr>
        <p:sp>
          <p:nvSpPr>
            <p:cNvPr id="23" name="Freeform 23"/>
            <p:cNvSpPr/>
            <p:nvPr/>
          </p:nvSpPr>
          <p:spPr>
            <a:xfrm>
              <a:off x="0" y="0"/>
              <a:ext cx="6773037" cy="1692656"/>
            </a:xfrm>
            <a:custGeom>
              <a:avLst/>
              <a:gdLst/>
              <a:ahLst/>
              <a:cxnLst/>
              <a:rect l="l" t="t" r="r" b="b"/>
              <a:pathLst>
                <a:path w="6773037" h="1692656">
                  <a:moveTo>
                    <a:pt x="0" y="0"/>
                  </a:moveTo>
                  <a:lnTo>
                    <a:pt x="6773037" y="0"/>
                  </a:lnTo>
                  <a:lnTo>
                    <a:pt x="6773037" y="1692656"/>
                  </a:lnTo>
                  <a:lnTo>
                    <a:pt x="0" y="1692656"/>
                  </a:lnTo>
                  <a:close/>
                </a:path>
              </a:pathLst>
            </a:custGeom>
            <a:solidFill>
              <a:srgbClr val="122236"/>
            </a:solidFill>
          </p:spPr>
          <p:txBody>
            <a:bodyPr/>
            <a:lstStyle/>
            <a:p>
              <a:endParaRPr lang="en-US"/>
            </a:p>
          </p:txBody>
        </p:sp>
      </p:grpSp>
      <p:grpSp>
        <p:nvGrpSpPr>
          <p:cNvPr id="24" name="Group 24"/>
          <p:cNvGrpSpPr/>
          <p:nvPr/>
        </p:nvGrpSpPr>
        <p:grpSpPr>
          <a:xfrm>
            <a:off x="11683898" y="4016273"/>
            <a:ext cx="95250" cy="1364752"/>
            <a:chOff x="0" y="0"/>
            <a:chExt cx="127000" cy="1819669"/>
          </a:xfrm>
        </p:grpSpPr>
        <p:sp>
          <p:nvSpPr>
            <p:cNvPr id="25" name="Freeform 25"/>
            <p:cNvSpPr/>
            <p:nvPr/>
          </p:nvSpPr>
          <p:spPr>
            <a:xfrm>
              <a:off x="0" y="63500"/>
              <a:ext cx="127000" cy="1692656"/>
            </a:xfrm>
            <a:custGeom>
              <a:avLst/>
              <a:gdLst/>
              <a:ahLst/>
              <a:cxnLst/>
              <a:rect l="l" t="t" r="r" b="b"/>
              <a:pathLst>
                <a:path w="127000" h="1692656">
                  <a:moveTo>
                    <a:pt x="127000" y="0"/>
                  </a:moveTo>
                  <a:lnTo>
                    <a:pt x="127000" y="1692656"/>
                  </a:lnTo>
                  <a:lnTo>
                    <a:pt x="0" y="1692656"/>
                  </a:lnTo>
                  <a:lnTo>
                    <a:pt x="0" y="0"/>
                  </a:lnTo>
                  <a:close/>
                </a:path>
              </a:pathLst>
            </a:custGeom>
            <a:solidFill>
              <a:srgbClr val="22D3EE"/>
            </a:solidFill>
          </p:spPr>
          <p:txBody>
            <a:bodyPr/>
            <a:lstStyle/>
            <a:p>
              <a:endParaRPr lang="en-US"/>
            </a:p>
          </p:txBody>
        </p:sp>
      </p:grpSp>
      <p:sp>
        <p:nvSpPr>
          <p:cNvPr id="26" name="TextBox 26"/>
          <p:cNvSpPr txBox="1"/>
          <p:nvPr/>
        </p:nvSpPr>
        <p:spPr>
          <a:xfrm>
            <a:off x="12134555" y="4298756"/>
            <a:ext cx="4359221" cy="323850"/>
          </a:xfrm>
          <a:prstGeom prst="rect">
            <a:avLst/>
          </a:prstGeom>
        </p:spPr>
        <p:txBody>
          <a:bodyPr lIns="0" tIns="0" rIns="0" bIns="0" rtlCol="0" anchor="t">
            <a:spAutoFit/>
          </a:bodyPr>
          <a:lstStyle/>
          <a:p>
            <a:pPr algn="l">
              <a:lnSpc>
                <a:spcPts val="2640"/>
              </a:lnSpc>
            </a:pPr>
            <a:r>
              <a:rPr lang="en-US" sz="2200" b="1">
                <a:solidFill>
                  <a:srgbClr val="F1F5F9"/>
                </a:solidFill>
                <a:latin typeface="Arial Bold"/>
                <a:ea typeface="Arial Bold"/>
                <a:cs typeface="Arial Bold"/>
                <a:sym typeface="Arial Bold"/>
              </a:rPr>
              <a:t>Adaptive chunk</a:t>
            </a:r>
          </a:p>
        </p:txBody>
      </p:sp>
      <p:sp>
        <p:nvSpPr>
          <p:cNvPr id="27" name="TextBox 27"/>
          <p:cNvSpPr txBox="1"/>
          <p:nvPr/>
        </p:nvSpPr>
        <p:spPr>
          <a:xfrm>
            <a:off x="12134555" y="4676480"/>
            <a:ext cx="4359221" cy="403031"/>
          </a:xfrm>
          <a:prstGeom prst="rect">
            <a:avLst/>
          </a:prstGeom>
        </p:spPr>
        <p:txBody>
          <a:bodyPr lIns="0" tIns="0" rIns="0" bIns="0" rtlCol="0" anchor="t">
            <a:spAutoFit/>
          </a:bodyPr>
          <a:lstStyle/>
          <a:p>
            <a:pPr algn="l">
              <a:lnSpc>
                <a:spcPts val="2800"/>
              </a:lnSpc>
            </a:pPr>
            <a:r>
              <a:rPr lang="en-US" sz="2000">
                <a:solidFill>
                  <a:srgbClr val="94A3B8"/>
                </a:solidFill>
                <a:latin typeface="Arial"/>
                <a:ea typeface="Arial"/>
                <a:cs typeface="Arial"/>
                <a:sym typeface="Arial"/>
              </a:rPr>
              <a:t>sqrt(n)/4 avoids L3 cache thrashing</a:t>
            </a:r>
          </a:p>
        </p:txBody>
      </p:sp>
      <p:grpSp>
        <p:nvGrpSpPr>
          <p:cNvPr id="28" name="Group 28"/>
          <p:cNvGrpSpPr/>
          <p:nvPr/>
        </p:nvGrpSpPr>
        <p:grpSpPr>
          <a:xfrm>
            <a:off x="11683898" y="5536406"/>
            <a:ext cx="5079806" cy="1624908"/>
            <a:chOff x="0" y="0"/>
            <a:chExt cx="6773075" cy="2166544"/>
          </a:xfrm>
        </p:grpSpPr>
        <p:sp>
          <p:nvSpPr>
            <p:cNvPr id="29" name="Freeform 29"/>
            <p:cNvSpPr/>
            <p:nvPr/>
          </p:nvSpPr>
          <p:spPr>
            <a:xfrm>
              <a:off x="0" y="0"/>
              <a:ext cx="6773037" cy="2166493"/>
            </a:xfrm>
            <a:custGeom>
              <a:avLst/>
              <a:gdLst/>
              <a:ahLst/>
              <a:cxnLst/>
              <a:rect l="l" t="t" r="r" b="b"/>
              <a:pathLst>
                <a:path w="6773037" h="2166493">
                  <a:moveTo>
                    <a:pt x="0" y="0"/>
                  </a:moveTo>
                  <a:lnTo>
                    <a:pt x="6773037" y="0"/>
                  </a:lnTo>
                  <a:lnTo>
                    <a:pt x="6773037" y="2166493"/>
                  </a:lnTo>
                  <a:lnTo>
                    <a:pt x="0" y="2166493"/>
                  </a:lnTo>
                  <a:close/>
                </a:path>
              </a:pathLst>
            </a:custGeom>
            <a:solidFill>
              <a:srgbClr val="122236"/>
            </a:solidFill>
          </p:spPr>
          <p:txBody>
            <a:bodyPr/>
            <a:lstStyle/>
            <a:p>
              <a:endParaRPr lang="en-US"/>
            </a:p>
          </p:txBody>
        </p:sp>
      </p:grpSp>
      <p:grpSp>
        <p:nvGrpSpPr>
          <p:cNvPr id="30" name="Group 30"/>
          <p:cNvGrpSpPr/>
          <p:nvPr/>
        </p:nvGrpSpPr>
        <p:grpSpPr>
          <a:xfrm>
            <a:off x="11683898" y="5488781"/>
            <a:ext cx="95250" cy="1720158"/>
            <a:chOff x="0" y="0"/>
            <a:chExt cx="127000" cy="2293544"/>
          </a:xfrm>
        </p:grpSpPr>
        <p:sp>
          <p:nvSpPr>
            <p:cNvPr id="31" name="Freeform 31"/>
            <p:cNvSpPr/>
            <p:nvPr/>
          </p:nvSpPr>
          <p:spPr>
            <a:xfrm>
              <a:off x="0" y="63500"/>
              <a:ext cx="127000" cy="2166493"/>
            </a:xfrm>
            <a:custGeom>
              <a:avLst/>
              <a:gdLst/>
              <a:ahLst/>
              <a:cxnLst/>
              <a:rect l="l" t="t" r="r" b="b"/>
              <a:pathLst>
                <a:path w="127000" h="2166493">
                  <a:moveTo>
                    <a:pt x="127000" y="0"/>
                  </a:moveTo>
                  <a:lnTo>
                    <a:pt x="127000" y="2166493"/>
                  </a:lnTo>
                  <a:lnTo>
                    <a:pt x="0" y="2166493"/>
                  </a:lnTo>
                  <a:lnTo>
                    <a:pt x="0" y="0"/>
                  </a:lnTo>
                  <a:close/>
                </a:path>
              </a:pathLst>
            </a:custGeom>
            <a:solidFill>
              <a:srgbClr val="22D3EE"/>
            </a:solidFill>
          </p:spPr>
          <p:txBody>
            <a:bodyPr/>
            <a:lstStyle/>
            <a:p>
              <a:endParaRPr lang="en-US"/>
            </a:p>
          </p:txBody>
        </p:sp>
      </p:grpSp>
      <p:sp>
        <p:nvSpPr>
          <p:cNvPr id="32" name="TextBox 32"/>
          <p:cNvSpPr txBox="1"/>
          <p:nvPr/>
        </p:nvSpPr>
        <p:spPr>
          <a:xfrm>
            <a:off x="12134555" y="5771255"/>
            <a:ext cx="4359221" cy="323850"/>
          </a:xfrm>
          <a:prstGeom prst="rect">
            <a:avLst/>
          </a:prstGeom>
        </p:spPr>
        <p:txBody>
          <a:bodyPr lIns="0" tIns="0" rIns="0" bIns="0" rtlCol="0" anchor="t">
            <a:spAutoFit/>
          </a:bodyPr>
          <a:lstStyle/>
          <a:p>
            <a:pPr algn="l">
              <a:lnSpc>
                <a:spcPts val="2640"/>
              </a:lnSpc>
            </a:pPr>
            <a:r>
              <a:rPr lang="en-US" sz="2200" b="1">
                <a:solidFill>
                  <a:srgbClr val="F1F5F9"/>
                </a:solidFill>
                <a:latin typeface="Arial Bold"/>
                <a:ea typeface="Arial Bold"/>
                <a:cs typeface="Arial Bold"/>
                <a:sym typeface="Arial Bold"/>
              </a:rPr>
              <a:t>Dynamic schedule</a:t>
            </a:r>
          </a:p>
        </p:txBody>
      </p:sp>
      <p:sp>
        <p:nvSpPr>
          <p:cNvPr id="33" name="TextBox 33"/>
          <p:cNvSpPr txBox="1"/>
          <p:nvPr/>
        </p:nvSpPr>
        <p:spPr>
          <a:xfrm>
            <a:off x="12134555" y="6148988"/>
            <a:ext cx="4359221" cy="758428"/>
          </a:xfrm>
          <a:prstGeom prst="rect">
            <a:avLst/>
          </a:prstGeom>
        </p:spPr>
        <p:txBody>
          <a:bodyPr lIns="0" tIns="0" rIns="0" bIns="0" rtlCol="0" anchor="t">
            <a:spAutoFit/>
          </a:bodyPr>
          <a:lstStyle/>
          <a:p>
            <a:pPr algn="l">
              <a:lnSpc>
                <a:spcPts val="2800"/>
              </a:lnSpc>
            </a:pPr>
            <a:r>
              <a:rPr lang="en-US" sz="2000">
                <a:solidFill>
                  <a:srgbClr val="94A3B8"/>
                </a:solidFill>
                <a:latin typeface="Arial"/>
                <a:ea typeface="Arial"/>
                <a:cs typeface="Arial"/>
                <a:sym typeface="Arial"/>
              </a:rPr>
              <a:t>Threads pull chunks at runtime — no idle waiting</a:t>
            </a:r>
          </a:p>
        </p:txBody>
      </p:sp>
      <p:grpSp>
        <p:nvGrpSpPr>
          <p:cNvPr id="34" name="Group 34"/>
          <p:cNvGrpSpPr/>
          <p:nvPr/>
        </p:nvGrpSpPr>
        <p:grpSpPr>
          <a:xfrm>
            <a:off x="11683898" y="7364311"/>
            <a:ext cx="5079806" cy="1624908"/>
            <a:chOff x="0" y="0"/>
            <a:chExt cx="6773075" cy="2166544"/>
          </a:xfrm>
        </p:grpSpPr>
        <p:sp>
          <p:nvSpPr>
            <p:cNvPr id="35" name="Freeform 35"/>
            <p:cNvSpPr/>
            <p:nvPr/>
          </p:nvSpPr>
          <p:spPr>
            <a:xfrm>
              <a:off x="0" y="0"/>
              <a:ext cx="6773037" cy="2166493"/>
            </a:xfrm>
            <a:custGeom>
              <a:avLst/>
              <a:gdLst/>
              <a:ahLst/>
              <a:cxnLst/>
              <a:rect l="l" t="t" r="r" b="b"/>
              <a:pathLst>
                <a:path w="6773037" h="2166493">
                  <a:moveTo>
                    <a:pt x="0" y="0"/>
                  </a:moveTo>
                  <a:lnTo>
                    <a:pt x="6773037" y="0"/>
                  </a:lnTo>
                  <a:lnTo>
                    <a:pt x="6773037" y="2166493"/>
                  </a:lnTo>
                  <a:lnTo>
                    <a:pt x="0" y="2166493"/>
                  </a:lnTo>
                  <a:close/>
                </a:path>
              </a:pathLst>
            </a:custGeom>
            <a:solidFill>
              <a:srgbClr val="122236"/>
            </a:solidFill>
          </p:spPr>
          <p:txBody>
            <a:bodyPr/>
            <a:lstStyle/>
            <a:p>
              <a:endParaRPr lang="en-US"/>
            </a:p>
          </p:txBody>
        </p:sp>
      </p:grpSp>
      <p:grpSp>
        <p:nvGrpSpPr>
          <p:cNvPr id="36" name="Group 36"/>
          <p:cNvGrpSpPr/>
          <p:nvPr/>
        </p:nvGrpSpPr>
        <p:grpSpPr>
          <a:xfrm>
            <a:off x="11683898" y="7316686"/>
            <a:ext cx="95250" cy="1720158"/>
            <a:chOff x="0" y="0"/>
            <a:chExt cx="127000" cy="2293544"/>
          </a:xfrm>
        </p:grpSpPr>
        <p:sp>
          <p:nvSpPr>
            <p:cNvPr id="37" name="Freeform 37"/>
            <p:cNvSpPr/>
            <p:nvPr/>
          </p:nvSpPr>
          <p:spPr>
            <a:xfrm>
              <a:off x="0" y="63500"/>
              <a:ext cx="127000" cy="2166493"/>
            </a:xfrm>
            <a:custGeom>
              <a:avLst/>
              <a:gdLst/>
              <a:ahLst/>
              <a:cxnLst/>
              <a:rect l="l" t="t" r="r" b="b"/>
              <a:pathLst>
                <a:path w="127000" h="2166493">
                  <a:moveTo>
                    <a:pt x="127000" y="0"/>
                  </a:moveTo>
                  <a:lnTo>
                    <a:pt x="127000" y="2166493"/>
                  </a:lnTo>
                  <a:lnTo>
                    <a:pt x="0" y="2166493"/>
                  </a:lnTo>
                  <a:lnTo>
                    <a:pt x="0" y="0"/>
                  </a:lnTo>
                  <a:close/>
                </a:path>
              </a:pathLst>
            </a:custGeom>
            <a:solidFill>
              <a:srgbClr val="22D3EE"/>
            </a:solidFill>
          </p:spPr>
          <p:txBody>
            <a:bodyPr/>
            <a:lstStyle/>
            <a:p>
              <a:endParaRPr lang="en-US"/>
            </a:p>
          </p:txBody>
        </p:sp>
      </p:grpSp>
      <p:sp>
        <p:nvSpPr>
          <p:cNvPr id="38" name="TextBox 38"/>
          <p:cNvSpPr txBox="1"/>
          <p:nvPr/>
        </p:nvSpPr>
        <p:spPr>
          <a:xfrm>
            <a:off x="12134555" y="7599159"/>
            <a:ext cx="4359221" cy="323850"/>
          </a:xfrm>
          <a:prstGeom prst="rect">
            <a:avLst/>
          </a:prstGeom>
        </p:spPr>
        <p:txBody>
          <a:bodyPr lIns="0" tIns="0" rIns="0" bIns="0" rtlCol="0" anchor="t">
            <a:spAutoFit/>
          </a:bodyPr>
          <a:lstStyle/>
          <a:p>
            <a:pPr algn="l">
              <a:lnSpc>
                <a:spcPts val="2640"/>
              </a:lnSpc>
            </a:pPr>
            <a:r>
              <a:rPr lang="en-US" sz="2200" b="1">
                <a:solidFill>
                  <a:srgbClr val="F1F5F9"/>
                </a:solidFill>
                <a:latin typeface="Arial Bold"/>
                <a:ea typeface="Arial Bold"/>
                <a:cs typeface="Arial Bold"/>
                <a:sym typeface="Arial Bold"/>
              </a:rPr>
              <a:t>Skip on small N</a:t>
            </a:r>
          </a:p>
        </p:txBody>
      </p:sp>
      <p:sp>
        <p:nvSpPr>
          <p:cNvPr id="39" name="TextBox 39"/>
          <p:cNvSpPr txBox="1"/>
          <p:nvPr/>
        </p:nvSpPr>
        <p:spPr>
          <a:xfrm>
            <a:off x="12134555" y="7976892"/>
            <a:ext cx="4359221" cy="758428"/>
          </a:xfrm>
          <a:prstGeom prst="rect">
            <a:avLst/>
          </a:prstGeom>
        </p:spPr>
        <p:txBody>
          <a:bodyPr lIns="0" tIns="0" rIns="0" bIns="0" rtlCol="0" anchor="t">
            <a:spAutoFit/>
          </a:bodyPr>
          <a:lstStyle/>
          <a:p>
            <a:pPr algn="l">
              <a:lnSpc>
                <a:spcPts val="2800"/>
              </a:lnSpc>
            </a:pPr>
            <a:r>
              <a:rPr lang="en-US" sz="2000">
                <a:solidFill>
                  <a:srgbClr val="94A3B8"/>
                </a:solidFill>
                <a:latin typeface="Arial"/>
                <a:ea typeface="Arial"/>
                <a:cs typeface="Arial"/>
                <a:sym typeface="Arial"/>
              </a:rPr>
              <a:t>OpenMP overhead beats parallelism below 50K points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TextBox 2"/>
          <p:cNvSpPr txBox="1"/>
          <p:nvPr/>
        </p:nvSpPr>
        <p:spPr>
          <a:xfrm>
            <a:off x="1524000" y="1260281"/>
            <a:ext cx="5834158" cy="295275"/>
          </a:xfrm>
          <a:prstGeom prst="rect">
            <a:avLst/>
          </a:prstGeom>
        </p:spPr>
        <p:txBody>
          <a:bodyPr lIns="0" tIns="0" rIns="0" bIns="0" rtlCol="0" anchor="t">
            <a:spAutoFit/>
          </a:bodyPr>
          <a:lstStyle/>
          <a:p>
            <a:pPr algn="l">
              <a:lnSpc>
                <a:spcPts val="2400"/>
              </a:lnSpc>
            </a:pPr>
            <a:r>
              <a:rPr lang="en-US" sz="2000">
                <a:solidFill>
                  <a:srgbClr val="22D3EE"/>
                </a:solidFill>
                <a:latin typeface="Arial"/>
                <a:ea typeface="Arial"/>
                <a:cs typeface="Arial"/>
                <a:sym typeface="Arial"/>
              </a:rPr>
              <a:t>MILESTONE 2 · RESULTS</a:t>
            </a:r>
          </a:p>
        </p:txBody>
      </p:sp>
      <p:sp>
        <p:nvSpPr>
          <p:cNvPr id="3" name="TextBox 3"/>
          <p:cNvSpPr txBox="1"/>
          <p:nvPr/>
        </p:nvSpPr>
        <p:spPr>
          <a:xfrm>
            <a:off x="1524000" y="2003231"/>
            <a:ext cx="15544800" cy="885825"/>
          </a:xfrm>
          <a:prstGeom prst="rect">
            <a:avLst/>
          </a:prstGeom>
        </p:spPr>
        <p:txBody>
          <a:bodyPr lIns="0" tIns="0" rIns="0" bIns="0" rtlCol="0" anchor="t">
            <a:spAutoFit/>
          </a:bodyPr>
          <a:lstStyle/>
          <a:p>
            <a:pPr algn="l">
              <a:lnSpc>
                <a:spcPts val="7200"/>
              </a:lnSpc>
            </a:pPr>
            <a:r>
              <a:rPr lang="en-US" sz="6000">
                <a:solidFill>
                  <a:srgbClr val="F1F5F9"/>
                </a:solidFill>
                <a:latin typeface="Arial"/>
                <a:ea typeface="Arial"/>
                <a:cs typeface="Arial"/>
                <a:sym typeface="Arial"/>
              </a:rPr>
              <a:t>Hybrid wins — </a:t>
            </a:r>
            <a:r>
              <a:rPr lang="en-US" sz="6000" b="1">
                <a:solidFill>
                  <a:srgbClr val="22D3EE"/>
                </a:solidFill>
                <a:latin typeface="Arial Bold"/>
                <a:ea typeface="Arial Bold"/>
                <a:cs typeface="Arial Bold"/>
                <a:sym typeface="Arial Bold"/>
              </a:rPr>
              <a:t>2.49×</a:t>
            </a:r>
            <a:r>
              <a:rPr lang="en-US" sz="6000">
                <a:solidFill>
                  <a:srgbClr val="F1F5F9"/>
                </a:solidFill>
                <a:latin typeface="Arial"/>
                <a:ea typeface="Arial"/>
                <a:cs typeface="Arial"/>
                <a:sym typeface="Arial"/>
              </a:rPr>
              <a:t> on 4 threads</a:t>
            </a:r>
          </a:p>
        </p:txBody>
      </p:sp>
      <p:grpSp>
        <p:nvGrpSpPr>
          <p:cNvPr id="4" name="Group 4"/>
          <p:cNvGrpSpPr/>
          <p:nvPr/>
        </p:nvGrpSpPr>
        <p:grpSpPr>
          <a:xfrm>
            <a:off x="1524000" y="4191000"/>
            <a:ext cx="5587898" cy="2355352"/>
            <a:chOff x="0" y="0"/>
            <a:chExt cx="7450531" cy="3140469"/>
          </a:xfrm>
        </p:grpSpPr>
        <p:sp>
          <p:nvSpPr>
            <p:cNvPr id="5" name="Freeform 5"/>
            <p:cNvSpPr/>
            <p:nvPr/>
          </p:nvSpPr>
          <p:spPr>
            <a:xfrm>
              <a:off x="0" y="0"/>
              <a:ext cx="7450582" cy="3140456"/>
            </a:xfrm>
            <a:custGeom>
              <a:avLst/>
              <a:gdLst/>
              <a:ahLst/>
              <a:cxnLst/>
              <a:rect l="l" t="t" r="r" b="b"/>
              <a:pathLst>
                <a:path w="7450582" h="3140456">
                  <a:moveTo>
                    <a:pt x="0" y="0"/>
                  </a:moveTo>
                  <a:lnTo>
                    <a:pt x="7450582" y="0"/>
                  </a:lnTo>
                  <a:lnTo>
                    <a:pt x="7450582" y="3140456"/>
                  </a:lnTo>
                  <a:lnTo>
                    <a:pt x="0" y="3140456"/>
                  </a:lnTo>
                  <a:close/>
                </a:path>
              </a:pathLst>
            </a:custGeom>
            <a:solidFill>
              <a:srgbClr val="122236"/>
            </a:solidFill>
          </p:spPr>
          <p:txBody>
            <a:bodyPr/>
            <a:lstStyle/>
            <a:p>
              <a:endParaRPr lang="en-US"/>
            </a:p>
          </p:txBody>
        </p:sp>
      </p:grpSp>
      <p:grpSp>
        <p:nvGrpSpPr>
          <p:cNvPr id="6" name="Group 6"/>
          <p:cNvGrpSpPr/>
          <p:nvPr/>
        </p:nvGrpSpPr>
        <p:grpSpPr>
          <a:xfrm>
            <a:off x="1524000" y="4143375"/>
            <a:ext cx="95250" cy="2450602"/>
            <a:chOff x="0" y="0"/>
            <a:chExt cx="127000" cy="3267469"/>
          </a:xfrm>
        </p:grpSpPr>
        <p:sp>
          <p:nvSpPr>
            <p:cNvPr id="7" name="Freeform 7"/>
            <p:cNvSpPr/>
            <p:nvPr/>
          </p:nvSpPr>
          <p:spPr>
            <a:xfrm>
              <a:off x="0" y="63500"/>
              <a:ext cx="127000" cy="3140456"/>
            </a:xfrm>
            <a:custGeom>
              <a:avLst/>
              <a:gdLst/>
              <a:ahLst/>
              <a:cxnLst/>
              <a:rect l="l" t="t" r="r" b="b"/>
              <a:pathLst>
                <a:path w="127000" h="3140456">
                  <a:moveTo>
                    <a:pt x="127000" y="0"/>
                  </a:moveTo>
                  <a:lnTo>
                    <a:pt x="127000" y="3140456"/>
                  </a:lnTo>
                  <a:lnTo>
                    <a:pt x="0" y="3140456"/>
                  </a:lnTo>
                  <a:lnTo>
                    <a:pt x="0" y="0"/>
                  </a:lnTo>
                  <a:close/>
                </a:path>
              </a:pathLst>
            </a:custGeom>
            <a:solidFill>
              <a:srgbClr val="22D3EE"/>
            </a:solidFill>
          </p:spPr>
          <p:txBody>
            <a:bodyPr/>
            <a:lstStyle/>
            <a:p>
              <a:endParaRPr lang="en-US"/>
            </a:p>
          </p:txBody>
        </p:sp>
      </p:grpSp>
      <p:sp>
        <p:nvSpPr>
          <p:cNvPr id="8" name="TextBox 8"/>
          <p:cNvSpPr txBox="1"/>
          <p:nvPr/>
        </p:nvSpPr>
        <p:spPr>
          <a:xfrm>
            <a:off x="2076450" y="4546406"/>
            <a:ext cx="4669812" cy="933450"/>
          </a:xfrm>
          <a:prstGeom prst="rect">
            <a:avLst/>
          </a:prstGeom>
        </p:spPr>
        <p:txBody>
          <a:bodyPr lIns="0" tIns="0" rIns="0" bIns="0" rtlCol="0" anchor="t">
            <a:spAutoFit/>
          </a:bodyPr>
          <a:lstStyle/>
          <a:p>
            <a:pPr algn="l">
              <a:lnSpc>
                <a:spcPts val="7680"/>
              </a:lnSpc>
            </a:pPr>
            <a:r>
              <a:rPr lang="en-US" sz="6400" b="1">
                <a:solidFill>
                  <a:srgbClr val="22D3EE"/>
                </a:solidFill>
                <a:latin typeface="Courier New Bold"/>
                <a:ea typeface="Courier New Bold"/>
                <a:cs typeface="Courier New Bold"/>
                <a:sym typeface="Courier New Bold"/>
              </a:rPr>
              <a:t>2.16×</a:t>
            </a:r>
          </a:p>
        </p:txBody>
      </p:sp>
      <p:sp>
        <p:nvSpPr>
          <p:cNvPr id="9" name="TextBox 9"/>
          <p:cNvSpPr txBox="1"/>
          <p:nvPr/>
        </p:nvSpPr>
        <p:spPr>
          <a:xfrm>
            <a:off x="2076450" y="5562305"/>
            <a:ext cx="4669812" cy="628650"/>
          </a:xfrm>
          <a:prstGeom prst="rect">
            <a:avLst/>
          </a:prstGeom>
        </p:spPr>
        <p:txBody>
          <a:bodyPr lIns="0" tIns="0" rIns="0" bIns="0" rtlCol="0" anchor="t">
            <a:spAutoFit/>
          </a:bodyPr>
          <a:lstStyle/>
          <a:p>
            <a:pPr algn="l">
              <a:lnSpc>
                <a:spcPts val="2640"/>
              </a:lnSpc>
            </a:pPr>
            <a:r>
              <a:rPr lang="en-US" sz="2200">
                <a:solidFill>
                  <a:srgbClr val="94A3B8"/>
                </a:solidFill>
                <a:latin typeface="Arial"/>
                <a:ea typeface="Arial"/>
                <a:cs typeface="Arial"/>
                <a:sym typeface="Arial"/>
              </a:rPr>
              <a:t>HYBRID SPEEDUP · 1M UNIFORM</a:t>
            </a:r>
          </a:p>
        </p:txBody>
      </p:sp>
      <p:grpSp>
        <p:nvGrpSpPr>
          <p:cNvPr id="10" name="Group 10"/>
          <p:cNvGrpSpPr/>
          <p:nvPr/>
        </p:nvGrpSpPr>
        <p:grpSpPr>
          <a:xfrm>
            <a:off x="1524000" y="6901758"/>
            <a:ext cx="5587898" cy="1675800"/>
            <a:chOff x="0" y="0"/>
            <a:chExt cx="7450531" cy="2234400"/>
          </a:xfrm>
        </p:grpSpPr>
        <p:sp>
          <p:nvSpPr>
            <p:cNvPr id="11" name="Freeform 11"/>
            <p:cNvSpPr/>
            <p:nvPr/>
          </p:nvSpPr>
          <p:spPr>
            <a:xfrm>
              <a:off x="0" y="0"/>
              <a:ext cx="7450582" cy="2234438"/>
            </a:xfrm>
            <a:custGeom>
              <a:avLst/>
              <a:gdLst/>
              <a:ahLst/>
              <a:cxnLst/>
              <a:rect l="l" t="t" r="r" b="b"/>
              <a:pathLst>
                <a:path w="7450582" h="2234438">
                  <a:moveTo>
                    <a:pt x="0" y="0"/>
                  </a:moveTo>
                  <a:lnTo>
                    <a:pt x="7450582" y="0"/>
                  </a:lnTo>
                  <a:lnTo>
                    <a:pt x="7450582" y="2234438"/>
                  </a:lnTo>
                  <a:lnTo>
                    <a:pt x="0" y="2234438"/>
                  </a:lnTo>
                  <a:close/>
                </a:path>
              </a:pathLst>
            </a:custGeom>
            <a:solidFill>
              <a:srgbClr val="122236"/>
            </a:solidFill>
          </p:spPr>
          <p:txBody>
            <a:bodyPr/>
            <a:lstStyle/>
            <a:p>
              <a:endParaRPr lang="en-US"/>
            </a:p>
          </p:txBody>
        </p:sp>
      </p:grpSp>
      <p:grpSp>
        <p:nvGrpSpPr>
          <p:cNvPr id="12" name="Group 12"/>
          <p:cNvGrpSpPr/>
          <p:nvPr/>
        </p:nvGrpSpPr>
        <p:grpSpPr>
          <a:xfrm>
            <a:off x="1524000" y="6854133"/>
            <a:ext cx="95250" cy="1771050"/>
            <a:chOff x="0" y="0"/>
            <a:chExt cx="127000" cy="2361400"/>
          </a:xfrm>
        </p:grpSpPr>
        <p:sp>
          <p:nvSpPr>
            <p:cNvPr id="13" name="Freeform 13"/>
            <p:cNvSpPr/>
            <p:nvPr/>
          </p:nvSpPr>
          <p:spPr>
            <a:xfrm>
              <a:off x="0" y="63500"/>
              <a:ext cx="127000" cy="2234438"/>
            </a:xfrm>
            <a:custGeom>
              <a:avLst/>
              <a:gdLst/>
              <a:ahLst/>
              <a:cxnLst/>
              <a:rect l="l" t="t" r="r" b="b"/>
              <a:pathLst>
                <a:path w="127000" h="2234438">
                  <a:moveTo>
                    <a:pt x="127000" y="0"/>
                  </a:moveTo>
                  <a:lnTo>
                    <a:pt x="127000" y="2234438"/>
                  </a:lnTo>
                  <a:lnTo>
                    <a:pt x="0" y="2234438"/>
                  </a:lnTo>
                  <a:lnTo>
                    <a:pt x="0" y="0"/>
                  </a:lnTo>
                  <a:close/>
                </a:path>
              </a:pathLst>
            </a:custGeom>
            <a:solidFill>
              <a:srgbClr val="94A3B8"/>
            </a:solidFill>
          </p:spPr>
          <p:txBody>
            <a:bodyPr/>
            <a:lstStyle/>
            <a:p>
              <a:endParaRPr lang="en-US"/>
            </a:p>
          </p:txBody>
        </p:sp>
      </p:grpSp>
      <p:sp>
        <p:nvSpPr>
          <p:cNvPr id="14" name="TextBox 14"/>
          <p:cNvSpPr txBox="1"/>
          <p:nvPr/>
        </p:nvSpPr>
        <p:spPr>
          <a:xfrm>
            <a:off x="2025548" y="7158933"/>
            <a:ext cx="4773654" cy="1113825"/>
          </a:xfrm>
          <a:prstGeom prst="rect">
            <a:avLst/>
          </a:prstGeom>
        </p:spPr>
        <p:txBody>
          <a:bodyPr lIns="0" tIns="0" rIns="0" bIns="0" rtlCol="0" anchor="t">
            <a:spAutoFit/>
          </a:bodyPr>
          <a:lstStyle/>
          <a:p>
            <a:pPr algn="l">
              <a:lnSpc>
                <a:spcPts val="2800"/>
              </a:lnSpc>
            </a:pPr>
            <a:r>
              <a:rPr lang="en-US" sz="2000" b="1">
                <a:solidFill>
                  <a:srgbClr val="F1F5F9"/>
                </a:solidFill>
                <a:latin typeface="Arial Bold"/>
                <a:ea typeface="Arial Bold"/>
                <a:cs typeface="Arial Bold"/>
                <a:sym typeface="Arial Bold"/>
              </a:rPr>
              <a:t>Sub-linear scaling.</a:t>
            </a:r>
            <a:r>
              <a:rPr lang="en-US" sz="2000">
                <a:solidFill>
                  <a:srgbClr val="94A3B8"/>
                </a:solidFill>
                <a:latin typeface="Arial"/>
                <a:ea typeface="Arial"/>
                <a:cs typeface="Arial"/>
                <a:sym typeface="Arial"/>
              </a:rPr>
              <a:t> Quadtree traversal is memory-bound — random access dominates compute.</a:t>
            </a:r>
          </a:p>
        </p:txBody>
      </p:sp>
      <p:pic>
        <p:nvPicPr>
          <p:cNvPr id="15" name="Picture 15"/>
          <p:cNvPicPr>
            <a:picLocks noChangeAspect="1"/>
          </p:cNvPicPr>
          <p:nvPr/>
        </p:nvPicPr>
        <p:blipFill>
          <a:blip r:embed="rId3"/>
          <a:stretch>
            <a:fillRect/>
          </a:stretch>
        </p:blipFill>
        <p:spPr>
          <a:xfrm>
            <a:off x="6832402" y="3276600"/>
            <a:ext cx="10972800" cy="71628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TextBox 2"/>
          <p:cNvSpPr txBox="1"/>
          <p:nvPr/>
        </p:nvSpPr>
        <p:spPr>
          <a:xfrm>
            <a:off x="1524000" y="1260281"/>
            <a:ext cx="9782289" cy="295275"/>
          </a:xfrm>
          <a:prstGeom prst="rect">
            <a:avLst/>
          </a:prstGeom>
        </p:spPr>
        <p:txBody>
          <a:bodyPr lIns="0" tIns="0" rIns="0" bIns="0" rtlCol="0" anchor="t">
            <a:spAutoFit/>
          </a:bodyPr>
          <a:lstStyle/>
          <a:p>
            <a:pPr algn="l">
              <a:lnSpc>
                <a:spcPts val="2400"/>
              </a:lnSpc>
            </a:pPr>
            <a:r>
              <a:rPr lang="en-US" sz="2000">
                <a:solidFill>
                  <a:srgbClr val="22D3EE"/>
                </a:solidFill>
                <a:latin typeface="Arial"/>
                <a:ea typeface="Arial"/>
                <a:cs typeface="Arial"/>
                <a:sym typeface="Arial"/>
              </a:rPr>
              <a:t>MILESTONE 3 · DISTRIBUTED EXECUTION</a:t>
            </a:r>
          </a:p>
        </p:txBody>
      </p:sp>
      <p:sp>
        <p:nvSpPr>
          <p:cNvPr id="3" name="TextBox 3"/>
          <p:cNvSpPr txBox="1"/>
          <p:nvPr/>
        </p:nvSpPr>
        <p:spPr>
          <a:xfrm>
            <a:off x="1524000" y="2003231"/>
            <a:ext cx="15544800" cy="885825"/>
          </a:xfrm>
          <a:prstGeom prst="rect">
            <a:avLst/>
          </a:prstGeom>
        </p:spPr>
        <p:txBody>
          <a:bodyPr lIns="0" tIns="0" rIns="0" bIns="0" rtlCol="0" anchor="t">
            <a:spAutoFit/>
          </a:bodyPr>
          <a:lstStyle/>
          <a:p>
            <a:pPr algn="l">
              <a:lnSpc>
                <a:spcPts val="7200"/>
              </a:lnSpc>
            </a:pPr>
            <a:r>
              <a:rPr lang="en-US" sz="6000">
                <a:solidFill>
                  <a:srgbClr val="F1F5F9"/>
                </a:solidFill>
                <a:latin typeface="Arial"/>
                <a:ea typeface="Arial"/>
                <a:cs typeface="Arial"/>
                <a:sym typeface="Arial"/>
              </a:rPr>
              <a:t>Master / </a:t>
            </a:r>
            <a:r>
              <a:rPr lang="en-US" sz="6000" b="1">
                <a:solidFill>
                  <a:srgbClr val="22D3EE"/>
                </a:solidFill>
                <a:latin typeface="Arial Bold"/>
                <a:ea typeface="Arial Bold"/>
                <a:cs typeface="Arial Bold"/>
                <a:sym typeface="Arial Bold"/>
              </a:rPr>
              <a:t>Worker</a:t>
            </a:r>
            <a:r>
              <a:rPr lang="en-US" sz="6000">
                <a:solidFill>
                  <a:srgbClr val="F1F5F9"/>
                </a:solidFill>
                <a:latin typeface="Arial"/>
                <a:ea typeface="Arial"/>
                <a:cs typeface="Arial"/>
                <a:sym typeface="Arial"/>
              </a:rPr>
              <a:t> architecture</a:t>
            </a:r>
          </a:p>
        </p:txBody>
      </p:sp>
      <p:grpSp>
        <p:nvGrpSpPr>
          <p:cNvPr id="4" name="Group 4"/>
          <p:cNvGrpSpPr/>
          <p:nvPr/>
        </p:nvGrpSpPr>
        <p:grpSpPr>
          <a:xfrm>
            <a:off x="7111898" y="4063898"/>
            <a:ext cx="4063898" cy="1269806"/>
            <a:chOff x="0" y="0"/>
            <a:chExt cx="5418531" cy="1693075"/>
          </a:xfrm>
        </p:grpSpPr>
        <p:sp>
          <p:nvSpPr>
            <p:cNvPr id="5" name="Freeform 5"/>
            <p:cNvSpPr/>
            <p:nvPr/>
          </p:nvSpPr>
          <p:spPr>
            <a:xfrm>
              <a:off x="0" y="0"/>
              <a:ext cx="5418582" cy="1693037"/>
            </a:xfrm>
            <a:custGeom>
              <a:avLst/>
              <a:gdLst/>
              <a:ahLst/>
              <a:cxnLst/>
              <a:rect l="l" t="t" r="r" b="b"/>
              <a:pathLst>
                <a:path w="5418582" h="1693037">
                  <a:moveTo>
                    <a:pt x="0" y="203200"/>
                  </a:moveTo>
                  <a:cubicBezTo>
                    <a:pt x="0" y="90932"/>
                    <a:pt x="90932" y="0"/>
                    <a:pt x="203200" y="0"/>
                  </a:cubicBezTo>
                  <a:lnTo>
                    <a:pt x="5215382" y="0"/>
                  </a:lnTo>
                  <a:cubicBezTo>
                    <a:pt x="5327650" y="0"/>
                    <a:pt x="5418582" y="90932"/>
                    <a:pt x="5418582" y="203200"/>
                  </a:cubicBezTo>
                  <a:lnTo>
                    <a:pt x="5418582" y="1489837"/>
                  </a:lnTo>
                  <a:cubicBezTo>
                    <a:pt x="5418582" y="1602105"/>
                    <a:pt x="5327650" y="1693037"/>
                    <a:pt x="5215382" y="1693037"/>
                  </a:cubicBezTo>
                  <a:lnTo>
                    <a:pt x="203200" y="1693037"/>
                  </a:lnTo>
                  <a:cubicBezTo>
                    <a:pt x="90932" y="1693037"/>
                    <a:pt x="0" y="1602105"/>
                    <a:pt x="0" y="1489837"/>
                  </a:cubicBezTo>
                  <a:close/>
                </a:path>
              </a:pathLst>
            </a:custGeom>
            <a:solidFill>
              <a:srgbClr val="22D3EE"/>
            </a:solidFill>
          </p:spPr>
          <p:txBody>
            <a:bodyPr/>
            <a:lstStyle/>
            <a:p>
              <a:endParaRPr lang="en-US"/>
            </a:p>
          </p:txBody>
        </p:sp>
      </p:grpSp>
      <p:sp>
        <p:nvSpPr>
          <p:cNvPr id="6" name="TextBox 6"/>
          <p:cNvSpPr txBox="1"/>
          <p:nvPr/>
        </p:nvSpPr>
        <p:spPr>
          <a:xfrm>
            <a:off x="7071265" y="4308281"/>
            <a:ext cx="4145175" cy="352425"/>
          </a:xfrm>
          <a:prstGeom prst="rect">
            <a:avLst/>
          </a:prstGeom>
        </p:spPr>
        <p:txBody>
          <a:bodyPr lIns="0" tIns="0" rIns="0" bIns="0" rtlCol="0" anchor="t">
            <a:spAutoFit/>
          </a:bodyPr>
          <a:lstStyle/>
          <a:p>
            <a:pPr algn="ctr">
              <a:lnSpc>
                <a:spcPts val="2879"/>
              </a:lnSpc>
            </a:pPr>
            <a:r>
              <a:rPr lang="en-US" sz="2400" b="1">
                <a:solidFill>
                  <a:srgbClr val="0A1628"/>
                </a:solidFill>
                <a:latin typeface="Arial Bold"/>
                <a:ea typeface="Arial Bold"/>
                <a:cs typeface="Arial Bold"/>
                <a:sym typeface="Arial Bold"/>
              </a:rPr>
              <a:t>MASTER</a:t>
            </a:r>
          </a:p>
        </p:txBody>
      </p:sp>
      <p:sp>
        <p:nvSpPr>
          <p:cNvPr id="7" name="TextBox 7"/>
          <p:cNvSpPr txBox="1"/>
          <p:nvPr/>
        </p:nvSpPr>
        <p:spPr>
          <a:xfrm>
            <a:off x="7071265" y="4692253"/>
            <a:ext cx="4145175" cy="552450"/>
          </a:xfrm>
          <a:prstGeom prst="rect">
            <a:avLst/>
          </a:prstGeom>
        </p:spPr>
        <p:txBody>
          <a:bodyPr lIns="0" tIns="0" rIns="0" bIns="0" rtlCol="0" anchor="t">
            <a:spAutoFit/>
          </a:bodyPr>
          <a:lstStyle/>
          <a:p>
            <a:pPr algn="ctr">
              <a:lnSpc>
                <a:spcPts val="2160"/>
              </a:lnSpc>
            </a:pPr>
            <a:r>
              <a:rPr lang="en-US" sz="1800">
                <a:solidFill>
                  <a:srgbClr val="0A1628"/>
                </a:solidFill>
                <a:latin typeface="Arial"/>
                <a:ea typeface="Arial"/>
                <a:cs typeface="Arial"/>
                <a:sym typeface="Arial"/>
              </a:rPr>
              <a:t>partition · launch · aggregate</a:t>
            </a:r>
          </a:p>
        </p:txBody>
      </p:sp>
      <p:grpSp>
        <p:nvGrpSpPr>
          <p:cNvPr id="8" name="Group 8"/>
          <p:cNvGrpSpPr/>
          <p:nvPr/>
        </p:nvGrpSpPr>
        <p:grpSpPr>
          <a:xfrm>
            <a:off x="3119819" y="5452148"/>
            <a:ext cx="612162" cy="1568558"/>
            <a:chOff x="0" y="0"/>
            <a:chExt cx="816216" cy="2091411"/>
          </a:xfrm>
        </p:grpSpPr>
        <p:sp>
          <p:nvSpPr>
            <p:cNvPr id="9" name="Freeform 9"/>
            <p:cNvSpPr/>
            <p:nvPr/>
          </p:nvSpPr>
          <p:spPr>
            <a:xfrm>
              <a:off x="0" y="0"/>
              <a:ext cx="816229" cy="2091436"/>
            </a:xfrm>
            <a:custGeom>
              <a:avLst/>
              <a:gdLst/>
              <a:ahLst/>
              <a:cxnLst/>
              <a:rect l="l" t="t" r="r" b="b"/>
              <a:pathLst>
                <a:path w="816229" h="2091436">
                  <a:moveTo>
                    <a:pt x="0" y="0"/>
                  </a:moveTo>
                  <a:lnTo>
                    <a:pt x="816229" y="0"/>
                  </a:lnTo>
                  <a:lnTo>
                    <a:pt x="816229" y="2091436"/>
                  </a:lnTo>
                  <a:lnTo>
                    <a:pt x="0" y="2091436"/>
                  </a:lnTo>
                  <a:close/>
                </a:path>
              </a:pathLst>
            </a:custGeom>
            <a:solidFill>
              <a:srgbClr val="22D3EE"/>
            </a:solidFill>
          </p:spPr>
          <p:txBody>
            <a:bodyPr/>
            <a:lstStyle/>
            <a:p>
              <a:endParaRPr lang="en-US"/>
            </a:p>
          </p:txBody>
        </p:sp>
      </p:grpSp>
      <p:grpSp>
        <p:nvGrpSpPr>
          <p:cNvPr id="10" name="Group 10"/>
          <p:cNvGrpSpPr/>
          <p:nvPr/>
        </p:nvGrpSpPr>
        <p:grpSpPr>
          <a:xfrm>
            <a:off x="6628495" y="5457282"/>
            <a:ext cx="279854" cy="1641777"/>
            <a:chOff x="0" y="0"/>
            <a:chExt cx="373139" cy="2189036"/>
          </a:xfrm>
        </p:grpSpPr>
        <p:sp>
          <p:nvSpPr>
            <p:cNvPr id="11" name="Freeform 11"/>
            <p:cNvSpPr/>
            <p:nvPr/>
          </p:nvSpPr>
          <p:spPr>
            <a:xfrm>
              <a:off x="0" y="0"/>
              <a:ext cx="373126" cy="2189099"/>
            </a:xfrm>
            <a:custGeom>
              <a:avLst/>
              <a:gdLst/>
              <a:ahLst/>
              <a:cxnLst/>
              <a:rect l="l" t="t" r="r" b="b"/>
              <a:pathLst>
                <a:path w="373126" h="2189099">
                  <a:moveTo>
                    <a:pt x="0" y="0"/>
                  </a:moveTo>
                  <a:lnTo>
                    <a:pt x="373126" y="0"/>
                  </a:lnTo>
                  <a:lnTo>
                    <a:pt x="373126" y="2189099"/>
                  </a:lnTo>
                  <a:lnTo>
                    <a:pt x="0" y="2189099"/>
                  </a:lnTo>
                  <a:close/>
                </a:path>
              </a:pathLst>
            </a:custGeom>
            <a:solidFill>
              <a:srgbClr val="22D3EE"/>
            </a:solidFill>
          </p:spPr>
          <p:txBody>
            <a:bodyPr/>
            <a:lstStyle/>
            <a:p>
              <a:endParaRPr lang="en-US"/>
            </a:p>
          </p:txBody>
        </p:sp>
      </p:grpSp>
      <p:grpSp>
        <p:nvGrpSpPr>
          <p:cNvPr id="12" name="Group 12"/>
          <p:cNvGrpSpPr/>
          <p:nvPr/>
        </p:nvGrpSpPr>
        <p:grpSpPr>
          <a:xfrm>
            <a:off x="11430248" y="5457282"/>
            <a:ext cx="279854" cy="1641777"/>
            <a:chOff x="0" y="0"/>
            <a:chExt cx="373139" cy="2189036"/>
          </a:xfrm>
        </p:grpSpPr>
        <p:sp>
          <p:nvSpPr>
            <p:cNvPr id="13" name="Freeform 13"/>
            <p:cNvSpPr/>
            <p:nvPr/>
          </p:nvSpPr>
          <p:spPr>
            <a:xfrm>
              <a:off x="0" y="0"/>
              <a:ext cx="373126" cy="2189099"/>
            </a:xfrm>
            <a:custGeom>
              <a:avLst/>
              <a:gdLst/>
              <a:ahLst/>
              <a:cxnLst/>
              <a:rect l="l" t="t" r="r" b="b"/>
              <a:pathLst>
                <a:path w="373126" h="2189099">
                  <a:moveTo>
                    <a:pt x="0" y="0"/>
                  </a:moveTo>
                  <a:lnTo>
                    <a:pt x="373126" y="0"/>
                  </a:lnTo>
                  <a:lnTo>
                    <a:pt x="373126" y="2189099"/>
                  </a:lnTo>
                  <a:lnTo>
                    <a:pt x="0" y="2189099"/>
                  </a:lnTo>
                  <a:close/>
                </a:path>
              </a:pathLst>
            </a:custGeom>
            <a:solidFill>
              <a:srgbClr val="22D3EE"/>
            </a:solidFill>
          </p:spPr>
          <p:txBody>
            <a:bodyPr/>
            <a:lstStyle/>
            <a:p>
              <a:endParaRPr lang="en-US"/>
            </a:p>
          </p:txBody>
        </p:sp>
      </p:grpSp>
      <p:grpSp>
        <p:nvGrpSpPr>
          <p:cNvPr id="14" name="Group 14"/>
          <p:cNvGrpSpPr/>
          <p:nvPr/>
        </p:nvGrpSpPr>
        <p:grpSpPr>
          <a:xfrm>
            <a:off x="14606330" y="5452148"/>
            <a:ext cx="612162" cy="1568558"/>
            <a:chOff x="0" y="0"/>
            <a:chExt cx="816216" cy="2091411"/>
          </a:xfrm>
        </p:grpSpPr>
        <p:sp>
          <p:nvSpPr>
            <p:cNvPr id="15" name="Freeform 15"/>
            <p:cNvSpPr/>
            <p:nvPr/>
          </p:nvSpPr>
          <p:spPr>
            <a:xfrm>
              <a:off x="0" y="0"/>
              <a:ext cx="816229" cy="2091436"/>
            </a:xfrm>
            <a:custGeom>
              <a:avLst/>
              <a:gdLst/>
              <a:ahLst/>
              <a:cxnLst/>
              <a:rect l="l" t="t" r="r" b="b"/>
              <a:pathLst>
                <a:path w="816229" h="2091436">
                  <a:moveTo>
                    <a:pt x="0" y="0"/>
                  </a:moveTo>
                  <a:lnTo>
                    <a:pt x="816229" y="0"/>
                  </a:lnTo>
                  <a:lnTo>
                    <a:pt x="816229" y="2091436"/>
                  </a:lnTo>
                  <a:lnTo>
                    <a:pt x="0" y="2091436"/>
                  </a:lnTo>
                  <a:close/>
                </a:path>
              </a:pathLst>
            </a:custGeom>
            <a:solidFill>
              <a:srgbClr val="22D3EE"/>
            </a:solidFill>
          </p:spPr>
          <p:txBody>
            <a:bodyPr/>
            <a:lstStyle/>
            <a:p>
              <a:endParaRPr lang="en-US"/>
            </a:p>
          </p:txBody>
        </p:sp>
      </p:grpSp>
      <p:grpSp>
        <p:nvGrpSpPr>
          <p:cNvPr id="16" name="Group 16"/>
          <p:cNvGrpSpPr/>
          <p:nvPr/>
        </p:nvGrpSpPr>
        <p:grpSpPr>
          <a:xfrm>
            <a:off x="2266950" y="7219950"/>
            <a:ext cx="2908106" cy="1892198"/>
            <a:chOff x="0" y="0"/>
            <a:chExt cx="3877475" cy="2522931"/>
          </a:xfrm>
        </p:grpSpPr>
        <p:sp>
          <p:nvSpPr>
            <p:cNvPr id="17" name="Freeform 17"/>
            <p:cNvSpPr/>
            <p:nvPr/>
          </p:nvSpPr>
          <p:spPr>
            <a:xfrm>
              <a:off x="25400" y="25400"/>
              <a:ext cx="3826764" cy="2472182"/>
            </a:xfrm>
            <a:custGeom>
              <a:avLst/>
              <a:gdLst/>
              <a:ahLst/>
              <a:cxnLst/>
              <a:rect l="l" t="t" r="r" b="b"/>
              <a:pathLst>
                <a:path w="3826764" h="2472182">
                  <a:moveTo>
                    <a:pt x="0" y="203200"/>
                  </a:moveTo>
                  <a:cubicBezTo>
                    <a:pt x="0" y="90932"/>
                    <a:pt x="91694" y="0"/>
                    <a:pt x="204724" y="0"/>
                  </a:cubicBezTo>
                  <a:lnTo>
                    <a:pt x="3622040" y="0"/>
                  </a:lnTo>
                  <a:cubicBezTo>
                    <a:pt x="3735070" y="0"/>
                    <a:pt x="3826764" y="90932"/>
                    <a:pt x="3826764" y="203200"/>
                  </a:cubicBezTo>
                  <a:lnTo>
                    <a:pt x="3826764" y="2268982"/>
                  </a:lnTo>
                  <a:cubicBezTo>
                    <a:pt x="3826764" y="2381250"/>
                    <a:pt x="3735070" y="2472182"/>
                    <a:pt x="3622040" y="2472182"/>
                  </a:cubicBezTo>
                  <a:lnTo>
                    <a:pt x="204724" y="2472182"/>
                  </a:lnTo>
                  <a:cubicBezTo>
                    <a:pt x="91694" y="2472182"/>
                    <a:pt x="0" y="2381250"/>
                    <a:pt x="0" y="2268982"/>
                  </a:cubicBezTo>
                  <a:close/>
                </a:path>
              </a:pathLst>
            </a:custGeom>
            <a:solidFill>
              <a:srgbClr val="122236"/>
            </a:solidFill>
          </p:spPr>
          <p:txBody>
            <a:bodyPr/>
            <a:lstStyle/>
            <a:p>
              <a:endParaRPr lang="en-US"/>
            </a:p>
          </p:txBody>
        </p:sp>
        <p:sp>
          <p:nvSpPr>
            <p:cNvPr id="18" name="Freeform 18"/>
            <p:cNvSpPr/>
            <p:nvPr/>
          </p:nvSpPr>
          <p:spPr>
            <a:xfrm>
              <a:off x="0" y="0"/>
              <a:ext cx="3877564" cy="2522982"/>
            </a:xfrm>
            <a:custGeom>
              <a:avLst/>
              <a:gdLst/>
              <a:ahLst/>
              <a:cxnLst/>
              <a:rect l="l" t="t" r="r" b="b"/>
              <a:pathLst>
                <a:path w="3877564" h="2522982">
                  <a:moveTo>
                    <a:pt x="0" y="228600"/>
                  </a:moveTo>
                  <a:cubicBezTo>
                    <a:pt x="0" y="102235"/>
                    <a:pt x="103124" y="0"/>
                    <a:pt x="230124" y="0"/>
                  </a:cubicBezTo>
                  <a:lnTo>
                    <a:pt x="3647440" y="0"/>
                  </a:lnTo>
                  <a:lnTo>
                    <a:pt x="3647440" y="25400"/>
                  </a:lnTo>
                  <a:lnTo>
                    <a:pt x="3647440" y="0"/>
                  </a:lnTo>
                  <a:cubicBezTo>
                    <a:pt x="3774313" y="0"/>
                    <a:pt x="3877564" y="102235"/>
                    <a:pt x="3877564" y="228600"/>
                  </a:cubicBezTo>
                  <a:lnTo>
                    <a:pt x="3852164" y="228600"/>
                  </a:lnTo>
                  <a:lnTo>
                    <a:pt x="3877564" y="228600"/>
                  </a:lnTo>
                  <a:lnTo>
                    <a:pt x="3877564" y="2294382"/>
                  </a:lnTo>
                  <a:lnTo>
                    <a:pt x="3852164" y="2294382"/>
                  </a:lnTo>
                  <a:lnTo>
                    <a:pt x="3877564" y="2294382"/>
                  </a:lnTo>
                  <a:cubicBezTo>
                    <a:pt x="3877564" y="2420747"/>
                    <a:pt x="3774440" y="2522982"/>
                    <a:pt x="3647440" y="2522982"/>
                  </a:cubicBezTo>
                  <a:lnTo>
                    <a:pt x="3647440" y="2497582"/>
                  </a:lnTo>
                  <a:lnTo>
                    <a:pt x="3647440" y="2522982"/>
                  </a:lnTo>
                  <a:lnTo>
                    <a:pt x="230124" y="2522982"/>
                  </a:lnTo>
                  <a:lnTo>
                    <a:pt x="230124" y="2497582"/>
                  </a:lnTo>
                  <a:lnTo>
                    <a:pt x="230124" y="2522982"/>
                  </a:lnTo>
                  <a:cubicBezTo>
                    <a:pt x="103251" y="2522982"/>
                    <a:pt x="0" y="2420747"/>
                    <a:pt x="0" y="2294382"/>
                  </a:cubicBezTo>
                  <a:lnTo>
                    <a:pt x="0" y="228600"/>
                  </a:lnTo>
                  <a:lnTo>
                    <a:pt x="25400" y="228600"/>
                  </a:lnTo>
                  <a:lnTo>
                    <a:pt x="0" y="228600"/>
                  </a:lnTo>
                  <a:moveTo>
                    <a:pt x="50800" y="228600"/>
                  </a:moveTo>
                  <a:lnTo>
                    <a:pt x="50800" y="2294382"/>
                  </a:lnTo>
                  <a:lnTo>
                    <a:pt x="25400" y="2294382"/>
                  </a:lnTo>
                  <a:lnTo>
                    <a:pt x="50800" y="2294382"/>
                  </a:lnTo>
                  <a:cubicBezTo>
                    <a:pt x="50800" y="2392426"/>
                    <a:pt x="130937" y="2472182"/>
                    <a:pt x="230124" y="2472182"/>
                  </a:cubicBezTo>
                  <a:lnTo>
                    <a:pt x="3647440" y="2472182"/>
                  </a:lnTo>
                  <a:cubicBezTo>
                    <a:pt x="3746627" y="2472182"/>
                    <a:pt x="3826764" y="2392426"/>
                    <a:pt x="3826764" y="2294382"/>
                  </a:cubicBezTo>
                  <a:lnTo>
                    <a:pt x="3826764" y="228600"/>
                  </a:lnTo>
                  <a:cubicBezTo>
                    <a:pt x="3826764" y="130556"/>
                    <a:pt x="3746627" y="50800"/>
                    <a:pt x="3647440" y="50800"/>
                  </a:cubicBezTo>
                  <a:lnTo>
                    <a:pt x="230124" y="50800"/>
                  </a:lnTo>
                  <a:lnTo>
                    <a:pt x="230124" y="25400"/>
                  </a:lnTo>
                  <a:lnTo>
                    <a:pt x="230124" y="50800"/>
                  </a:lnTo>
                  <a:cubicBezTo>
                    <a:pt x="130937" y="50800"/>
                    <a:pt x="50800" y="130556"/>
                    <a:pt x="50800" y="228600"/>
                  </a:cubicBezTo>
                  <a:close/>
                </a:path>
              </a:pathLst>
            </a:custGeom>
            <a:solidFill>
              <a:srgbClr val="22D3EE"/>
            </a:solidFill>
          </p:spPr>
          <p:txBody>
            <a:bodyPr/>
            <a:lstStyle/>
            <a:p>
              <a:endParaRPr lang="en-US"/>
            </a:p>
          </p:txBody>
        </p:sp>
      </p:grpSp>
      <p:grpSp>
        <p:nvGrpSpPr>
          <p:cNvPr id="19" name="Group 19"/>
          <p:cNvGrpSpPr/>
          <p:nvPr/>
        </p:nvGrpSpPr>
        <p:grpSpPr>
          <a:xfrm>
            <a:off x="5441756" y="7219950"/>
            <a:ext cx="2908106" cy="1892198"/>
            <a:chOff x="0" y="0"/>
            <a:chExt cx="3877475" cy="2522931"/>
          </a:xfrm>
        </p:grpSpPr>
        <p:sp>
          <p:nvSpPr>
            <p:cNvPr id="20" name="Freeform 20"/>
            <p:cNvSpPr/>
            <p:nvPr/>
          </p:nvSpPr>
          <p:spPr>
            <a:xfrm>
              <a:off x="25400" y="25400"/>
              <a:ext cx="3826764" cy="2472182"/>
            </a:xfrm>
            <a:custGeom>
              <a:avLst/>
              <a:gdLst/>
              <a:ahLst/>
              <a:cxnLst/>
              <a:rect l="l" t="t" r="r" b="b"/>
              <a:pathLst>
                <a:path w="3826764" h="2472182">
                  <a:moveTo>
                    <a:pt x="0" y="203200"/>
                  </a:moveTo>
                  <a:cubicBezTo>
                    <a:pt x="0" y="90932"/>
                    <a:pt x="91694" y="0"/>
                    <a:pt x="204724" y="0"/>
                  </a:cubicBezTo>
                  <a:lnTo>
                    <a:pt x="3622040" y="0"/>
                  </a:lnTo>
                  <a:cubicBezTo>
                    <a:pt x="3735070" y="0"/>
                    <a:pt x="3826764" y="90932"/>
                    <a:pt x="3826764" y="203200"/>
                  </a:cubicBezTo>
                  <a:lnTo>
                    <a:pt x="3826764" y="2268982"/>
                  </a:lnTo>
                  <a:cubicBezTo>
                    <a:pt x="3826764" y="2381250"/>
                    <a:pt x="3735070" y="2472182"/>
                    <a:pt x="3622040" y="2472182"/>
                  </a:cubicBezTo>
                  <a:lnTo>
                    <a:pt x="204724" y="2472182"/>
                  </a:lnTo>
                  <a:cubicBezTo>
                    <a:pt x="91694" y="2472182"/>
                    <a:pt x="0" y="2381250"/>
                    <a:pt x="0" y="2268982"/>
                  </a:cubicBezTo>
                  <a:close/>
                </a:path>
              </a:pathLst>
            </a:custGeom>
            <a:solidFill>
              <a:srgbClr val="122236"/>
            </a:solidFill>
          </p:spPr>
          <p:txBody>
            <a:bodyPr/>
            <a:lstStyle/>
            <a:p>
              <a:endParaRPr lang="en-US"/>
            </a:p>
          </p:txBody>
        </p:sp>
        <p:sp>
          <p:nvSpPr>
            <p:cNvPr id="21" name="Freeform 21"/>
            <p:cNvSpPr/>
            <p:nvPr/>
          </p:nvSpPr>
          <p:spPr>
            <a:xfrm>
              <a:off x="0" y="0"/>
              <a:ext cx="3877564" cy="2522982"/>
            </a:xfrm>
            <a:custGeom>
              <a:avLst/>
              <a:gdLst/>
              <a:ahLst/>
              <a:cxnLst/>
              <a:rect l="l" t="t" r="r" b="b"/>
              <a:pathLst>
                <a:path w="3877564" h="2522982">
                  <a:moveTo>
                    <a:pt x="0" y="228600"/>
                  </a:moveTo>
                  <a:cubicBezTo>
                    <a:pt x="0" y="102235"/>
                    <a:pt x="103124" y="0"/>
                    <a:pt x="230124" y="0"/>
                  </a:cubicBezTo>
                  <a:lnTo>
                    <a:pt x="3647440" y="0"/>
                  </a:lnTo>
                  <a:lnTo>
                    <a:pt x="3647440" y="25400"/>
                  </a:lnTo>
                  <a:lnTo>
                    <a:pt x="3647440" y="0"/>
                  </a:lnTo>
                  <a:cubicBezTo>
                    <a:pt x="3774313" y="0"/>
                    <a:pt x="3877564" y="102235"/>
                    <a:pt x="3877564" y="228600"/>
                  </a:cubicBezTo>
                  <a:lnTo>
                    <a:pt x="3852164" y="228600"/>
                  </a:lnTo>
                  <a:lnTo>
                    <a:pt x="3877564" y="228600"/>
                  </a:lnTo>
                  <a:lnTo>
                    <a:pt x="3877564" y="2294382"/>
                  </a:lnTo>
                  <a:lnTo>
                    <a:pt x="3852164" y="2294382"/>
                  </a:lnTo>
                  <a:lnTo>
                    <a:pt x="3877564" y="2294382"/>
                  </a:lnTo>
                  <a:cubicBezTo>
                    <a:pt x="3877564" y="2420747"/>
                    <a:pt x="3774440" y="2522982"/>
                    <a:pt x="3647440" y="2522982"/>
                  </a:cubicBezTo>
                  <a:lnTo>
                    <a:pt x="3647440" y="2497582"/>
                  </a:lnTo>
                  <a:lnTo>
                    <a:pt x="3647440" y="2522982"/>
                  </a:lnTo>
                  <a:lnTo>
                    <a:pt x="230124" y="2522982"/>
                  </a:lnTo>
                  <a:lnTo>
                    <a:pt x="230124" y="2497582"/>
                  </a:lnTo>
                  <a:lnTo>
                    <a:pt x="230124" y="2522982"/>
                  </a:lnTo>
                  <a:cubicBezTo>
                    <a:pt x="103251" y="2522982"/>
                    <a:pt x="0" y="2420747"/>
                    <a:pt x="0" y="2294382"/>
                  </a:cubicBezTo>
                  <a:lnTo>
                    <a:pt x="0" y="228600"/>
                  </a:lnTo>
                  <a:lnTo>
                    <a:pt x="25400" y="228600"/>
                  </a:lnTo>
                  <a:lnTo>
                    <a:pt x="0" y="228600"/>
                  </a:lnTo>
                  <a:moveTo>
                    <a:pt x="50800" y="228600"/>
                  </a:moveTo>
                  <a:lnTo>
                    <a:pt x="50800" y="2294382"/>
                  </a:lnTo>
                  <a:lnTo>
                    <a:pt x="25400" y="2294382"/>
                  </a:lnTo>
                  <a:lnTo>
                    <a:pt x="50800" y="2294382"/>
                  </a:lnTo>
                  <a:cubicBezTo>
                    <a:pt x="50800" y="2392426"/>
                    <a:pt x="130937" y="2472182"/>
                    <a:pt x="230124" y="2472182"/>
                  </a:cubicBezTo>
                  <a:lnTo>
                    <a:pt x="3647440" y="2472182"/>
                  </a:lnTo>
                  <a:cubicBezTo>
                    <a:pt x="3746627" y="2472182"/>
                    <a:pt x="3826764" y="2392426"/>
                    <a:pt x="3826764" y="2294382"/>
                  </a:cubicBezTo>
                  <a:lnTo>
                    <a:pt x="3826764" y="228600"/>
                  </a:lnTo>
                  <a:cubicBezTo>
                    <a:pt x="3826764" y="130556"/>
                    <a:pt x="3746627" y="50800"/>
                    <a:pt x="3647440" y="50800"/>
                  </a:cubicBezTo>
                  <a:lnTo>
                    <a:pt x="230124" y="50800"/>
                  </a:lnTo>
                  <a:lnTo>
                    <a:pt x="230124" y="25400"/>
                  </a:lnTo>
                  <a:lnTo>
                    <a:pt x="230124" y="50800"/>
                  </a:lnTo>
                  <a:cubicBezTo>
                    <a:pt x="130937" y="50800"/>
                    <a:pt x="50800" y="130556"/>
                    <a:pt x="50800" y="228600"/>
                  </a:cubicBezTo>
                  <a:close/>
                </a:path>
              </a:pathLst>
            </a:custGeom>
            <a:solidFill>
              <a:srgbClr val="22D3EE"/>
            </a:solidFill>
          </p:spPr>
          <p:txBody>
            <a:bodyPr/>
            <a:lstStyle/>
            <a:p>
              <a:endParaRPr lang="en-US"/>
            </a:p>
          </p:txBody>
        </p:sp>
      </p:grpSp>
      <p:grpSp>
        <p:nvGrpSpPr>
          <p:cNvPr id="22" name="Group 22"/>
          <p:cNvGrpSpPr/>
          <p:nvPr/>
        </p:nvGrpSpPr>
        <p:grpSpPr>
          <a:xfrm>
            <a:off x="10013756" y="7219950"/>
            <a:ext cx="2908106" cy="1892198"/>
            <a:chOff x="0" y="0"/>
            <a:chExt cx="3877475" cy="2522931"/>
          </a:xfrm>
        </p:grpSpPr>
        <p:sp>
          <p:nvSpPr>
            <p:cNvPr id="23" name="Freeform 23"/>
            <p:cNvSpPr/>
            <p:nvPr/>
          </p:nvSpPr>
          <p:spPr>
            <a:xfrm>
              <a:off x="25400" y="25400"/>
              <a:ext cx="3826764" cy="2472182"/>
            </a:xfrm>
            <a:custGeom>
              <a:avLst/>
              <a:gdLst/>
              <a:ahLst/>
              <a:cxnLst/>
              <a:rect l="l" t="t" r="r" b="b"/>
              <a:pathLst>
                <a:path w="3826764" h="2472182">
                  <a:moveTo>
                    <a:pt x="0" y="203200"/>
                  </a:moveTo>
                  <a:cubicBezTo>
                    <a:pt x="0" y="90932"/>
                    <a:pt x="91694" y="0"/>
                    <a:pt x="204724" y="0"/>
                  </a:cubicBezTo>
                  <a:lnTo>
                    <a:pt x="3622040" y="0"/>
                  </a:lnTo>
                  <a:cubicBezTo>
                    <a:pt x="3735070" y="0"/>
                    <a:pt x="3826764" y="90932"/>
                    <a:pt x="3826764" y="203200"/>
                  </a:cubicBezTo>
                  <a:lnTo>
                    <a:pt x="3826764" y="2268982"/>
                  </a:lnTo>
                  <a:cubicBezTo>
                    <a:pt x="3826764" y="2381250"/>
                    <a:pt x="3735070" y="2472182"/>
                    <a:pt x="3622040" y="2472182"/>
                  </a:cubicBezTo>
                  <a:lnTo>
                    <a:pt x="204724" y="2472182"/>
                  </a:lnTo>
                  <a:cubicBezTo>
                    <a:pt x="91694" y="2472182"/>
                    <a:pt x="0" y="2381250"/>
                    <a:pt x="0" y="2268982"/>
                  </a:cubicBezTo>
                  <a:close/>
                </a:path>
              </a:pathLst>
            </a:custGeom>
            <a:solidFill>
              <a:srgbClr val="122236"/>
            </a:solidFill>
          </p:spPr>
          <p:txBody>
            <a:bodyPr/>
            <a:lstStyle/>
            <a:p>
              <a:endParaRPr lang="en-US"/>
            </a:p>
          </p:txBody>
        </p:sp>
        <p:sp>
          <p:nvSpPr>
            <p:cNvPr id="24" name="Freeform 24"/>
            <p:cNvSpPr/>
            <p:nvPr/>
          </p:nvSpPr>
          <p:spPr>
            <a:xfrm>
              <a:off x="0" y="0"/>
              <a:ext cx="3877564" cy="2522982"/>
            </a:xfrm>
            <a:custGeom>
              <a:avLst/>
              <a:gdLst/>
              <a:ahLst/>
              <a:cxnLst/>
              <a:rect l="l" t="t" r="r" b="b"/>
              <a:pathLst>
                <a:path w="3877564" h="2522982">
                  <a:moveTo>
                    <a:pt x="0" y="228600"/>
                  </a:moveTo>
                  <a:cubicBezTo>
                    <a:pt x="0" y="102235"/>
                    <a:pt x="103124" y="0"/>
                    <a:pt x="230124" y="0"/>
                  </a:cubicBezTo>
                  <a:lnTo>
                    <a:pt x="3647440" y="0"/>
                  </a:lnTo>
                  <a:lnTo>
                    <a:pt x="3647440" y="25400"/>
                  </a:lnTo>
                  <a:lnTo>
                    <a:pt x="3647440" y="0"/>
                  </a:lnTo>
                  <a:cubicBezTo>
                    <a:pt x="3774313" y="0"/>
                    <a:pt x="3877564" y="102235"/>
                    <a:pt x="3877564" y="228600"/>
                  </a:cubicBezTo>
                  <a:lnTo>
                    <a:pt x="3852164" y="228600"/>
                  </a:lnTo>
                  <a:lnTo>
                    <a:pt x="3877564" y="228600"/>
                  </a:lnTo>
                  <a:lnTo>
                    <a:pt x="3877564" y="2294382"/>
                  </a:lnTo>
                  <a:lnTo>
                    <a:pt x="3852164" y="2294382"/>
                  </a:lnTo>
                  <a:lnTo>
                    <a:pt x="3877564" y="2294382"/>
                  </a:lnTo>
                  <a:cubicBezTo>
                    <a:pt x="3877564" y="2420747"/>
                    <a:pt x="3774440" y="2522982"/>
                    <a:pt x="3647440" y="2522982"/>
                  </a:cubicBezTo>
                  <a:lnTo>
                    <a:pt x="3647440" y="2497582"/>
                  </a:lnTo>
                  <a:lnTo>
                    <a:pt x="3647440" y="2522982"/>
                  </a:lnTo>
                  <a:lnTo>
                    <a:pt x="230124" y="2522982"/>
                  </a:lnTo>
                  <a:lnTo>
                    <a:pt x="230124" y="2497582"/>
                  </a:lnTo>
                  <a:lnTo>
                    <a:pt x="230124" y="2522982"/>
                  </a:lnTo>
                  <a:cubicBezTo>
                    <a:pt x="103251" y="2522982"/>
                    <a:pt x="0" y="2420747"/>
                    <a:pt x="0" y="2294382"/>
                  </a:cubicBezTo>
                  <a:lnTo>
                    <a:pt x="0" y="228600"/>
                  </a:lnTo>
                  <a:lnTo>
                    <a:pt x="25400" y="228600"/>
                  </a:lnTo>
                  <a:lnTo>
                    <a:pt x="0" y="228600"/>
                  </a:lnTo>
                  <a:moveTo>
                    <a:pt x="50800" y="228600"/>
                  </a:moveTo>
                  <a:lnTo>
                    <a:pt x="50800" y="2294382"/>
                  </a:lnTo>
                  <a:lnTo>
                    <a:pt x="25400" y="2294382"/>
                  </a:lnTo>
                  <a:lnTo>
                    <a:pt x="50800" y="2294382"/>
                  </a:lnTo>
                  <a:cubicBezTo>
                    <a:pt x="50800" y="2392426"/>
                    <a:pt x="130937" y="2472182"/>
                    <a:pt x="230124" y="2472182"/>
                  </a:cubicBezTo>
                  <a:lnTo>
                    <a:pt x="3647440" y="2472182"/>
                  </a:lnTo>
                  <a:cubicBezTo>
                    <a:pt x="3746627" y="2472182"/>
                    <a:pt x="3826764" y="2392426"/>
                    <a:pt x="3826764" y="2294382"/>
                  </a:cubicBezTo>
                  <a:lnTo>
                    <a:pt x="3826764" y="228600"/>
                  </a:lnTo>
                  <a:cubicBezTo>
                    <a:pt x="3826764" y="130556"/>
                    <a:pt x="3746627" y="50800"/>
                    <a:pt x="3647440" y="50800"/>
                  </a:cubicBezTo>
                  <a:lnTo>
                    <a:pt x="230124" y="50800"/>
                  </a:lnTo>
                  <a:lnTo>
                    <a:pt x="230124" y="25400"/>
                  </a:lnTo>
                  <a:lnTo>
                    <a:pt x="230124" y="50800"/>
                  </a:lnTo>
                  <a:cubicBezTo>
                    <a:pt x="130937" y="50800"/>
                    <a:pt x="50800" y="130556"/>
                    <a:pt x="50800" y="228600"/>
                  </a:cubicBezTo>
                  <a:close/>
                </a:path>
              </a:pathLst>
            </a:custGeom>
            <a:solidFill>
              <a:srgbClr val="22D3EE"/>
            </a:solidFill>
          </p:spPr>
          <p:txBody>
            <a:bodyPr/>
            <a:lstStyle/>
            <a:p>
              <a:endParaRPr lang="en-US"/>
            </a:p>
          </p:txBody>
        </p:sp>
      </p:grpSp>
      <p:grpSp>
        <p:nvGrpSpPr>
          <p:cNvPr id="25" name="Group 25"/>
          <p:cNvGrpSpPr/>
          <p:nvPr/>
        </p:nvGrpSpPr>
        <p:grpSpPr>
          <a:xfrm>
            <a:off x="13188848" y="7219950"/>
            <a:ext cx="2908106" cy="1892198"/>
            <a:chOff x="0" y="0"/>
            <a:chExt cx="3877475" cy="2522931"/>
          </a:xfrm>
        </p:grpSpPr>
        <p:sp>
          <p:nvSpPr>
            <p:cNvPr id="26" name="Freeform 26"/>
            <p:cNvSpPr/>
            <p:nvPr/>
          </p:nvSpPr>
          <p:spPr>
            <a:xfrm>
              <a:off x="25400" y="25400"/>
              <a:ext cx="3826764" cy="2472182"/>
            </a:xfrm>
            <a:custGeom>
              <a:avLst/>
              <a:gdLst/>
              <a:ahLst/>
              <a:cxnLst/>
              <a:rect l="l" t="t" r="r" b="b"/>
              <a:pathLst>
                <a:path w="3826764" h="2472182">
                  <a:moveTo>
                    <a:pt x="0" y="203200"/>
                  </a:moveTo>
                  <a:cubicBezTo>
                    <a:pt x="0" y="90932"/>
                    <a:pt x="91694" y="0"/>
                    <a:pt x="204724" y="0"/>
                  </a:cubicBezTo>
                  <a:lnTo>
                    <a:pt x="3622040" y="0"/>
                  </a:lnTo>
                  <a:cubicBezTo>
                    <a:pt x="3735070" y="0"/>
                    <a:pt x="3826764" y="90932"/>
                    <a:pt x="3826764" y="203200"/>
                  </a:cubicBezTo>
                  <a:lnTo>
                    <a:pt x="3826764" y="2268982"/>
                  </a:lnTo>
                  <a:cubicBezTo>
                    <a:pt x="3826764" y="2381250"/>
                    <a:pt x="3735070" y="2472182"/>
                    <a:pt x="3622040" y="2472182"/>
                  </a:cubicBezTo>
                  <a:lnTo>
                    <a:pt x="204724" y="2472182"/>
                  </a:lnTo>
                  <a:cubicBezTo>
                    <a:pt x="91694" y="2472182"/>
                    <a:pt x="0" y="2381250"/>
                    <a:pt x="0" y="2268982"/>
                  </a:cubicBezTo>
                  <a:close/>
                </a:path>
              </a:pathLst>
            </a:custGeom>
            <a:solidFill>
              <a:srgbClr val="122236"/>
            </a:solidFill>
          </p:spPr>
          <p:txBody>
            <a:bodyPr/>
            <a:lstStyle/>
            <a:p>
              <a:endParaRPr lang="en-US"/>
            </a:p>
          </p:txBody>
        </p:sp>
        <p:sp>
          <p:nvSpPr>
            <p:cNvPr id="27" name="Freeform 27"/>
            <p:cNvSpPr/>
            <p:nvPr/>
          </p:nvSpPr>
          <p:spPr>
            <a:xfrm>
              <a:off x="0" y="0"/>
              <a:ext cx="3877564" cy="2522982"/>
            </a:xfrm>
            <a:custGeom>
              <a:avLst/>
              <a:gdLst/>
              <a:ahLst/>
              <a:cxnLst/>
              <a:rect l="l" t="t" r="r" b="b"/>
              <a:pathLst>
                <a:path w="3877564" h="2522982">
                  <a:moveTo>
                    <a:pt x="0" y="228600"/>
                  </a:moveTo>
                  <a:cubicBezTo>
                    <a:pt x="0" y="102235"/>
                    <a:pt x="103124" y="0"/>
                    <a:pt x="230124" y="0"/>
                  </a:cubicBezTo>
                  <a:lnTo>
                    <a:pt x="3647440" y="0"/>
                  </a:lnTo>
                  <a:lnTo>
                    <a:pt x="3647440" y="25400"/>
                  </a:lnTo>
                  <a:lnTo>
                    <a:pt x="3647440" y="0"/>
                  </a:lnTo>
                  <a:cubicBezTo>
                    <a:pt x="3774313" y="0"/>
                    <a:pt x="3877564" y="102235"/>
                    <a:pt x="3877564" y="228600"/>
                  </a:cubicBezTo>
                  <a:lnTo>
                    <a:pt x="3852164" y="228600"/>
                  </a:lnTo>
                  <a:lnTo>
                    <a:pt x="3877564" y="228600"/>
                  </a:lnTo>
                  <a:lnTo>
                    <a:pt x="3877564" y="2294382"/>
                  </a:lnTo>
                  <a:lnTo>
                    <a:pt x="3852164" y="2294382"/>
                  </a:lnTo>
                  <a:lnTo>
                    <a:pt x="3877564" y="2294382"/>
                  </a:lnTo>
                  <a:cubicBezTo>
                    <a:pt x="3877564" y="2420747"/>
                    <a:pt x="3774440" y="2522982"/>
                    <a:pt x="3647440" y="2522982"/>
                  </a:cubicBezTo>
                  <a:lnTo>
                    <a:pt x="3647440" y="2497582"/>
                  </a:lnTo>
                  <a:lnTo>
                    <a:pt x="3647440" y="2522982"/>
                  </a:lnTo>
                  <a:lnTo>
                    <a:pt x="230124" y="2522982"/>
                  </a:lnTo>
                  <a:lnTo>
                    <a:pt x="230124" y="2497582"/>
                  </a:lnTo>
                  <a:lnTo>
                    <a:pt x="230124" y="2522982"/>
                  </a:lnTo>
                  <a:cubicBezTo>
                    <a:pt x="103251" y="2522982"/>
                    <a:pt x="0" y="2420747"/>
                    <a:pt x="0" y="2294382"/>
                  </a:cubicBezTo>
                  <a:lnTo>
                    <a:pt x="0" y="228600"/>
                  </a:lnTo>
                  <a:lnTo>
                    <a:pt x="25400" y="228600"/>
                  </a:lnTo>
                  <a:lnTo>
                    <a:pt x="0" y="228600"/>
                  </a:lnTo>
                  <a:moveTo>
                    <a:pt x="50800" y="228600"/>
                  </a:moveTo>
                  <a:lnTo>
                    <a:pt x="50800" y="2294382"/>
                  </a:lnTo>
                  <a:lnTo>
                    <a:pt x="25400" y="2294382"/>
                  </a:lnTo>
                  <a:lnTo>
                    <a:pt x="50800" y="2294382"/>
                  </a:lnTo>
                  <a:cubicBezTo>
                    <a:pt x="50800" y="2392426"/>
                    <a:pt x="130937" y="2472182"/>
                    <a:pt x="230124" y="2472182"/>
                  </a:cubicBezTo>
                  <a:lnTo>
                    <a:pt x="3647440" y="2472182"/>
                  </a:lnTo>
                  <a:cubicBezTo>
                    <a:pt x="3746627" y="2472182"/>
                    <a:pt x="3826764" y="2392426"/>
                    <a:pt x="3826764" y="2294382"/>
                  </a:cubicBezTo>
                  <a:lnTo>
                    <a:pt x="3826764" y="228600"/>
                  </a:lnTo>
                  <a:cubicBezTo>
                    <a:pt x="3826764" y="130556"/>
                    <a:pt x="3746627" y="50800"/>
                    <a:pt x="3647440" y="50800"/>
                  </a:cubicBezTo>
                  <a:lnTo>
                    <a:pt x="230124" y="50800"/>
                  </a:lnTo>
                  <a:lnTo>
                    <a:pt x="230124" y="25400"/>
                  </a:lnTo>
                  <a:lnTo>
                    <a:pt x="230124" y="50800"/>
                  </a:lnTo>
                  <a:cubicBezTo>
                    <a:pt x="130937" y="50800"/>
                    <a:pt x="50800" y="130556"/>
                    <a:pt x="50800" y="228600"/>
                  </a:cubicBezTo>
                  <a:close/>
                </a:path>
              </a:pathLst>
            </a:custGeom>
            <a:solidFill>
              <a:srgbClr val="22D3EE"/>
            </a:solidFill>
          </p:spPr>
          <p:txBody>
            <a:bodyPr/>
            <a:lstStyle/>
            <a:p>
              <a:endParaRPr lang="en-US"/>
            </a:p>
          </p:txBody>
        </p:sp>
      </p:grpSp>
      <p:sp>
        <p:nvSpPr>
          <p:cNvPr id="28" name="TextBox 28"/>
          <p:cNvSpPr txBox="1"/>
          <p:nvPr/>
        </p:nvSpPr>
        <p:spPr>
          <a:xfrm>
            <a:off x="2258063" y="7473848"/>
            <a:ext cx="2849680" cy="323850"/>
          </a:xfrm>
          <a:prstGeom prst="rect">
            <a:avLst/>
          </a:prstGeom>
        </p:spPr>
        <p:txBody>
          <a:bodyPr lIns="0" tIns="0" rIns="0" bIns="0" rtlCol="0" anchor="t">
            <a:spAutoFit/>
          </a:bodyPr>
          <a:lstStyle/>
          <a:p>
            <a:pPr algn="ctr">
              <a:lnSpc>
                <a:spcPts val="2640"/>
              </a:lnSpc>
            </a:pPr>
            <a:r>
              <a:rPr lang="en-US" sz="2200" b="1">
                <a:solidFill>
                  <a:srgbClr val="22D3EE"/>
                </a:solidFill>
                <a:latin typeface="Arial Bold"/>
                <a:ea typeface="Arial Bold"/>
                <a:cs typeface="Arial Bold"/>
                <a:sym typeface="Arial Bold"/>
              </a:rPr>
              <a:t>WORKER 1</a:t>
            </a:r>
          </a:p>
        </p:txBody>
      </p:sp>
      <p:sp>
        <p:nvSpPr>
          <p:cNvPr id="29" name="TextBox 29"/>
          <p:cNvSpPr txBox="1"/>
          <p:nvPr/>
        </p:nvSpPr>
        <p:spPr>
          <a:xfrm>
            <a:off x="2258063" y="7861106"/>
            <a:ext cx="2849680" cy="632222"/>
          </a:xfrm>
          <a:prstGeom prst="rect">
            <a:avLst/>
          </a:prstGeom>
        </p:spPr>
        <p:txBody>
          <a:bodyPr lIns="0" tIns="0" rIns="0" bIns="0" rtlCol="0" anchor="t">
            <a:spAutoFit/>
          </a:bodyPr>
          <a:lstStyle/>
          <a:p>
            <a:pPr algn="ctr">
              <a:lnSpc>
                <a:spcPts val="2340"/>
              </a:lnSpc>
            </a:pPr>
            <a:r>
              <a:rPr lang="en-US" sz="1800">
                <a:solidFill>
                  <a:srgbClr val="94A3B8"/>
                </a:solidFill>
                <a:latin typeface="Arial"/>
                <a:ea typeface="Arial"/>
                <a:cs typeface="Arial"/>
                <a:sym typeface="Arial"/>
              </a:rPr>
              <a:t>local quadtree</a:t>
            </a:r>
          </a:p>
          <a:p>
            <a:pPr algn="ctr">
              <a:lnSpc>
                <a:spcPts val="2340"/>
              </a:lnSpc>
            </a:pPr>
            <a:r>
              <a:rPr lang="en-US" sz="1800">
                <a:solidFill>
                  <a:srgbClr val="94A3B8"/>
                </a:solidFill>
                <a:latin typeface="Arial"/>
                <a:ea typeface="Arial"/>
                <a:cs typeface="Arial"/>
                <a:sym typeface="Arial"/>
              </a:rPr>
              <a:t>classify partition</a:t>
            </a:r>
          </a:p>
        </p:txBody>
      </p:sp>
      <p:sp>
        <p:nvSpPr>
          <p:cNvPr id="30" name="TextBox 30"/>
          <p:cNvSpPr txBox="1"/>
          <p:nvPr/>
        </p:nvSpPr>
        <p:spPr>
          <a:xfrm>
            <a:off x="5432860" y="7473848"/>
            <a:ext cx="2849680" cy="323850"/>
          </a:xfrm>
          <a:prstGeom prst="rect">
            <a:avLst/>
          </a:prstGeom>
        </p:spPr>
        <p:txBody>
          <a:bodyPr lIns="0" tIns="0" rIns="0" bIns="0" rtlCol="0" anchor="t">
            <a:spAutoFit/>
          </a:bodyPr>
          <a:lstStyle/>
          <a:p>
            <a:pPr algn="ctr">
              <a:lnSpc>
                <a:spcPts val="2640"/>
              </a:lnSpc>
            </a:pPr>
            <a:r>
              <a:rPr lang="en-US" sz="2200" b="1">
                <a:solidFill>
                  <a:srgbClr val="22D3EE"/>
                </a:solidFill>
                <a:latin typeface="Arial Bold"/>
                <a:ea typeface="Arial Bold"/>
                <a:cs typeface="Arial Bold"/>
                <a:sym typeface="Arial Bold"/>
              </a:rPr>
              <a:t>WORKER 2</a:t>
            </a:r>
          </a:p>
        </p:txBody>
      </p:sp>
      <p:sp>
        <p:nvSpPr>
          <p:cNvPr id="31" name="TextBox 31"/>
          <p:cNvSpPr txBox="1"/>
          <p:nvPr/>
        </p:nvSpPr>
        <p:spPr>
          <a:xfrm>
            <a:off x="5432860" y="7861106"/>
            <a:ext cx="2849680" cy="632222"/>
          </a:xfrm>
          <a:prstGeom prst="rect">
            <a:avLst/>
          </a:prstGeom>
        </p:spPr>
        <p:txBody>
          <a:bodyPr lIns="0" tIns="0" rIns="0" bIns="0" rtlCol="0" anchor="t">
            <a:spAutoFit/>
          </a:bodyPr>
          <a:lstStyle/>
          <a:p>
            <a:pPr algn="ctr">
              <a:lnSpc>
                <a:spcPts val="2340"/>
              </a:lnSpc>
            </a:pPr>
            <a:r>
              <a:rPr lang="en-US" sz="1800">
                <a:solidFill>
                  <a:srgbClr val="94A3B8"/>
                </a:solidFill>
                <a:latin typeface="Arial"/>
                <a:ea typeface="Arial"/>
                <a:cs typeface="Arial"/>
                <a:sym typeface="Arial"/>
              </a:rPr>
              <a:t>local quadtree</a:t>
            </a:r>
          </a:p>
          <a:p>
            <a:pPr algn="ctr">
              <a:lnSpc>
                <a:spcPts val="2340"/>
              </a:lnSpc>
            </a:pPr>
            <a:r>
              <a:rPr lang="en-US" sz="1800">
                <a:solidFill>
                  <a:srgbClr val="94A3B8"/>
                </a:solidFill>
                <a:latin typeface="Arial"/>
                <a:ea typeface="Arial"/>
                <a:cs typeface="Arial"/>
                <a:sym typeface="Arial"/>
              </a:rPr>
              <a:t>classify partition</a:t>
            </a:r>
          </a:p>
        </p:txBody>
      </p:sp>
      <p:sp>
        <p:nvSpPr>
          <p:cNvPr id="32" name="TextBox 32"/>
          <p:cNvSpPr txBox="1"/>
          <p:nvPr/>
        </p:nvSpPr>
        <p:spPr>
          <a:xfrm>
            <a:off x="10004860" y="7473848"/>
            <a:ext cx="2849680" cy="323850"/>
          </a:xfrm>
          <a:prstGeom prst="rect">
            <a:avLst/>
          </a:prstGeom>
        </p:spPr>
        <p:txBody>
          <a:bodyPr lIns="0" tIns="0" rIns="0" bIns="0" rtlCol="0" anchor="t">
            <a:spAutoFit/>
          </a:bodyPr>
          <a:lstStyle/>
          <a:p>
            <a:pPr algn="ctr">
              <a:lnSpc>
                <a:spcPts val="2640"/>
              </a:lnSpc>
            </a:pPr>
            <a:r>
              <a:rPr lang="en-US" sz="2200" b="1">
                <a:solidFill>
                  <a:srgbClr val="22D3EE"/>
                </a:solidFill>
                <a:latin typeface="Arial Bold"/>
                <a:ea typeface="Arial Bold"/>
                <a:cs typeface="Arial Bold"/>
                <a:sym typeface="Arial Bold"/>
              </a:rPr>
              <a:t>WORKER 3</a:t>
            </a:r>
          </a:p>
        </p:txBody>
      </p:sp>
      <p:sp>
        <p:nvSpPr>
          <p:cNvPr id="33" name="TextBox 33"/>
          <p:cNvSpPr txBox="1"/>
          <p:nvPr/>
        </p:nvSpPr>
        <p:spPr>
          <a:xfrm>
            <a:off x="10004860" y="7861106"/>
            <a:ext cx="2849680" cy="632222"/>
          </a:xfrm>
          <a:prstGeom prst="rect">
            <a:avLst/>
          </a:prstGeom>
        </p:spPr>
        <p:txBody>
          <a:bodyPr lIns="0" tIns="0" rIns="0" bIns="0" rtlCol="0" anchor="t">
            <a:spAutoFit/>
          </a:bodyPr>
          <a:lstStyle/>
          <a:p>
            <a:pPr algn="ctr">
              <a:lnSpc>
                <a:spcPts val="2340"/>
              </a:lnSpc>
            </a:pPr>
            <a:r>
              <a:rPr lang="en-US" sz="1800">
                <a:solidFill>
                  <a:srgbClr val="94A3B8"/>
                </a:solidFill>
                <a:latin typeface="Arial"/>
                <a:ea typeface="Arial"/>
                <a:cs typeface="Arial"/>
                <a:sym typeface="Arial"/>
              </a:rPr>
              <a:t>local quadtree</a:t>
            </a:r>
          </a:p>
          <a:p>
            <a:pPr algn="ctr">
              <a:lnSpc>
                <a:spcPts val="2340"/>
              </a:lnSpc>
            </a:pPr>
            <a:r>
              <a:rPr lang="en-US" sz="1800">
                <a:solidFill>
                  <a:srgbClr val="94A3B8"/>
                </a:solidFill>
                <a:latin typeface="Arial"/>
                <a:ea typeface="Arial"/>
                <a:cs typeface="Arial"/>
                <a:sym typeface="Arial"/>
              </a:rPr>
              <a:t>classify partition</a:t>
            </a:r>
          </a:p>
        </p:txBody>
      </p:sp>
      <p:sp>
        <p:nvSpPr>
          <p:cNvPr id="34" name="TextBox 34"/>
          <p:cNvSpPr txBox="1"/>
          <p:nvPr/>
        </p:nvSpPr>
        <p:spPr>
          <a:xfrm>
            <a:off x="13179962" y="7473848"/>
            <a:ext cx="2849680" cy="323850"/>
          </a:xfrm>
          <a:prstGeom prst="rect">
            <a:avLst/>
          </a:prstGeom>
        </p:spPr>
        <p:txBody>
          <a:bodyPr lIns="0" tIns="0" rIns="0" bIns="0" rtlCol="0" anchor="t">
            <a:spAutoFit/>
          </a:bodyPr>
          <a:lstStyle/>
          <a:p>
            <a:pPr algn="ctr">
              <a:lnSpc>
                <a:spcPts val="2640"/>
              </a:lnSpc>
            </a:pPr>
            <a:r>
              <a:rPr lang="en-US" sz="2200" b="1">
                <a:solidFill>
                  <a:srgbClr val="22D3EE"/>
                </a:solidFill>
                <a:latin typeface="Arial Bold"/>
                <a:ea typeface="Arial Bold"/>
                <a:cs typeface="Arial Bold"/>
                <a:sym typeface="Arial Bold"/>
              </a:rPr>
              <a:t>WORKER 4</a:t>
            </a:r>
          </a:p>
        </p:txBody>
      </p:sp>
      <p:sp>
        <p:nvSpPr>
          <p:cNvPr id="35" name="TextBox 35"/>
          <p:cNvSpPr txBox="1"/>
          <p:nvPr/>
        </p:nvSpPr>
        <p:spPr>
          <a:xfrm>
            <a:off x="13179962" y="7861106"/>
            <a:ext cx="2849680" cy="632222"/>
          </a:xfrm>
          <a:prstGeom prst="rect">
            <a:avLst/>
          </a:prstGeom>
        </p:spPr>
        <p:txBody>
          <a:bodyPr lIns="0" tIns="0" rIns="0" bIns="0" rtlCol="0" anchor="t">
            <a:spAutoFit/>
          </a:bodyPr>
          <a:lstStyle/>
          <a:p>
            <a:pPr algn="ctr">
              <a:lnSpc>
                <a:spcPts val="2340"/>
              </a:lnSpc>
            </a:pPr>
            <a:r>
              <a:rPr lang="en-US" sz="1800">
                <a:solidFill>
                  <a:srgbClr val="94A3B8"/>
                </a:solidFill>
                <a:latin typeface="Arial"/>
                <a:ea typeface="Arial"/>
                <a:cs typeface="Arial"/>
                <a:sym typeface="Arial"/>
              </a:rPr>
              <a:t>local quadtree</a:t>
            </a:r>
          </a:p>
          <a:p>
            <a:pPr algn="ctr">
              <a:lnSpc>
                <a:spcPts val="2340"/>
              </a:lnSpc>
            </a:pPr>
            <a:r>
              <a:rPr lang="en-US" sz="1800">
                <a:solidFill>
                  <a:srgbClr val="94A3B8"/>
                </a:solidFill>
                <a:latin typeface="Arial"/>
                <a:ea typeface="Arial"/>
                <a:cs typeface="Arial"/>
                <a:sym typeface="Arial"/>
              </a:rPr>
              <a:t>classify partition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TextBox 2"/>
          <p:cNvSpPr txBox="1"/>
          <p:nvPr/>
        </p:nvSpPr>
        <p:spPr>
          <a:xfrm>
            <a:off x="1524000" y="1260281"/>
            <a:ext cx="5018665" cy="295275"/>
          </a:xfrm>
          <a:prstGeom prst="rect">
            <a:avLst/>
          </a:prstGeom>
        </p:spPr>
        <p:txBody>
          <a:bodyPr lIns="0" tIns="0" rIns="0" bIns="0" rtlCol="0" anchor="t">
            <a:spAutoFit/>
          </a:bodyPr>
          <a:lstStyle/>
          <a:p>
            <a:pPr algn="l">
              <a:lnSpc>
                <a:spcPts val="2400"/>
              </a:lnSpc>
            </a:pPr>
            <a:r>
              <a:rPr lang="en-US" sz="2000">
                <a:solidFill>
                  <a:srgbClr val="22D3EE"/>
                </a:solidFill>
                <a:latin typeface="Arial"/>
                <a:ea typeface="Arial"/>
                <a:cs typeface="Arial"/>
                <a:sym typeface="Arial"/>
              </a:rPr>
              <a:t>CODE · MILESTONE 3</a:t>
            </a:r>
          </a:p>
        </p:txBody>
      </p:sp>
      <p:sp>
        <p:nvSpPr>
          <p:cNvPr id="3" name="TextBox 3"/>
          <p:cNvSpPr txBox="1"/>
          <p:nvPr/>
        </p:nvSpPr>
        <p:spPr>
          <a:xfrm>
            <a:off x="1524000" y="1993706"/>
            <a:ext cx="15544800" cy="857250"/>
          </a:xfrm>
          <a:prstGeom prst="rect">
            <a:avLst/>
          </a:prstGeom>
        </p:spPr>
        <p:txBody>
          <a:bodyPr lIns="0" tIns="0" rIns="0" bIns="0" rtlCol="0" anchor="t">
            <a:spAutoFit/>
          </a:bodyPr>
          <a:lstStyle/>
          <a:p>
            <a:pPr algn="l">
              <a:lnSpc>
                <a:spcPts val="6719"/>
              </a:lnSpc>
            </a:pPr>
            <a:r>
              <a:rPr lang="en-US" sz="5599">
                <a:solidFill>
                  <a:srgbClr val="F1F5F9"/>
                </a:solidFill>
                <a:latin typeface="Arial"/>
                <a:ea typeface="Arial"/>
                <a:cs typeface="Arial"/>
                <a:sym typeface="Arial"/>
              </a:rPr>
              <a:t>Spawning </a:t>
            </a:r>
            <a:r>
              <a:rPr lang="en-US" sz="5599" b="1">
                <a:solidFill>
                  <a:srgbClr val="22D3EE"/>
                </a:solidFill>
                <a:latin typeface="Arial Bold"/>
                <a:ea typeface="Arial Bold"/>
                <a:cs typeface="Arial Bold"/>
                <a:sym typeface="Arial Bold"/>
              </a:rPr>
              <a:t>worker processes</a:t>
            </a:r>
          </a:p>
        </p:txBody>
      </p:sp>
      <p:sp>
        <p:nvSpPr>
          <p:cNvPr id="4" name="TextBox 4"/>
          <p:cNvSpPr txBox="1"/>
          <p:nvPr/>
        </p:nvSpPr>
        <p:spPr>
          <a:xfrm>
            <a:off x="1524000" y="3495675"/>
            <a:ext cx="9844840" cy="276225"/>
          </a:xfrm>
          <a:prstGeom prst="rect">
            <a:avLst/>
          </a:prstGeom>
        </p:spPr>
        <p:txBody>
          <a:bodyPr lIns="0" tIns="0" rIns="0" bIns="0" rtlCol="0" anchor="t">
            <a:spAutoFit/>
          </a:bodyPr>
          <a:lstStyle/>
          <a:p>
            <a:pPr algn="l">
              <a:lnSpc>
                <a:spcPts val="2160"/>
              </a:lnSpc>
            </a:pPr>
            <a:r>
              <a:rPr lang="en-US" sz="1800">
                <a:solidFill>
                  <a:srgbClr val="94A3B8"/>
                </a:solidFill>
                <a:latin typeface="Courier New"/>
                <a:ea typeface="Courier New"/>
                <a:cs typeface="Courier New"/>
                <a:sym typeface="Courier New"/>
              </a:rPr>
              <a:t>src/benchmark_m3.cpp · </a:t>
            </a:r>
            <a:r>
              <a:rPr lang="en-US" sz="1800">
                <a:solidFill>
                  <a:srgbClr val="22D3EE"/>
                </a:solidFill>
                <a:latin typeface="Courier New"/>
                <a:ea typeface="Courier New"/>
                <a:cs typeface="Courier New"/>
                <a:sym typeface="Courier New"/>
              </a:rPr>
              <a:t>multi-process IPC path</a:t>
            </a:r>
          </a:p>
        </p:txBody>
      </p:sp>
      <p:grpSp>
        <p:nvGrpSpPr>
          <p:cNvPr id="5" name="Group 5"/>
          <p:cNvGrpSpPr/>
          <p:nvPr/>
        </p:nvGrpSpPr>
        <p:grpSpPr>
          <a:xfrm>
            <a:off x="1524000" y="4429125"/>
            <a:ext cx="9708956" cy="5517956"/>
            <a:chOff x="0" y="0"/>
            <a:chExt cx="12945275" cy="7357275"/>
          </a:xfrm>
        </p:grpSpPr>
        <p:sp>
          <p:nvSpPr>
            <p:cNvPr id="6" name="Freeform 6"/>
            <p:cNvSpPr/>
            <p:nvPr/>
          </p:nvSpPr>
          <p:spPr>
            <a:xfrm>
              <a:off x="12700" y="12700"/>
              <a:ext cx="12919838" cy="7331964"/>
            </a:xfrm>
            <a:custGeom>
              <a:avLst/>
              <a:gdLst/>
              <a:ahLst/>
              <a:cxnLst/>
              <a:rect l="l" t="t" r="r" b="b"/>
              <a:pathLst>
                <a:path w="12919838" h="7331964">
                  <a:moveTo>
                    <a:pt x="0" y="203200"/>
                  </a:moveTo>
                  <a:cubicBezTo>
                    <a:pt x="0" y="90932"/>
                    <a:pt x="91059" y="0"/>
                    <a:pt x="203454" y="0"/>
                  </a:cubicBezTo>
                  <a:lnTo>
                    <a:pt x="12716383" y="0"/>
                  </a:lnTo>
                  <a:cubicBezTo>
                    <a:pt x="12828778" y="0"/>
                    <a:pt x="12919838" y="90932"/>
                    <a:pt x="12919838" y="203200"/>
                  </a:cubicBezTo>
                  <a:lnTo>
                    <a:pt x="12919838" y="7128764"/>
                  </a:lnTo>
                  <a:cubicBezTo>
                    <a:pt x="12919838" y="7241032"/>
                    <a:pt x="12828778" y="7331964"/>
                    <a:pt x="12716383" y="7331964"/>
                  </a:cubicBezTo>
                  <a:lnTo>
                    <a:pt x="203454" y="7331964"/>
                  </a:lnTo>
                  <a:cubicBezTo>
                    <a:pt x="91059" y="7331964"/>
                    <a:pt x="0" y="7241032"/>
                    <a:pt x="0" y="7128764"/>
                  </a:cubicBezTo>
                  <a:close/>
                </a:path>
              </a:pathLst>
            </a:custGeom>
            <a:solidFill>
              <a:srgbClr val="122236"/>
            </a:solidFill>
          </p:spPr>
          <p:txBody>
            <a:bodyPr/>
            <a:lstStyle/>
            <a:p>
              <a:endParaRPr lang="en-US"/>
            </a:p>
          </p:txBody>
        </p:sp>
        <p:sp>
          <p:nvSpPr>
            <p:cNvPr id="7" name="Freeform 7"/>
            <p:cNvSpPr/>
            <p:nvPr/>
          </p:nvSpPr>
          <p:spPr>
            <a:xfrm>
              <a:off x="0" y="0"/>
              <a:ext cx="12945238" cy="7357364"/>
            </a:xfrm>
            <a:custGeom>
              <a:avLst/>
              <a:gdLst/>
              <a:ahLst/>
              <a:cxnLst/>
              <a:rect l="l" t="t" r="r" b="b"/>
              <a:pathLst>
                <a:path w="12945238" h="7357364">
                  <a:moveTo>
                    <a:pt x="0" y="215900"/>
                  </a:moveTo>
                  <a:cubicBezTo>
                    <a:pt x="0" y="96647"/>
                    <a:pt x="96774" y="0"/>
                    <a:pt x="216154" y="0"/>
                  </a:cubicBezTo>
                  <a:lnTo>
                    <a:pt x="12729083" y="0"/>
                  </a:lnTo>
                  <a:lnTo>
                    <a:pt x="12729083" y="12700"/>
                  </a:lnTo>
                  <a:lnTo>
                    <a:pt x="12729083" y="0"/>
                  </a:lnTo>
                  <a:cubicBezTo>
                    <a:pt x="12848463" y="0"/>
                    <a:pt x="12945238" y="96647"/>
                    <a:pt x="12945238" y="215900"/>
                  </a:cubicBezTo>
                  <a:lnTo>
                    <a:pt x="12932538" y="215900"/>
                  </a:lnTo>
                  <a:lnTo>
                    <a:pt x="12945238" y="215900"/>
                  </a:lnTo>
                  <a:lnTo>
                    <a:pt x="12945238" y="7141464"/>
                  </a:lnTo>
                  <a:lnTo>
                    <a:pt x="12932538" y="7141464"/>
                  </a:lnTo>
                  <a:lnTo>
                    <a:pt x="12945238" y="7141464"/>
                  </a:lnTo>
                  <a:cubicBezTo>
                    <a:pt x="12945238" y="7260717"/>
                    <a:pt x="12848463" y="7357364"/>
                    <a:pt x="12729083" y="7357364"/>
                  </a:cubicBezTo>
                  <a:lnTo>
                    <a:pt x="12729083" y="7344664"/>
                  </a:lnTo>
                  <a:lnTo>
                    <a:pt x="12729083" y="7357364"/>
                  </a:lnTo>
                  <a:lnTo>
                    <a:pt x="216154" y="7357364"/>
                  </a:lnTo>
                  <a:lnTo>
                    <a:pt x="216154" y="7344664"/>
                  </a:lnTo>
                  <a:lnTo>
                    <a:pt x="216154" y="7357364"/>
                  </a:lnTo>
                  <a:cubicBezTo>
                    <a:pt x="96774" y="7357364"/>
                    <a:pt x="0" y="7260717"/>
                    <a:pt x="0" y="7141464"/>
                  </a:cubicBezTo>
                  <a:lnTo>
                    <a:pt x="0" y="215900"/>
                  </a:lnTo>
                  <a:lnTo>
                    <a:pt x="12700" y="215900"/>
                  </a:lnTo>
                  <a:lnTo>
                    <a:pt x="0" y="215900"/>
                  </a:lnTo>
                  <a:moveTo>
                    <a:pt x="25400" y="215900"/>
                  </a:moveTo>
                  <a:lnTo>
                    <a:pt x="25400" y="7141464"/>
                  </a:lnTo>
                  <a:lnTo>
                    <a:pt x="12700" y="7141464"/>
                  </a:lnTo>
                  <a:lnTo>
                    <a:pt x="25400" y="7141464"/>
                  </a:lnTo>
                  <a:cubicBezTo>
                    <a:pt x="25400" y="7246620"/>
                    <a:pt x="110744" y="7331964"/>
                    <a:pt x="216154" y="7331964"/>
                  </a:cubicBezTo>
                  <a:lnTo>
                    <a:pt x="12729083" y="7331964"/>
                  </a:lnTo>
                  <a:cubicBezTo>
                    <a:pt x="12834493" y="7331964"/>
                    <a:pt x="12919838" y="7246620"/>
                    <a:pt x="12919838" y="7141464"/>
                  </a:cubicBezTo>
                  <a:lnTo>
                    <a:pt x="12919838" y="215900"/>
                  </a:lnTo>
                  <a:cubicBezTo>
                    <a:pt x="12919838" y="110744"/>
                    <a:pt x="12834493" y="25400"/>
                    <a:pt x="12729083" y="25400"/>
                  </a:cubicBezTo>
                  <a:lnTo>
                    <a:pt x="216154" y="25400"/>
                  </a:lnTo>
                  <a:lnTo>
                    <a:pt x="216154" y="12700"/>
                  </a:lnTo>
                  <a:lnTo>
                    <a:pt x="216154" y="25400"/>
                  </a:lnTo>
                  <a:cubicBezTo>
                    <a:pt x="110744" y="25400"/>
                    <a:pt x="25400" y="110744"/>
                    <a:pt x="25400" y="215900"/>
                  </a:cubicBezTo>
                  <a:close/>
                </a:path>
              </a:pathLst>
            </a:custGeom>
            <a:solidFill>
              <a:srgbClr val="1E3A5F"/>
            </a:solidFill>
          </p:spPr>
          <p:txBody>
            <a:bodyPr/>
            <a:lstStyle/>
            <a:p>
              <a:endParaRPr lang="en-US"/>
            </a:p>
          </p:txBody>
        </p:sp>
      </p:grpSp>
      <p:sp>
        <p:nvSpPr>
          <p:cNvPr id="8" name="TextBox 8"/>
          <p:cNvSpPr txBox="1"/>
          <p:nvPr/>
        </p:nvSpPr>
        <p:spPr>
          <a:xfrm>
            <a:off x="1879225" y="4525861"/>
            <a:ext cx="8627006" cy="334072"/>
          </a:xfrm>
          <a:prstGeom prst="rect">
            <a:avLst/>
          </a:prstGeom>
        </p:spPr>
        <p:txBody>
          <a:bodyPr lIns="0" tIns="0" rIns="0" bIns="0" rtlCol="0" anchor="t">
            <a:spAutoFit/>
          </a:bodyPr>
          <a:lstStyle/>
          <a:p>
            <a:pPr algn="l">
              <a:lnSpc>
                <a:spcPts val="2330"/>
              </a:lnSpc>
            </a:pPr>
            <a:r>
              <a:rPr lang="en-US" sz="1664" i="1">
                <a:solidFill>
                  <a:srgbClr val="94A3B8"/>
                </a:solidFill>
                <a:latin typeface="Courier New Italics"/>
                <a:ea typeface="Courier New Italics"/>
                <a:cs typeface="Courier New Italics"/>
                <a:sym typeface="Courier New Italics"/>
              </a:rPr>
              <a:t>// 1. Build worker command line</a:t>
            </a:r>
          </a:p>
        </p:txBody>
      </p:sp>
      <p:sp>
        <p:nvSpPr>
          <p:cNvPr id="9" name="TextBox 9"/>
          <p:cNvSpPr txBox="1"/>
          <p:nvPr/>
        </p:nvSpPr>
        <p:spPr>
          <a:xfrm>
            <a:off x="1879225" y="4821833"/>
            <a:ext cx="8627006" cy="334072"/>
          </a:xfrm>
          <a:prstGeom prst="rect">
            <a:avLst/>
          </a:prstGeom>
        </p:spPr>
        <p:txBody>
          <a:bodyPr lIns="0" tIns="0" rIns="0" bIns="0" rtlCol="0" anchor="t">
            <a:spAutoFit/>
          </a:bodyPr>
          <a:lstStyle/>
          <a:p>
            <a:pPr algn="l">
              <a:lnSpc>
                <a:spcPts val="2330"/>
              </a:lnSpc>
            </a:pPr>
            <a:r>
              <a:rPr lang="en-US" sz="1664">
                <a:solidFill>
                  <a:srgbClr val="F1F5F9"/>
                </a:solidFill>
                <a:latin typeface="Courier New"/>
                <a:ea typeface="Courier New"/>
                <a:cs typeface="Courier New"/>
                <a:sym typeface="Courier New"/>
              </a:rPr>
              <a:t>std::string cmd = worker_exe + </a:t>
            </a:r>
            <a:r>
              <a:rPr lang="en-US" sz="1664">
                <a:solidFill>
                  <a:srgbClr val="06B6D4"/>
                </a:solidFill>
                <a:latin typeface="Courier New"/>
                <a:ea typeface="Courier New"/>
                <a:cs typeface="Courier New"/>
                <a:sym typeface="Courier New"/>
              </a:rPr>
              <a:t>" "</a:t>
            </a:r>
            <a:r>
              <a:rPr lang="en-US" sz="1664">
                <a:solidFill>
                  <a:srgbClr val="F1F5F9"/>
                </a:solidFill>
                <a:latin typeface="Courier New"/>
                <a:ea typeface="Courier New"/>
                <a:cs typeface="Courier New"/>
                <a:sym typeface="Courier New"/>
              </a:rPr>
              <a:t> +</a:t>
            </a:r>
          </a:p>
        </p:txBody>
      </p:sp>
      <p:sp>
        <p:nvSpPr>
          <p:cNvPr id="10" name="TextBox 10"/>
          <p:cNvSpPr txBox="1"/>
          <p:nvPr/>
        </p:nvSpPr>
        <p:spPr>
          <a:xfrm>
            <a:off x="1879225" y="5117805"/>
            <a:ext cx="8627006" cy="334072"/>
          </a:xfrm>
          <a:prstGeom prst="rect">
            <a:avLst/>
          </a:prstGeom>
        </p:spPr>
        <p:txBody>
          <a:bodyPr lIns="0" tIns="0" rIns="0" bIns="0" rtlCol="0" anchor="t">
            <a:spAutoFit/>
          </a:bodyPr>
          <a:lstStyle/>
          <a:p>
            <a:pPr algn="l">
              <a:lnSpc>
                <a:spcPts val="2330"/>
              </a:lnSpc>
            </a:pPr>
            <a:r>
              <a:rPr lang="en-US" sz="1664">
                <a:solidFill>
                  <a:srgbClr val="F1F5F9"/>
                </a:solidFill>
                <a:latin typeface="Courier New"/>
                <a:ea typeface="Courier New"/>
                <a:cs typeface="Courier New"/>
                <a:sym typeface="Courier New"/>
              </a:rPr>
              <a:t>input_paths[w] + </a:t>
            </a:r>
            <a:r>
              <a:rPr lang="en-US" sz="1664">
                <a:solidFill>
                  <a:srgbClr val="06B6D4"/>
                </a:solidFill>
                <a:latin typeface="Courier New"/>
                <a:ea typeface="Courier New"/>
                <a:cs typeface="Courier New"/>
                <a:sym typeface="Courier New"/>
              </a:rPr>
              <a:t>" "</a:t>
            </a:r>
            <a:r>
              <a:rPr lang="en-US" sz="1664">
                <a:solidFill>
                  <a:srgbClr val="F1F5F9"/>
                </a:solidFill>
                <a:latin typeface="Courier New"/>
                <a:ea typeface="Courier New"/>
                <a:cs typeface="Courier New"/>
                <a:sym typeface="Courier New"/>
              </a:rPr>
              <a:t> +</a:t>
            </a:r>
          </a:p>
        </p:txBody>
      </p:sp>
      <p:sp>
        <p:nvSpPr>
          <p:cNvPr id="11" name="TextBox 11"/>
          <p:cNvSpPr txBox="1"/>
          <p:nvPr/>
        </p:nvSpPr>
        <p:spPr>
          <a:xfrm>
            <a:off x="1879225" y="5413768"/>
            <a:ext cx="8627006" cy="334072"/>
          </a:xfrm>
          <a:prstGeom prst="rect">
            <a:avLst/>
          </a:prstGeom>
        </p:spPr>
        <p:txBody>
          <a:bodyPr lIns="0" tIns="0" rIns="0" bIns="0" rtlCol="0" anchor="t">
            <a:spAutoFit/>
          </a:bodyPr>
          <a:lstStyle/>
          <a:p>
            <a:pPr algn="l">
              <a:lnSpc>
                <a:spcPts val="2330"/>
              </a:lnSpc>
            </a:pPr>
            <a:r>
              <a:rPr lang="en-US" sz="1664">
                <a:solidFill>
                  <a:srgbClr val="F1F5F9"/>
                </a:solidFill>
                <a:latin typeface="Courier New"/>
                <a:ea typeface="Courier New"/>
                <a:cs typeface="Courier New"/>
                <a:sym typeface="Courier New"/>
              </a:rPr>
              <a:t>polygon_path + </a:t>
            </a:r>
            <a:r>
              <a:rPr lang="en-US" sz="1664">
                <a:solidFill>
                  <a:srgbClr val="06B6D4"/>
                </a:solidFill>
                <a:latin typeface="Courier New"/>
                <a:ea typeface="Courier New"/>
                <a:cs typeface="Courier New"/>
                <a:sym typeface="Courier New"/>
              </a:rPr>
              <a:t>" "</a:t>
            </a:r>
            <a:r>
              <a:rPr lang="en-US" sz="1664">
                <a:solidFill>
                  <a:srgbClr val="F1F5F9"/>
                </a:solidFill>
                <a:latin typeface="Courier New"/>
                <a:ea typeface="Courier New"/>
                <a:cs typeface="Courier New"/>
                <a:sym typeface="Courier New"/>
              </a:rPr>
              <a:t> +</a:t>
            </a:r>
          </a:p>
        </p:txBody>
      </p:sp>
      <p:sp>
        <p:nvSpPr>
          <p:cNvPr id="12" name="TextBox 12"/>
          <p:cNvSpPr txBox="1"/>
          <p:nvPr/>
        </p:nvSpPr>
        <p:spPr>
          <a:xfrm>
            <a:off x="1879225" y="5709739"/>
            <a:ext cx="8627006" cy="334072"/>
          </a:xfrm>
          <a:prstGeom prst="rect">
            <a:avLst/>
          </a:prstGeom>
        </p:spPr>
        <p:txBody>
          <a:bodyPr lIns="0" tIns="0" rIns="0" bIns="0" rtlCol="0" anchor="t">
            <a:spAutoFit/>
          </a:bodyPr>
          <a:lstStyle/>
          <a:p>
            <a:pPr algn="l">
              <a:lnSpc>
                <a:spcPts val="2330"/>
              </a:lnSpc>
            </a:pPr>
            <a:r>
              <a:rPr lang="en-US" sz="1664">
                <a:solidFill>
                  <a:srgbClr val="F1F5F9"/>
                </a:solidFill>
                <a:latin typeface="Courier New"/>
                <a:ea typeface="Courier New"/>
                <a:cs typeface="Courier New"/>
                <a:sym typeface="Courier New"/>
              </a:rPr>
              <a:t>result_paths[w];</a:t>
            </a:r>
          </a:p>
        </p:txBody>
      </p:sp>
      <p:sp>
        <p:nvSpPr>
          <p:cNvPr id="13" name="TextBox 13"/>
          <p:cNvSpPr txBox="1"/>
          <p:nvPr/>
        </p:nvSpPr>
        <p:spPr>
          <a:xfrm>
            <a:off x="1879225" y="6301683"/>
            <a:ext cx="8627006" cy="334072"/>
          </a:xfrm>
          <a:prstGeom prst="rect">
            <a:avLst/>
          </a:prstGeom>
        </p:spPr>
        <p:txBody>
          <a:bodyPr lIns="0" tIns="0" rIns="0" bIns="0" rtlCol="0" anchor="t">
            <a:spAutoFit/>
          </a:bodyPr>
          <a:lstStyle/>
          <a:p>
            <a:pPr algn="l">
              <a:lnSpc>
                <a:spcPts val="2330"/>
              </a:lnSpc>
            </a:pPr>
            <a:r>
              <a:rPr lang="en-US" sz="1664" i="1">
                <a:solidFill>
                  <a:srgbClr val="94A3B8"/>
                </a:solidFill>
                <a:latin typeface="Courier New Italics"/>
                <a:ea typeface="Courier New Italics"/>
                <a:cs typeface="Courier New Italics"/>
                <a:sym typeface="Courier New Italics"/>
              </a:rPr>
              <a:t>// 2. Launch worker as a real OS process</a:t>
            </a:r>
          </a:p>
        </p:txBody>
      </p:sp>
      <p:sp>
        <p:nvSpPr>
          <p:cNvPr id="14" name="TextBox 14"/>
          <p:cNvSpPr txBox="1"/>
          <p:nvPr/>
        </p:nvSpPr>
        <p:spPr>
          <a:xfrm>
            <a:off x="1879225" y="6597646"/>
            <a:ext cx="8627006" cy="334072"/>
          </a:xfrm>
          <a:prstGeom prst="rect">
            <a:avLst/>
          </a:prstGeom>
        </p:spPr>
        <p:txBody>
          <a:bodyPr lIns="0" tIns="0" rIns="0" bIns="0" rtlCol="0" anchor="t">
            <a:spAutoFit/>
          </a:bodyPr>
          <a:lstStyle/>
          <a:p>
            <a:pPr algn="l">
              <a:lnSpc>
                <a:spcPts val="2330"/>
              </a:lnSpc>
            </a:pPr>
            <a:r>
              <a:rPr lang="en-US" sz="1664">
                <a:solidFill>
                  <a:srgbClr val="F1F5F9"/>
                </a:solidFill>
                <a:latin typeface="Courier New"/>
                <a:ea typeface="Courier New"/>
                <a:cs typeface="Courier New"/>
                <a:sym typeface="Courier New"/>
              </a:rPr>
              <a:t>BOOL ok = </a:t>
            </a:r>
            <a:r>
              <a:rPr lang="en-US" sz="1664">
                <a:solidFill>
                  <a:srgbClr val="FBBF24"/>
                </a:solidFill>
                <a:latin typeface="Courier New"/>
                <a:ea typeface="Courier New"/>
                <a:cs typeface="Courier New"/>
                <a:sym typeface="Courier New"/>
              </a:rPr>
              <a:t>CreateProcessA</a:t>
            </a:r>
            <a:r>
              <a:rPr lang="en-US" sz="1664">
                <a:solidFill>
                  <a:srgbClr val="F1F5F9"/>
                </a:solidFill>
                <a:latin typeface="Courier New"/>
                <a:ea typeface="Courier New"/>
                <a:cs typeface="Courier New"/>
                <a:sym typeface="Courier New"/>
              </a:rPr>
              <a:t>(</a:t>
            </a:r>
          </a:p>
        </p:txBody>
      </p:sp>
      <p:sp>
        <p:nvSpPr>
          <p:cNvPr id="15" name="TextBox 15"/>
          <p:cNvSpPr txBox="1"/>
          <p:nvPr/>
        </p:nvSpPr>
        <p:spPr>
          <a:xfrm>
            <a:off x="1879225" y="6893618"/>
            <a:ext cx="8627006" cy="334072"/>
          </a:xfrm>
          <a:prstGeom prst="rect">
            <a:avLst/>
          </a:prstGeom>
        </p:spPr>
        <p:txBody>
          <a:bodyPr lIns="0" tIns="0" rIns="0" bIns="0" rtlCol="0" anchor="t">
            <a:spAutoFit/>
          </a:bodyPr>
          <a:lstStyle/>
          <a:p>
            <a:pPr algn="l">
              <a:lnSpc>
                <a:spcPts val="2330"/>
              </a:lnSpc>
            </a:pPr>
            <a:r>
              <a:rPr lang="en-US" sz="1664" b="1">
                <a:solidFill>
                  <a:srgbClr val="22D3EE"/>
                </a:solidFill>
                <a:latin typeface="Courier New Bold"/>
                <a:ea typeface="Courier New Bold"/>
                <a:cs typeface="Courier New Bold"/>
                <a:sym typeface="Courier New Bold"/>
              </a:rPr>
              <a:t>nullptr</a:t>
            </a:r>
            <a:r>
              <a:rPr lang="en-US" sz="1664">
                <a:solidFill>
                  <a:srgbClr val="F1F5F9"/>
                </a:solidFill>
                <a:latin typeface="Courier New"/>
                <a:ea typeface="Courier New"/>
                <a:cs typeface="Courier New"/>
                <a:sym typeface="Courier New"/>
              </a:rPr>
              <a:t>, mutable_command.data(),</a:t>
            </a:r>
          </a:p>
        </p:txBody>
      </p:sp>
      <p:sp>
        <p:nvSpPr>
          <p:cNvPr id="16" name="TextBox 16"/>
          <p:cNvSpPr txBox="1"/>
          <p:nvPr/>
        </p:nvSpPr>
        <p:spPr>
          <a:xfrm>
            <a:off x="1879225" y="7189590"/>
            <a:ext cx="8627006" cy="334072"/>
          </a:xfrm>
          <a:prstGeom prst="rect">
            <a:avLst/>
          </a:prstGeom>
        </p:spPr>
        <p:txBody>
          <a:bodyPr lIns="0" tIns="0" rIns="0" bIns="0" rtlCol="0" anchor="t">
            <a:spAutoFit/>
          </a:bodyPr>
          <a:lstStyle/>
          <a:p>
            <a:pPr algn="l">
              <a:lnSpc>
                <a:spcPts val="2330"/>
              </a:lnSpc>
            </a:pPr>
            <a:r>
              <a:rPr lang="en-US" sz="1664" b="1">
                <a:solidFill>
                  <a:srgbClr val="22D3EE"/>
                </a:solidFill>
                <a:latin typeface="Courier New Bold"/>
                <a:ea typeface="Courier New Bold"/>
                <a:cs typeface="Courier New Bold"/>
                <a:sym typeface="Courier New Bold"/>
              </a:rPr>
              <a:t>nullptr</a:t>
            </a:r>
            <a:r>
              <a:rPr lang="en-US" sz="1664">
                <a:solidFill>
                  <a:srgbClr val="F1F5F9"/>
                </a:solidFill>
                <a:latin typeface="Courier New"/>
                <a:ea typeface="Courier New"/>
                <a:cs typeface="Courier New"/>
                <a:sym typeface="Courier New"/>
              </a:rPr>
              <a:t>, </a:t>
            </a:r>
            <a:r>
              <a:rPr lang="en-US" sz="1664" b="1">
                <a:solidFill>
                  <a:srgbClr val="22D3EE"/>
                </a:solidFill>
                <a:latin typeface="Courier New Bold"/>
                <a:ea typeface="Courier New Bold"/>
                <a:cs typeface="Courier New Bold"/>
                <a:sym typeface="Courier New Bold"/>
              </a:rPr>
              <a:t>nullptr</a:t>
            </a:r>
            <a:r>
              <a:rPr lang="en-US" sz="1664">
                <a:solidFill>
                  <a:srgbClr val="F1F5F9"/>
                </a:solidFill>
                <a:latin typeface="Courier New"/>
                <a:ea typeface="Courier New"/>
                <a:cs typeface="Courier New"/>
                <a:sym typeface="Courier New"/>
              </a:rPr>
              <a:t>, FALSE, 0,</a:t>
            </a:r>
          </a:p>
        </p:txBody>
      </p:sp>
      <p:sp>
        <p:nvSpPr>
          <p:cNvPr id="17" name="TextBox 17"/>
          <p:cNvSpPr txBox="1"/>
          <p:nvPr/>
        </p:nvSpPr>
        <p:spPr>
          <a:xfrm>
            <a:off x="1879225" y="7485562"/>
            <a:ext cx="8627006" cy="334072"/>
          </a:xfrm>
          <a:prstGeom prst="rect">
            <a:avLst/>
          </a:prstGeom>
        </p:spPr>
        <p:txBody>
          <a:bodyPr lIns="0" tIns="0" rIns="0" bIns="0" rtlCol="0" anchor="t">
            <a:spAutoFit/>
          </a:bodyPr>
          <a:lstStyle/>
          <a:p>
            <a:pPr algn="l">
              <a:lnSpc>
                <a:spcPts val="2330"/>
              </a:lnSpc>
            </a:pPr>
            <a:r>
              <a:rPr lang="en-US" sz="1664" b="1">
                <a:solidFill>
                  <a:srgbClr val="22D3EE"/>
                </a:solidFill>
                <a:latin typeface="Courier New Bold"/>
                <a:ea typeface="Courier New Bold"/>
                <a:cs typeface="Courier New Bold"/>
                <a:sym typeface="Courier New Bold"/>
              </a:rPr>
              <a:t>nullptr</a:t>
            </a:r>
            <a:r>
              <a:rPr lang="en-US" sz="1664">
                <a:solidFill>
                  <a:srgbClr val="F1F5F9"/>
                </a:solidFill>
                <a:latin typeface="Courier New"/>
                <a:ea typeface="Courier New"/>
                <a:cs typeface="Courier New"/>
                <a:sym typeface="Courier New"/>
              </a:rPr>
              <a:t>, </a:t>
            </a:r>
            <a:r>
              <a:rPr lang="en-US" sz="1664" b="1">
                <a:solidFill>
                  <a:srgbClr val="22D3EE"/>
                </a:solidFill>
                <a:latin typeface="Courier New Bold"/>
                <a:ea typeface="Courier New Bold"/>
                <a:cs typeface="Courier New Bold"/>
                <a:sym typeface="Courier New Bold"/>
              </a:rPr>
              <a:t>nullptr</a:t>
            </a:r>
            <a:r>
              <a:rPr lang="en-US" sz="1664">
                <a:solidFill>
                  <a:srgbClr val="F1F5F9"/>
                </a:solidFill>
                <a:latin typeface="Courier New"/>
                <a:ea typeface="Courier New"/>
                <a:cs typeface="Courier New"/>
                <a:sym typeface="Courier New"/>
              </a:rPr>
              <a:t>,</a:t>
            </a:r>
          </a:p>
        </p:txBody>
      </p:sp>
      <p:sp>
        <p:nvSpPr>
          <p:cNvPr id="18" name="TextBox 18"/>
          <p:cNvSpPr txBox="1"/>
          <p:nvPr/>
        </p:nvSpPr>
        <p:spPr>
          <a:xfrm>
            <a:off x="1879225" y="7781534"/>
            <a:ext cx="8627006" cy="334072"/>
          </a:xfrm>
          <a:prstGeom prst="rect">
            <a:avLst/>
          </a:prstGeom>
        </p:spPr>
        <p:txBody>
          <a:bodyPr lIns="0" tIns="0" rIns="0" bIns="0" rtlCol="0" anchor="t">
            <a:spAutoFit/>
          </a:bodyPr>
          <a:lstStyle/>
          <a:p>
            <a:pPr algn="l">
              <a:lnSpc>
                <a:spcPts val="2330"/>
              </a:lnSpc>
            </a:pPr>
            <a:r>
              <a:rPr lang="en-US" sz="1664">
                <a:solidFill>
                  <a:srgbClr val="F1F5F9"/>
                </a:solidFill>
                <a:latin typeface="Courier New"/>
                <a:ea typeface="Courier New"/>
                <a:cs typeface="Courier New"/>
                <a:sym typeface="Courier New"/>
              </a:rPr>
              <a:t>&amp;startup_info, &amp;process_info);</a:t>
            </a:r>
          </a:p>
        </p:txBody>
      </p:sp>
      <p:sp>
        <p:nvSpPr>
          <p:cNvPr id="19" name="TextBox 19"/>
          <p:cNvSpPr txBox="1"/>
          <p:nvPr/>
        </p:nvSpPr>
        <p:spPr>
          <a:xfrm>
            <a:off x="1879225" y="8373468"/>
            <a:ext cx="8627006" cy="334072"/>
          </a:xfrm>
          <a:prstGeom prst="rect">
            <a:avLst/>
          </a:prstGeom>
        </p:spPr>
        <p:txBody>
          <a:bodyPr lIns="0" tIns="0" rIns="0" bIns="0" rtlCol="0" anchor="t">
            <a:spAutoFit/>
          </a:bodyPr>
          <a:lstStyle/>
          <a:p>
            <a:pPr algn="l">
              <a:lnSpc>
                <a:spcPts val="2330"/>
              </a:lnSpc>
            </a:pPr>
            <a:r>
              <a:rPr lang="en-US" sz="1664">
                <a:solidFill>
                  <a:srgbClr val="F1F5F9"/>
                </a:solidFill>
                <a:latin typeface="Courier New"/>
                <a:ea typeface="Courier New"/>
                <a:cs typeface="Courier New"/>
                <a:sym typeface="Courier New"/>
              </a:rPr>
              <a:t>handles.push_back(process_info.hProcess);</a:t>
            </a:r>
          </a:p>
        </p:txBody>
      </p:sp>
      <p:sp>
        <p:nvSpPr>
          <p:cNvPr id="20" name="TextBox 20"/>
          <p:cNvSpPr txBox="1"/>
          <p:nvPr/>
        </p:nvSpPr>
        <p:spPr>
          <a:xfrm>
            <a:off x="1879225" y="8965412"/>
            <a:ext cx="8627006" cy="334072"/>
          </a:xfrm>
          <a:prstGeom prst="rect">
            <a:avLst/>
          </a:prstGeom>
        </p:spPr>
        <p:txBody>
          <a:bodyPr lIns="0" tIns="0" rIns="0" bIns="0" rtlCol="0" anchor="t">
            <a:spAutoFit/>
          </a:bodyPr>
          <a:lstStyle/>
          <a:p>
            <a:pPr algn="l">
              <a:lnSpc>
                <a:spcPts val="2330"/>
              </a:lnSpc>
            </a:pPr>
            <a:r>
              <a:rPr lang="en-US" sz="1664" i="1">
                <a:solidFill>
                  <a:srgbClr val="94A3B8"/>
                </a:solidFill>
                <a:latin typeface="Courier New Italics"/>
                <a:ea typeface="Courier New Italics"/>
                <a:cs typeface="Courier New Italics"/>
                <a:sym typeface="Courier New Italics"/>
              </a:rPr>
              <a:t>// 3. Wait for ALL workers to finish</a:t>
            </a:r>
          </a:p>
        </p:txBody>
      </p:sp>
      <p:sp>
        <p:nvSpPr>
          <p:cNvPr id="21" name="TextBox 21"/>
          <p:cNvSpPr txBox="1"/>
          <p:nvPr/>
        </p:nvSpPr>
        <p:spPr>
          <a:xfrm>
            <a:off x="1879225" y="9261375"/>
            <a:ext cx="8627006" cy="334072"/>
          </a:xfrm>
          <a:prstGeom prst="rect">
            <a:avLst/>
          </a:prstGeom>
        </p:spPr>
        <p:txBody>
          <a:bodyPr lIns="0" tIns="0" rIns="0" bIns="0" rtlCol="0" anchor="t">
            <a:spAutoFit/>
          </a:bodyPr>
          <a:lstStyle/>
          <a:p>
            <a:pPr algn="l">
              <a:lnSpc>
                <a:spcPts val="2330"/>
              </a:lnSpc>
            </a:pPr>
            <a:r>
              <a:rPr lang="en-US" sz="1664">
                <a:solidFill>
                  <a:srgbClr val="FBBF24"/>
                </a:solidFill>
                <a:latin typeface="Courier New"/>
                <a:ea typeface="Courier New"/>
                <a:cs typeface="Courier New"/>
                <a:sym typeface="Courier New"/>
              </a:rPr>
              <a:t>WaitForMultipleObjects</a:t>
            </a:r>
            <a:r>
              <a:rPr lang="en-US" sz="1664">
                <a:solidFill>
                  <a:srgbClr val="F1F5F9"/>
                </a:solidFill>
                <a:latin typeface="Courier New"/>
                <a:ea typeface="Courier New"/>
                <a:cs typeface="Courier New"/>
                <a:sym typeface="Courier New"/>
              </a:rPr>
              <a:t>(handles.size(),</a:t>
            </a:r>
          </a:p>
        </p:txBody>
      </p:sp>
      <p:sp>
        <p:nvSpPr>
          <p:cNvPr id="22" name="TextBox 22"/>
          <p:cNvSpPr txBox="1"/>
          <p:nvPr/>
        </p:nvSpPr>
        <p:spPr>
          <a:xfrm>
            <a:off x="1879225" y="9557347"/>
            <a:ext cx="8627006" cy="334072"/>
          </a:xfrm>
          <a:prstGeom prst="rect">
            <a:avLst/>
          </a:prstGeom>
        </p:spPr>
        <p:txBody>
          <a:bodyPr lIns="0" tIns="0" rIns="0" bIns="0" rtlCol="0" anchor="t">
            <a:spAutoFit/>
          </a:bodyPr>
          <a:lstStyle/>
          <a:p>
            <a:pPr algn="l">
              <a:lnSpc>
                <a:spcPts val="2330"/>
              </a:lnSpc>
            </a:pPr>
            <a:r>
              <a:rPr lang="en-US" sz="1664">
                <a:solidFill>
                  <a:srgbClr val="F1F5F9"/>
                </a:solidFill>
                <a:latin typeface="Courier New"/>
                <a:ea typeface="Courier New"/>
                <a:cs typeface="Courier New"/>
                <a:sym typeface="Courier New"/>
              </a:rPr>
              <a:t>handles.data(), TRUE, INFINITE);</a:t>
            </a:r>
          </a:p>
        </p:txBody>
      </p:sp>
      <p:grpSp>
        <p:nvGrpSpPr>
          <p:cNvPr id="23" name="Group 23"/>
          <p:cNvGrpSpPr/>
          <p:nvPr/>
        </p:nvGrpSpPr>
        <p:grpSpPr>
          <a:xfrm>
            <a:off x="11683898" y="4063898"/>
            <a:ext cx="5079806" cy="1703194"/>
            <a:chOff x="0" y="0"/>
            <a:chExt cx="6773075" cy="2270925"/>
          </a:xfrm>
        </p:grpSpPr>
        <p:sp>
          <p:nvSpPr>
            <p:cNvPr id="24" name="Freeform 24"/>
            <p:cNvSpPr/>
            <p:nvPr/>
          </p:nvSpPr>
          <p:spPr>
            <a:xfrm>
              <a:off x="0" y="0"/>
              <a:ext cx="6773037" cy="2270887"/>
            </a:xfrm>
            <a:custGeom>
              <a:avLst/>
              <a:gdLst/>
              <a:ahLst/>
              <a:cxnLst/>
              <a:rect l="l" t="t" r="r" b="b"/>
              <a:pathLst>
                <a:path w="6773037" h="2270887">
                  <a:moveTo>
                    <a:pt x="0" y="0"/>
                  </a:moveTo>
                  <a:lnTo>
                    <a:pt x="6773037" y="0"/>
                  </a:lnTo>
                  <a:lnTo>
                    <a:pt x="6773037" y="2270887"/>
                  </a:lnTo>
                  <a:lnTo>
                    <a:pt x="0" y="2270887"/>
                  </a:lnTo>
                  <a:close/>
                </a:path>
              </a:pathLst>
            </a:custGeom>
            <a:solidFill>
              <a:srgbClr val="122236"/>
            </a:solidFill>
          </p:spPr>
          <p:txBody>
            <a:bodyPr/>
            <a:lstStyle/>
            <a:p>
              <a:endParaRPr lang="en-US"/>
            </a:p>
          </p:txBody>
        </p:sp>
      </p:grpSp>
      <p:grpSp>
        <p:nvGrpSpPr>
          <p:cNvPr id="25" name="Group 25"/>
          <p:cNvGrpSpPr/>
          <p:nvPr/>
        </p:nvGrpSpPr>
        <p:grpSpPr>
          <a:xfrm>
            <a:off x="11683898" y="4016273"/>
            <a:ext cx="95250" cy="1798444"/>
            <a:chOff x="0" y="0"/>
            <a:chExt cx="127000" cy="2397925"/>
          </a:xfrm>
        </p:grpSpPr>
        <p:sp>
          <p:nvSpPr>
            <p:cNvPr id="26" name="Freeform 26"/>
            <p:cNvSpPr/>
            <p:nvPr/>
          </p:nvSpPr>
          <p:spPr>
            <a:xfrm>
              <a:off x="0" y="63500"/>
              <a:ext cx="127000" cy="2270887"/>
            </a:xfrm>
            <a:custGeom>
              <a:avLst/>
              <a:gdLst/>
              <a:ahLst/>
              <a:cxnLst/>
              <a:rect l="l" t="t" r="r" b="b"/>
              <a:pathLst>
                <a:path w="127000" h="2270887">
                  <a:moveTo>
                    <a:pt x="127000" y="0"/>
                  </a:moveTo>
                  <a:lnTo>
                    <a:pt x="127000" y="2270887"/>
                  </a:lnTo>
                  <a:lnTo>
                    <a:pt x="0" y="2270887"/>
                  </a:lnTo>
                  <a:lnTo>
                    <a:pt x="0" y="0"/>
                  </a:lnTo>
                  <a:close/>
                </a:path>
              </a:pathLst>
            </a:custGeom>
            <a:solidFill>
              <a:srgbClr val="22D3EE"/>
            </a:solidFill>
          </p:spPr>
          <p:txBody>
            <a:bodyPr/>
            <a:lstStyle/>
            <a:p>
              <a:endParaRPr lang="en-US"/>
            </a:p>
          </p:txBody>
        </p:sp>
      </p:grpSp>
      <p:sp>
        <p:nvSpPr>
          <p:cNvPr id="27" name="TextBox 27"/>
          <p:cNvSpPr txBox="1"/>
          <p:nvPr/>
        </p:nvSpPr>
        <p:spPr>
          <a:xfrm>
            <a:off x="12083948" y="4228805"/>
            <a:ext cx="4462453" cy="335156"/>
          </a:xfrm>
          <a:prstGeom prst="rect">
            <a:avLst/>
          </a:prstGeom>
        </p:spPr>
        <p:txBody>
          <a:bodyPr lIns="0" tIns="0" rIns="0" bIns="0" rtlCol="0" anchor="t">
            <a:spAutoFit/>
          </a:bodyPr>
          <a:lstStyle/>
          <a:p>
            <a:pPr algn="l">
              <a:lnSpc>
                <a:spcPts val="2340"/>
              </a:lnSpc>
            </a:pPr>
            <a:r>
              <a:rPr lang="en-US" sz="1800" b="1">
                <a:solidFill>
                  <a:srgbClr val="22D3EE"/>
                </a:solidFill>
                <a:latin typeface="Arial Bold"/>
                <a:ea typeface="Arial Bold"/>
                <a:cs typeface="Arial Bold"/>
                <a:sym typeface="Arial Bold"/>
              </a:rPr>
              <a:t>STEP 1</a:t>
            </a:r>
          </a:p>
        </p:txBody>
      </p:sp>
      <p:sp>
        <p:nvSpPr>
          <p:cNvPr id="28" name="TextBox 28"/>
          <p:cNvSpPr txBox="1"/>
          <p:nvPr/>
        </p:nvSpPr>
        <p:spPr>
          <a:xfrm>
            <a:off x="12083948" y="4595517"/>
            <a:ext cx="4462453" cy="323850"/>
          </a:xfrm>
          <a:prstGeom prst="rect">
            <a:avLst/>
          </a:prstGeom>
        </p:spPr>
        <p:txBody>
          <a:bodyPr lIns="0" tIns="0" rIns="0" bIns="0" rtlCol="0" anchor="t">
            <a:spAutoFit/>
          </a:bodyPr>
          <a:lstStyle/>
          <a:p>
            <a:pPr algn="l">
              <a:lnSpc>
                <a:spcPts val="2640"/>
              </a:lnSpc>
            </a:pPr>
            <a:r>
              <a:rPr lang="en-US" sz="2200" b="1">
                <a:solidFill>
                  <a:srgbClr val="F1F5F9"/>
                </a:solidFill>
                <a:latin typeface="Arial Bold"/>
                <a:ea typeface="Arial Bold"/>
                <a:cs typeface="Arial Bold"/>
                <a:sym typeface="Arial Bold"/>
              </a:rPr>
              <a:t>Master writes</a:t>
            </a:r>
          </a:p>
        </p:txBody>
      </p:sp>
      <p:sp>
        <p:nvSpPr>
          <p:cNvPr id="29" name="TextBox 29"/>
          <p:cNvSpPr txBox="1"/>
          <p:nvPr/>
        </p:nvSpPr>
        <p:spPr>
          <a:xfrm>
            <a:off x="12083948" y="4931864"/>
            <a:ext cx="4462453" cy="632222"/>
          </a:xfrm>
          <a:prstGeom prst="rect">
            <a:avLst/>
          </a:prstGeom>
        </p:spPr>
        <p:txBody>
          <a:bodyPr lIns="0" tIns="0" rIns="0" bIns="0" rtlCol="0" anchor="t">
            <a:spAutoFit/>
          </a:bodyPr>
          <a:lstStyle/>
          <a:p>
            <a:pPr algn="l">
              <a:lnSpc>
                <a:spcPts val="2340"/>
              </a:lnSpc>
            </a:pPr>
            <a:r>
              <a:rPr lang="en-US" sz="1800">
                <a:solidFill>
                  <a:srgbClr val="94A3B8"/>
                </a:solidFill>
                <a:latin typeface="Arial"/>
                <a:ea typeface="Arial"/>
                <a:cs typeface="Arial"/>
                <a:sym typeface="Arial"/>
              </a:rPr>
              <a:t>Binary input files per worker (points + polygons)</a:t>
            </a:r>
          </a:p>
        </p:txBody>
      </p:sp>
      <p:grpSp>
        <p:nvGrpSpPr>
          <p:cNvPr id="30" name="Group 30"/>
          <p:cNvGrpSpPr/>
          <p:nvPr/>
        </p:nvGrpSpPr>
        <p:grpSpPr>
          <a:xfrm>
            <a:off x="11683898" y="5919492"/>
            <a:ext cx="5079806" cy="1406128"/>
            <a:chOff x="0" y="0"/>
            <a:chExt cx="6773075" cy="1874838"/>
          </a:xfrm>
        </p:grpSpPr>
        <p:sp>
          <p:nvSpPr>
            <p:cNvPr id="31" name="Freeform 31"/>
            <p:cNvSpPr/>
            <p:nvPr/>
          </p:nvSpPr>
          <p:spPr>
            <a:xfrm>
              <a:off x="0" y="0"/>
              <a:ext cx="6773037" cy="1874774"/>
            </a:xfrm>
            <a:custGeom>
              <a:avLst/>
              <a:gdLst/>
              <a:ahLst/>
              <a:cxnLst/>
              <a:rect l="l" t="t" r="r" b="b"/>
              <a:pathLst>
                <a:path w="6773037" h="1874774">
                  <a:moveTo>
                    <a:pt x="0" y="0"/>
                  </a:moveTo>
                  <a:lnTo>
                    <a:pt x="6773037" y="0"/>
                  </a:lnTo>
                  <a:lnTo>
                    <a:pt x="6773037" y="1874774"/>
                  </a:lnTo>
                  <a:lnTo>
                    <a:pt x="0" y="1874774"/>
                  </a:lnTo>
                  <a:close/>
                </a:path>
              </a:pathLst>
            </a:custGeom>
            <a:solidFill>
              <a:srgbClr val="122236"/>
            </a:solidFill>
          </p:spPr>
          <p:txBody>
            <a:bodyPr/>
            <a:lstStyle/>
            <a:p>
              <a:endParaRPr lang="en-US"/>
            </a:p>
          </p:txBody>
        </p:sp>
      </p:grpSp>
      <p:grpSp>
        <p:nvGrpSpPr>
          <p:cNvPr id="32" name="Group 32"/>
          <p:cNvGrpSpPr/>
          <p:nvPr/>
        </p:nvGrpSpPr>
        <p:grpSpPr>
          <a:xfrm>
            <a:off x="11683898" y="5871867"/>
            <a:ext cx="95250" cy="1501378"/>
            <a:chOff x="0" y="0"/>
            <a:chExt cx="127000" cy="2001838"/>
          </a:xfrm>
        </p:grpSpPr>
        <p:sp>
          <p:nvSpPr>
            <p:cNvPr id="33" name="Freeform 33"/>
            <p:cNvSpPr/>
            <p:nvPr/>
          </p:nvSpPr>
          <p:spPr>
            <a:xfrm>
              <a:off x="0" y="63500"/>
              <a:ext cx="127000" cy="1874774"/>
            </a:xfrm>
            <a:custGeom>
              <a:avLst/>
              <a:gdLst/>
              <a:ahLst/>
              <a:cxnLst/>
              <a:rect l="l" t="t" r="r" b="b"/>
              <a:pathLst>
                <a:path w="127000" h="1874774">
                  <a:moveTo>
                    <a:pt x="127000" y="0"/>
                  </a:moveTo>
                  <a:lnTo>
                    <a:pt x="127000" y="1874774"/>
                  </a:lnTo>
                  <a:lnTo>
                    <a:pt x="0" y="1874774"/>
                  </a:lnTo>
                  <a:lnTo>
                    <a:pt x="0" y="0"/>
                  </a:lnTo>
                  <a:close/>
                </a:path>
              </a:pathLst>
            </a:custGeom>
            <a:solidFill>
              <a:srgbClr val="22D3EE"/>
            </a:solidFill>
          </p:spPr>
          <p:txBody>
            <a:bodyPr/>
            <a:lstStyle/>
            <a:p>
              <a:endParaRPr lang="en-US"/>
            </a:p>
          </p:txBody>
        </p:sp>
      </p:grpSp>
      <p:sp>
        <p:nvSpPr>
          <p:cNvPr id="34" name="TextBox 34"/>
          <p:cNvSpPr txBox="1"/>
          <p:nvPr/>
        </p:nvSpPr>
        <p:spPr>
          <a:xfrm>
            <a:off x="12083948" y="6084389"/>
            <a:ext cx="4462453" cy="335156"/>
          </a:xfrm>
          <a:prstGeom prst="rect">
            <a:avLst/>
          </a:prstGeom>
        </p:spPr>
        <p:txBody>
          <a:bodyPr lIns="0" tIns="0" rIns="0" bIns="0" rtlCol="0" anchor="t">
            <a:spAutoFit/>
          </a:bodyPr>
          <a:lstStyle/>
          <a:p>
            <a:pPr algn="l">
              <a:lnSpc>
                <a:spcPts val="2340"/>
              </a:lnSpc>
            </a:pPr>
            <a:r>
              <a:rPr lang="en-US" sz="1800" b="1">
                <a:solidFill>
                  <a:srgbClr val="22D3EE"/>
                </a:solidFill>
                <a:latin typeface="Arial Bold"/>
                <a:ea typeface="Arial Bold"/>
                <a:cs typeface="Arial Bold"/>
                <a:sym typeface="Arial Bold"/>
              </a:rPr>
              <a:t>STEP 2</a:t>
            </a:r>
          </a:p>
        </p:txBody>
      </p:sp>
      <p:sp>
        <p:nvSpPr>
          <p:cNvPr id="35" name="TextBox 35"/>
          <p:cNvSpPr txBox="1"/>
          <p:nvPr/>
        </p:nvSpPr>
        <p:spPr>
          <a:xfrm>
            <a:off x="12083948" y="6451102"/>
            <a:ext cx="4462453" cy="323850"/>
          </a:xfrm>
          <a:prstGeom prst="rect">
            <a:avLst/>
          </a:prstGeom>
        </p:spPr>
        <p:txBody>
          <a:bodyPr lIns="0" tIns="0" rIns="0" bIns="0" rtlCol="0" anchor="t">
            <a:spAutoFit/>
          </a:bodyPr>
          <a:lstStyle/>
          <a:p>
            <a:pPr algn="l">
              <a:lnSpc>
                <a:spcPts val="2640"/>
              </a:lnSpc>
            </a:pPr>
            <a:r>
              <a:rPr lang="en-US" sz="2200" b="1">
                <a:solidFill>
                  <a:srgbClr val="F1F5F9"/>
                </a:solidFill>
                <a:latin typeface="Arial Bold"/>
                <a:ea typeface="Arial Bold"/>
                <a:cs typeface="Arial Bold"/>
                <a:sym typeface="Arial Bold"/>
              </a:rPr>
              <a:t>Spawn worker.exe</a:t>
            </a:r>
          </a:p>
        </p:txBody>
      </p:sp>
      <p:sp>
        <p:nvSpPr>
          <p:cNvPr id="36" name="TextBox 36"/>
          <p:cNvSpPr txBox="1"/>
          <p:nvPr/>
        </p:nvSpPr>
        <p:spPr>
          <a:xfrm>
            <a:off x="12083948" y="6787458"/>
            <a:ext cx="4462453" cy="335156"/>
          </a:xfrm>
          <a:prstGeom prst="rect">
            <a:avLst/>
          </a:prstGeom>
        </p:spPr>
        <p:txBody>
          <a:bodyPr lIns="0" tIns="0" rIns="0" bIns="0" rtlCol="0" anchor="t">
            <a:spAutoFit/>
          </a:bodyPr>
          <a:lstStyle/>
          <a:p>
            <a:pPr algn="l">
              <a:lnSpc>
                <a:spcPts val="2340"/>
              </a:lnSpc>
            </a:pPr>
            <a:r>
              <a:rPr lang="en-US" sz="1800">
                <a:solidFill>
                  <a:srgbClr val="94A3B8"/>
                </a:solidFill>
                <a:latin typeface="Arial"/>
                <a:ea typeface="Arial"/>
                <a:cs typeface="Arial"/>
                <a:sym typeface="Arial"/>
              </a:rPr>
              <a:t>Real OS process — not a thread</a:t>
            </a:r>
          </a:p>
        </p:txBody>
      </p:sp>
      <p:grpSp>
        <p:nvGrpSpPr>
          <p:cNvPr id="37" name="Group 37"/>
          <p:cNvGrpSpPr/>
          <p:nvPr/>
        </p:nvGrpSpPr>
        <p:grpSpPr>
          <a:xfrm>
            <a:off x="11683898" y="7478020"/>
            <a:ext cx="5079806" cy="1406128"/>
            <a:chOff x="0" y="0"/>
            <a:chExt cx="6773075" cy="1874838"/>
          </a:xfrm>
        </p:grpSpPr>
        <p:sp>
          <p:nvSpPr>
            <p:cNvPr id="38" name="Freeform 38"/>
            <p:cNvSpPr/>
            <p:nvPr/>
          </p:nvSpPr>
          <p:spPr>
            <a:xfrm>
              <a:off x="0" y="0"/>
              <a:ext cx="6773037" cy="1874774"/>
            </a:xfrm>
            <a:custGeom>
              <a:avLst/>
              <a:gdLst/>
              <a:ahLst/>
              <a:cxnLst/>
              <a:rect l="l" t="t" r="r" b="b"/>
              <a:pathLst>
                <a:path w="6773037" h="1874774">
                  <a:moveTo>
                    <a:pt x="0" y="0"/>
                  </a:moveTo>
                  <a:lnTo>
                    <a:pt x="6773037" y="0"/>
                  </a:lnTo>
                  <a:lnTo>
                    <a:pt x="6773037" y="1874774"/>
                  </a:lnTo>
                  <a:lnTo>
                    <a:pt x="0" y="1874774"/>
                  </a:lnTo>
                  <a:close/>
                </a:path>
              </a:pathLst>
            </a:custGeom>
            <a:solidFill>
              <a:srgbClr val="122236"/>
            </a:solidFill>
          </p:spPr>
          <p:txBody>
            <a:bodyPr/>
            <a:lstStyle/>
            <a:p>
              <a:endParaRPr lang="en-US"/>
            </a:p>
          </p:txBody>
        </p:sp>
      </p:grpSp>
      <p:grpSp>
        <p:nvGrpSpPr>
          <p:cNvPr id="39" name="Group 39"/>
          <p:cNvGrpSpPr/>
          <p:nvPr/>
        </p:nvGrpSpPr>
        <p:grpSpPr>
          <a:xfrm>
            <a:off x="11683898" y="7430395"/>
            <a:ext cx="95250" cy="1501378"/>
            <a:chOff x="0" y="0"/>
            <a:chExt cx="127000" cy="2001838"/>
          </a:xfrm>
        </p:grpSpPr>
        <p:sp>
          <p:nvSpPr>
            <p:cNvPr id="40" name="Freeform 40"/>
            <p:cNvSpPr/>
            <p:nvPr/>
          </p:nvSpPr>
          <p:spPr>
            <a:xfrm>
              <a:off x="0" y="63500"/>
              <a:ext cx="127000" cy="1874774"/>
            </a:xfrm>
            <a:custGeom>
              <a:avLst/>
              <a:gdLst/>
              <a:ahLst/>
              <a:cxnLst/>
              <a:rect l="l" t="t" r="r" b="b"/>
              <a:pathLst>
                <a:path w="127000" h="1874774">
                  <a:moveTo>
                    <a:pt x="127000" y="0"/>
                  </a:moveTo>
                  <a:lnTo>
                    <a:pt x="127000" y="1874774"/>
                  </a:lnTo>
                  <a:lnTo>
                    <a:pt x="0" y="1874774"/>
                  </a:lnTo>
                  <a:lnTo>
                    <a:pt x="0" y="0"/>
                  </a:lnTo>
                  <a:close/>
                </a:path>
              </a:pathLst>
            </a:custGeom>
            <a:solidFill>
              <a:srgbClr val="22D3EE"/>
            </a:solidFill>
          </p:spPr>
          <p:txBody>
            <a:bodyPr/>
            <a:lstStyle/>
            <a:p>
              <a:endParaRPr lang="en-US"/>
            </a:p>
          </p:txBody>
        </p:sp>
      </p:grpSp>
      <p:sp>
        <p:nvSpPr>
          <p:cNvPr id="41" name="TextBox 41"/>
          <p:cNvSpPr txBox="1"/>
          <p:nvPr/>
        </p:nvSpPr>
        <p:spPr>
          <a:xfrm>
            <a:off x="12083948" y="7642917"/>
            <a:ext cx="4462453" cy="335156"/>
          </a:xfrm>
          <a:prstGeom prst="rect">
            <a:avLst/>
          </a:prstGeom>
        </p:spPr>
        <p:txBody>
          <a:bodyPr lIns="0" tIns="0" rIns="0" bIns="0" rtlCol="0" anchor="t">
            <a:spAutoFit/>
          </a:bodyPr>
          <a:lstStyle/>
          <a:p>
            <a:pPr algn="l">
              <a:lnSpc>
                <a:spcPts val="2340"/>
              </a:lnSpc>
            </a:pPr>
            <a:r>
              <a:rPr lang="en-US" sz="1800" b="1">
                <a:solidFill>
                  <a:srgbClr val="22D3EE"/>
                </a:solidFill>
                <a:latin typeface="Arial Bold"/>
                <a:ea typeface="Arial Bold"/>
                <a:cs typeface="Arial Bold"/>
                <a:sym typeface="Arial Bold"/>
              </a:rPr>
              <a:t>STEP 3</a:t>
            </a:r>
          </a:p>
        </p:txBody>
      </p:sp>
      <p:sp>
        <p:nvSpPr>
          <p:cNvPr id="42" name="TextBox 42"/>
          <p:cNvSpPr txBox="1"/>
          <p:nvPr/>
        </p:nvSpPr>
        <p:spPr>
          <a:xfrm>
            <a:off x="12083948" y="8009630"/>
            <a:ext cx="4462453" cy="323850"/>
          </a:xfrm>
          <a:prstGeom prst="rect">
            <a:avLst/>
          </a:prstGeom>
        </p:spPr>
        <p:txBody>
          <a:bodyPr lIns="0" tIns="0" rIns="0" bIns="0" rtlCol="0" anchor="t">
            <a:spAutoFit/>
          </a:bodyPr>
          <a:lstStyle/>
          <a:p>
            <a:pPr algn="l">
              <a:lnSpc>
                <a:spcPts val="2640"/>
              </a:lnSpc>
            </a:pPr>
            <a:r>
              <a:rPr lang="en-US" sz="2200" b="1">
                <a:solidFill>
                  <a:srgbClr val="F1F5F9"/>
                </a:solidFill>
                <a:latin typeface="Arial Bold"/>
                <a:ea typeface="Arial Bold"/>
                <a:cs typeface="Arial Bold"/>
                <a:sym typeface="Arial Bold"/>
              </a:rPr>
              <a:t>Aggregate</a:t>
            </a:r>
          </a:p>
        </p:txBody>
      </p:sp>
      <p:sp>
        <p:nvSpPr>
          <p:cNvPr id="43" name="TextBox 43"/>
          <p:cNvSpPr txBox="1"/>
          <p:nvPr/>
        </p:nvSpPr>
        <p:spPr>
          <a:xfrm>
            <a:off x="12083948" y="8345986"/>
            <a:ext cx="4462453" cy="335156"/>
          </a:xfrm>
          <a:prstGeom prst="rect">
            <a:avLst/>
          </a:prstGeom>
        </p:spPr>
        <p:txBody>
          <a:bodyPr lIns="0" tIns="0" rIns="0" bIns="0" rtlCol="0" anchor="t">
            <a:spAutoFit/>
          </a:bodyPr>
          <a:lstStyle/>
          <a:p>
            <a:pPr algn="l">
              <a:lnSpc>
                <a:spcPts val="2340"/>
              </a:lnSpc>
            </a:pPr>
            <a:r>
              <a:rPr lang="en-US" sz="1800">
                <a:solidFill>
                  <a:srgbClr val="94A3B8"/>
                </a:solidFill>
                <a:latin typeface="Arial"/>
                <a:ea typeface="Arial"/>
                <a:cs typeface="Arial"/>
                <a:sym typeface="Arial"/>
              </a:rPr>
              <a:t>Read result files · compare checksums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TextBox 2"/>
          <p:cNvSpPr txBox="1"/>
          <p:nvPr/>
        </p:nvSpPr>
        <p:spPr>
          <a:xfrm>
            <a:off x="1524000" y="1260281"/>
            <a:ext cx="5249104" cy="295275"/>
          </a:xfrm>
          <a:prstGeom prst="rect">
            <a:avLst/>
          </a:prstGeom>
        </p:spPr>
        <p:txBody>
          <a:bodyPr lIns="0" tIns="0" rIns="0" bIns="0" rtlCol="0" anchor="t">
            <a:spAutoFit/>
          </a:bodyPr>
          <a:lstStyle/>
          <a:p>
            <a:pPr algn="l">
              <a:lnSpc>
                <a:spcPts val="2400"/>
              </a:lnSpc>
            </a:pPr>
            <a:r>
              <a:rPr lang="en-US" sz="2000">
                <a:solidFill>
                  <a:srgbClr val="22D3EE"/>
                </a:solidFill>
                <a:latin typeface="Arial"/>
                <a:ea typeface="Arial"/>
                <a:cs typeface="Arial"/>
                <a:sym typeface="Arial"/>
              </a:rPr>
              <a:t>MILESTONE 3 · SCALE</a:t>
            </a:r>
          </a:p>
        </p:txBody>
      </p:sp>
      <p:sp>
        <p:nvSpPr>
          <p:cNvPr id="3" name="TextBox 3"/>
          <p:cNvSpPr txBox="1"/>
          <p:nvPr/>
        </p:nvSpPr>
        <p:spPr>
          <a:xfrm>
            <a:off x="1524000" y="2003231"/>
            <a:ext cx="15544800" cy="885825"/>
          </a:xfrm>
          <a:prstGeom prst="rect">
            <a:avLst/>
          </a:prstGeom>
        </p:spPr>
        <p:txBody>
          <a:bodyPr lIns="0" tIns="0" rIns="0" bIns="0" rtlCol="0" anchor="t">
            <a:spAutoFit/>
          </a:bodyPr>
          <a:lstStyle/>
          <a:p>
            <a:pPr algn="l">
              <a:lnSpc>
                <a:spcPts val="7200"/>
              </a:lnSpc>
            </a:pPr>
            <a:r>
              <a:rPr lang="en-US" sz="6000">
                <a:solidFill>
                  <a:srgbClr val="F1F5F9"/>
                </a:solidFill>
                <a:latin typeface="Arial"/>
                <a:ea typeface="Arial"/>
                <a:cs typeface="Arial"/>
                <a:sym typeface="Arial"/>
              </a:rPr>
              <a:t>Scaling to </a:t>
            </a:r>
            <a:r>
              <a:rPr lang="en-US" sz="6000" b="1">
                <a:solidFill>
                  <a:srgbClr val="22D3EE"/>
                </a:solidFill>
                <a:latin typeface="Arial Bold"/>
                <a:ea typeface="Arial Bold"/>
                <a:cs typeface="Arial Bold"/>
                <a:sym typeface="Arial Bold"/>
              </a:rPr>
              <a:t>100M</a:t>
            </a:r>
            <a:r>
              <a:rPr lang="en-US" sz="6000">
                <a:solidFill>
                  <a:srgbClr val="F1F5F9"/>
                </a:solidFill>
                <a:latin typeface="Arial"/>
                <a:ea typeface="Arial"/>
                <a:cs typeface="Arial"/>
                <a:sym typeface="Arial"/>
              </a:rPr>
              <a:t> points</a:t>
            </a:r>
          </a:p>
        </p:txBody>
      </p:sp>
      <p:grpSp>
        <p:nvGrpSpPr>
          <p:cNvPr id="4" name="Group 4"/>
          <p:cNvGrpSpPr/>
          <p:nvPr/>
        </p:nvGrpSpPr>
        <p:grpSpPr>
          <a:xfrm>
            <a:off x="1524000" y="4191000"/>
            <a:ext cx="5587898" cy="2126752"/>
            <a:chOff x="0" y="0"/>
            <a:chExt cx="7450531" cy="2835669"/>
          </a:xfrm>
        </p:grpSpPr>
        <p:sp>
          <p:nvSpPr>
            <p:cNvPr id="5" name="Freeform 5"/>
            <p:cNvSpPr/>
            <p:nvPr/>
          </p:nvSpPr>
          <p:spPr>
            <a:xfrm>
              <a:off x="0" y="0"/>
              <a:ext cx="7450582" cy="2835656"/>
            </a:xfrm>
            <a:custGeom>
              <a:avLst/>
              <a:gdLst/>
              <a:ahLst/>
              <a:cxnLst/>
              <a:rect l="l" t="t" r="r" b="b"/>
              <a:pathLst>
                <a:path w="7450582" h="2835656">
                  <a:moveTo>
                    <a:pt x="0" y="0"/>
                  </a:moveTo>
                  <a:lnTo>
                    <a:pt x="7450582" y="0"/>
                  </a:lnTo>
                  <a:lnTo>
                    <a:pt x="7450582" y="2835656"/>
                  </a:lnTo>
                  <a:lnTo>
                    <a:pt x="0" y="2835656"/>
                  </a:lnTo>
                  <a:close/>
                </a:path>
              </a:pathLst>
            </a:custGeom>
            <a:solidFill>
              <a:srgbClr val="122236"/>
            </a:solidFill>
          </p:spPr>
          <p:txBody>
            <a:bodyPr/>
            <a:lstStyle/>
            <a:p>
              <a:endParaRPr lang="en-US"/>
            </a:p>
          </p:txBody>
        </p:sp>
      </p:grpSp>
      <p:grpSp>
        <p:nvGrpSpPr>
          <p:cNvPr id="6" name="Group 6"/>
          <p:cNvGrpSpPr/>
          <p:nvPr/>
        </p:nvGrpSpPr>
        <p:grpSpPr>
          <a:xfrm>
            <a:off x="1524000" y="4143375"/>
            <a:ext cx="95250" cy="2222002"/>
            <a:chOff x="0" y="0"/>
            <a:chExt cx="127000" cy="2962669"/>
          </a:xfrm>
        </p:grpSpPr>
        <p:sp>
          <p:nvSpPr>
            <p:cNvPr id="7" name="Freeform 7"/>
            <p:cNvSpPr/>
            <p:nvPr/>
          </p:nvSpPr>
          <p:spPr>
            <a:xfrm>
              <a:off x="0" y="63500"/>
              <a:ext cx="127000" cy="2835656"/>
            </a:xfrm>
            <a:custGeom>
              <a:avLst/>
              <a:gdLst/>
              <a:ahLst/>
              <a:cxnLst/>
              <a:rect l="l" t="t" r="r" b="b"/>
              <a:pathLst>
                <a:path w="127000" h="2835656">
                  <a:moveTo>
                    <a:pt x="127000" y="0"/>
                  </a:moveTo>
                  <a:lnTo>
                    <a:pt x="127000" y="2835656"/>
                  </a:lnTo>
                  <a:lnTo>
                    <a:pt x="0" y="2835656"/>
                  </a:lnTo>
                  <a:lnTo>
                    <a:pt x="0" y="0"/>
                  </a:lnTo>
                  <a:close/>
                </a:path>
              </a:pathLst>
            </a:custGeom>
            <a:solidFill>
              <a:srgbClr val="22D3EE"/>
            </a:solidFill>
          </p:spPr>
          <p:txBody>
            <a:bodyPr/>
            <a:lstStyle/>
            <a:p>
              <a:endParaRPr lang="en-US"/>
            </a:p>
          </p:txBody>
        </p:sp>
      </p:grpSp>
      <p:sp>
        <p:nvSpPr>
          <p:cNvPr id="8" name="TextBox 8"/>
          <p:cNvSpPr txBox="1"/>
          <p:nvPr/>
        </p:nvSpPr>
        <p:spPr>
          <a:xfrm>
            <a:off x="2076450" y="4536881"/>
            <a:ext cx="4669812" cy="752475"/>
          </a:xfrm>
          <a:prstGeom prst="rect">
            <a:avLst/>
          </a:prstGeom>
        </p:spPr>
        <p:txBody>
          <a:bodyPr lIns="0" tIns="0" rIns="0" bIns="0" rtlCol="0" anchor="t">
            <a:spAutoFit/>
          </a:bodyPr>
          <a:lstStyle/>
          <a:p>
            <a:pPr algn="l">
              <a:lnSpc>
                <a:spcPts val="6240"/>
              </a:lnSpc>
            </a:pPr>
            <a:r>
              <a:rPr lang="en-US" sz="5200" b="1">
                <a:solidFill>
                  <a:srgbClr val="22D3EE"/>
                </a:solidFill>
                <a:latin typeface="Courier New Bold"/>
                <a:ea typeface="Courier New Bold"/>
                <a:cs typeface="Courier New Bold"/>
                <a:sym typeface="Courier New Bold"/>
              </a:rPr>
              <a:t>2.92M / sec</a:t>
            </a:r>
          </a:p>
        </p:txBody>
      </p:sp>
      <p:sp>
        <p:nvSpPr>
          <p:cNvPr id="9" name="TextBox 9"/>
          <p:cNvSpPr txBox="1"/>
          <p:nvPr/>
        </p:nvSpPr>
        <p:spPr>
          <a:xfrm>
            <a:off x="2076450" y="5381330"/>
            <a:ext cx="4669812" cy="581025"/>
          </a:xfrm>
          <a:prstGeom prst="rect">
            <a:avLst/>
          </a:prstGeom>
        </p:spPr>
        <p:txBody>
          <a:bodyPr lIns="0" tIns="0" rIns="0" bIns="0" rtlCol="0" anchor="t">
            <a:spAutoFit/>
          </a:bodyPr>
          <a:lstStyle/>
          <a:p>
            <a:pPr algn="l">
              <a:lnSpc>
                <a:spcPts val="2400"/>
              </a:lnSpc>
            </a:pPr>
            <a:r>
              <a:rPr lang="en-US" sz="2000">
                <a:solidFill>
                  <a:srgbClr val="94A3B8"/>
                </a:solidFill>
                <a:latin typeface="Arial"/>
                <a:ea typeface="Arial"/>
                <a:cs typeface="Arial"/>
                <a:sym typeface="Arial"/>
              </a:rPr>
              <a:t>THROUGHPUT @ 100M CLUSTERED</a:t>
            </a:r>
          </a:p>
        </p:txBody>
      </p:sp>
      <p:grpSp>
        <p:nvGrpSpPr>
          <p:cNvPr id="10" name="Group 10"/>
          <p:cNvGrpSpPr/>
          <p:nvPr/>
        </p:nvGrpSpPr>
        <p:grpSpPr>
          <a:xfrm>
            <a:off x="1524000" y="6622552"/>
            <a:ext cx="5587898" cy="869756"/>
            <a:chOff x="0" y="0"/>
            <a:chExt cx="7450531" cy="1159675"/>
          </a:xfrm>
        </p:grpSpPr>
        <p:sp>
          <p:nvSpPr>
            <p:cNvPr id="11" name="Freeform 11"/>
            <p:cNvSpPr/>
            <p:nvPr/>
          </p:nvSpPr>
          <p:spPr>
            <a:xfrm>
              <a:off x="0" y="0"/>
              <a:ext cx="7450582" cy="1159637"/>
            </a:xfrm>
            <a:custGeom>
              <a:avLst/>
              <a:gdLst/>
              <a:ahLst/>
              <a:cxnLst/>
              <a:rect l="l" t="t" r="r" b="b"/>
              <a:pathLst>
                <a:path w="7450582" h="1159637">
                  <a:moveTo>
                    <a:pt x="0" y="0"/>
                  </a:moveTo>
                  <a:lnTo>
                    <a:pt x="7450582" y="0"/>
                  </a:lnTo>
                  <a:lnTo>
                    <a:pt x="7450582" y="1159637"/>
                  </a:lnTo>
                  <a:lnTo>
                    <a:pt x="0" y="1159637"/>
                  </a:lnTo>
                  <a:close/>
                </a:path>
              </a:pathLst>
            </a:custGeom>
            <a:solidFill>
              <a:srgbClr val="122236"/>
            </a:solidFill>
          </p:spPr>
          <p:txBody>
            <a:bodyPr/>
            <a:lstStyle/>
            <a:p>
              <a:endParaRPr lang="en-US"/>
            </a:p>
          </p:txBody>
        </p:sp>
      </p:grpSp>
      <p:sp>
        <p:nvSpPr>
          <p:cNvPr id="12" name="TextBox 12"/>
          <p:cNvSpPr txBox="1"/>
          <p:nvPr/>
        </p:nvSpPr>
        <p:spPr>
          <a:xfrm>
            <a:off x="1879406" y="6866925"/>
            <a:ext cx="4974641" cy="371475"/>
          </a:xfrm>
          <a:prstGeom prst="rect">
            <a:avLst/>
          </a:prstGeom>
        </p:spPr>
        <p:txBody>
          <a:bodyPr lIns="0" tIns="0" rIns="0" bIns="0" rtlCol="0" anchor="t">
            <a:spAutoFit/>
          </a:bodyPr>
          <a:lstStyle/>
          <a:p>
            <a:pPr algn="l">
              <a:lnSpc>
                <a:spcPts val="2400"/>
              </a:lnSpc>
            </a:pPr>
            <a:r>
              <a:rPr lang="en-US" sz="2000" b="1">
                <a:solidFill>
                  <a:srgbClr val="F1F5F9"/>
                </a:solidFill>
                <a:latin typeface="Arial Bold"/>
                <a:ea typeface="Arial Bold"/>
                <a:cs typeface="Arial Bold"/>
                <a:sym typeface="Arial Bold"/>
              </a:rPr>
              <a:t>1M</a:t>
            </a:r>
            <a:r>
              <a:rPr lang="en-US" sz="2000">
                <a:solidFill>
                  <a:srgbClr val="94A3B8"/>
                </a:solidFill>
                <a:latin typeface="Arial"/>
                <a:ea typeface="Arial"/>
                <a:cs typeface="Arial"/>
                <a:sym typeface="Arial"/>
              </a:rPr>
              <a:t> clustered · 481 ms total</a:t>
            </a:r>
          </a:p>
        </p:txBody>
      </p:sp>
      <p:grpSp>
        <p:nvGrpSpPr>
          <p:cNvPr id="13" name="Group 13"/>
          <p:cNvGrpSpPr/>
          <p:nvPr/>
        </p:nvGrpSpPr>
        <p:grpSpPr>
          <a:xfrm>
            <a:off x="1524000" y="7695305"/>
            <a:ext cx="5587898" cy="869756"/>
            <a:chOff x="0" y="0"/>
            <a:chExt cx="7450531" cy="1159675"/>
          </a:xfrm>
        </p:grpSpPr>
        <p:sp>
          <p:nvSpPr>
            <p:cNvPr id="14" name="Freeform 14"/>
            <p:cNvSpPr/>
            <p:nvPr/>
          </p:nvSpPr>
          <p:spPr>
            <a:xfrm>
              <a:off x="0" y="0"/>
              <a:ext cx="7450582" cy="1159637"/>
            </a:xfrm>
            <a:custGeom>
              <a:avLst/>
              <a:gdLst/>
              <a:ahLst/>
              <a:cxnLst/>
              <a:rect l="l" t="t" r="r" b="b"/>
              <a:pathLst>
                <a:path w="7450582" h="1159637">
                  <a:moveTo>
                    <a:pt x="0" y="0"/>
                  </a:moveTo>
                  <a:lnTo>
                    <a:pt x="7450582" y="0"/>
                  </a:lnTo>
                  <a:lnTo>
                    <a:pt x="7450582" y="1159637"/>
                  </a:lnTo>
                  <a:lnTo>
                    <a:pt x="0" y="1159637"/>
                  </a:lnTo>
                  <a:close/>
                </a:path>
              </a:pathLst>
            </a:custGeom>
            <a:solidFill>
              <a:srgbClr val="122236"/>
            </a:solidFill>
          </p:spPr>
          <p:txBody>
            <a:bodyPr/>
            <a:lstStyle/>
            <a:p>
              <a:endParaRPr lang="en-US"/>
            </a:p>
          </p:txBody>
        </p:sp>
      </p:grpSp>
      <p:sp>
        <p:nvSpPr>
          <p:cNvPr id="15" name="TextBox 15"/>
          <p:cNvSpPr txBox="1"/>
          <p:nvPr/>
        </p:nvSpPr>
        <p:spPr>
          <a:xfrm>
            <a:off x="1879406" y="7939688"/>
            <a:ext cx="4974641" cy="371475"/>
          </a:xfrm>
          <a:prstGeom prst="rect">
            <a:avLst/>
          </a:prstGeom>
        </p:spPr>
        <p:txBody>
          <a:bodyPr lIns="0" tIns="0" rIns="0" bIns="0" rtlCol="0" anchor="t">
            <a:spAutoFit/>
          </a:bodyPr>
          <a:lstStyle/>
          <a:p>
            <a:pPr algn="l">
              <a:lnSpc>
                <a:spcPts val="2400"/>
              </a:lnSpc>
            </a:pPr>
            <a:r>
              <a:rPr lang="en-US" sz="2000" b="1">
                <a:solidFill>
                  <a:srgbClr val="F1F5F9"/>
                </a:solidFill>
                <a:latin typeface="Arial Bold"/>
                <a:ea typeface="Arial Bold"/>
                <a:cs typeface="Arial Bold"/>
                <a:sym typeface="Arial Bold"/>
              </a:rPr>
              <a:t>10M</a:t>
            </a:r>
            <a:r>
              <a:rPr lang="en-US" sz="2000">
                <a:solidFill>
                  <a:srgbClr val="94A3B8"/>
                </a:solidFill>
                <a:latin typeface="Arial"/>
                <a:ea typeface="Arial"/>
                <a:cs typeface="Arial"/>
                <a:sym typeface="Arial"/>
              </a:rPr>
              <a:t> clustered · 4.15 s total</a:t>
            </a:r>
          </a:p>
        </p:txBody>
      </p:sp>
      <p:grpSp>
        <p:nvGrpSpPr>
          <p:cNvPr id="16" name="Group 16"/>
          <p:cNvGrpSpPr/>
          <p:nvPr/>
        </p:nvGrpSpPr>
        <p:grpSpPr>
          <a:xfrm>
            <a:off x="1524000" y="8768058"/>
            <a:ext cx="5587898" cy="869756"/>
            <a:chOff x="0" y="0"/>
            <a:chExt cx="7450531" cy="1159675"/>
          </a:xfrm>
        </p:grpSpPr>
        <p:sp>
          <p:nvSpPr>
            <p:cNvPr id="17" name="Freeform 17"/>
            <p:cNvSpPr/>
            <p:nvPr/>
          </p:nvSpPr>
          <p:spPr>
            <a:xfrm>
              <a:off x="0" y="0"/>
              <a:ext cx="7450582" cy="1159637"/>
            </a:xfrm>
            <a:custGeom>
              <a:avLst/>
              <a:gdLst/>
              <a:ahLst/>
              <a:cxnLst/>
              <a:rect l="l" t="t" r="r" b="b"/>
              <a:pathLst>
                <a:path w="7450582" h="1159637">
                  <a:moveTo>
                    <a:pt x="0" y="0"/>
                  </a:moveTo>
                  <a:lnTo>
                    <a:pt x="7450582" y="0"/>
                  </a:lnTo>
                  <a:lnTo>
                    <a:pt x="7450582" y="1159637"/>
                  </a:lnTo>
                  <a:lnTo>
                    <a:pt x="0" y="1159637"/>
                  </a:lnTo>
                  <a:close/>
                </a:path>
              </a:pathLst>
            </a:custGeom>
            <a:solidFill>
              <a:srgbClr val="122236"/>
            </a:solidFill>
          </p:spPr>
          <p:txBody>
            <a:bodyPr/>
            <a:lstStyle/>
            <a:p>
              <a:endParaRPr lang="en-US"/>
            </a:p>
          </p:txBody>
        </p:sp>
      </p:grpSp>
      <p:sp>
        <p:nvSpPr>
          <p:cNvPr id="18" name="TextBox 18"/>
          <p:cNvSpPr txBox="1"/>
          <p:nvPr/>
        </p:nvSpPr>
        <p:spPr>
          <a:xfrm>
            <a:off x="1879406" y="9012431"/>
            <a:ext cx="4974641" cy="371475"/>
          </a:xfrm>
          <a:prstGeom prst="rect">
            <a:avLst/>
          </a:prstGeom>
        </p:spPr>
        <p:txBody>
          <a:bodyPr lIns="0" tIns="0" rIns="0" bIns="0" rtlCol="0" anchor="t">
            <a:spAutoFit/>
          </a:bodyPr>
          <a:lstStyle/>
          <a:p>
            <a:pPr algn="l">
              <a:lnSpc>
                <a:spcPts val="2400"/>
              </a:lnSpc>
            </a:pPr>
            <a:r>
              <a:rPr lang="en-US" sz="2000" b="1">
                <a:solidFill>
                  <a:srgbClr val="F1F5F9"/>
                </a:solidFill>
                <a:latin typeface="Arial Bold"/>
                <a:ea typeface="Arial Bold"/>
                <a:cs typeface="Arial Bold"/>
                <a:sym typeface="Arial Bold"/>
              </a:rPr>
              <a:t>100M</a:t>
            </a:r>
            <a:r>
              <a:rPr lang="en-US" sz="2000">
                <a:solidFill>
                  <a:srgbClr val="94A3B8"/>
                </a:solidFill>
                <a:latin typeface="Arial"/>
                <a:ea typeface="Arial"/>
                <a:cs typeface="Arial"/>
                <a:sym typeface="Arial"/>
              </a:rPr>
              <a:t> clustered · 43.0 s total</a:t>
            </a:r>
          </a:p>
        </p:txBody>
      </p:sp>
      <p:pic>
        <p:nvPicPr>
          <p:cNvPr id="19" name="Picture 19"/>
          <p:cNvPicPr>
            <a:picLocks noChangeAspect="1"/>
          </p:cNvPicPr>
          <p:nvPr/>
        </p:nvPicPr>
        <p:blipFill>
          <a:blip r:embed="rId3"/>
          <a:stretch>
            <a:fillRect/>
          </a:stretch>
        </p:blipFill>
        <p:spPr>
          <a:xfrm>
            <a:off x="6832402" y="3276600"/>
            <a:ext cx="10972800" cy="71628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TextBox 2"/>
          <p:cNvSpPr txBox="1"/>
          <p:nvPr/>
        </p:nvSpPr>
        <p:spPr>
          <a:xfrm>
            <a:off x="1524000" y="1260281"/>
            <a:ext cx="6395228" cy="295275"/>
          </a:xfrm>
          <a:prstGeom prst="rect">
            <a:avLst/>
          </a:prstGeom>
        </p:spPr>
        <p:txBody>
          <a:bodyPr lIns="0" tIns="0" rIns="0" bIns="0" rtlCol="0" anchor="t">
            <a:spAutoFit/>
          </a:bodyPr>
          <a:lstStyle/>
          <a:p>
            <a:pPr algn="l">
              <a:lnSpc>
                <a:spcPts val="2400"/>
              </a:lnSpc>
            </a:pPr>
            <a:r>
              <a:rPr lang="en-US" sz="2000">
                <a:solidFill>
                  <a:srgbClr val="22D3EE"/>
                </a:solidFill>
                <a:latin typeface="Arial"/>
                <a:ea typeface="Arial"/>
                <a:cs typeface="Arial"/>
                <a:sym typeface="Arial"/>
              </a:rPr>
              <a:t>MILESTONE 3 · TRADE-OFF</a:t>
            </a:r>
          </a:p>
        </p:txBody>
      </p:sp>
      <p:sp>
        <p:nvSpPr>
          <p:cNvPr id="3" name="TextBox 3"/>
          <p:cNvSpPr txBox="1"/>
          <p:nvPr/>
        </p:nvSpPr>
        <p:spPr>
          <a:xfrm>
            <a:off x="1524000" y="2003231"/>
            <a:ext cx="15544800" cy="885825"/>
          </a:xfrm>
          <a:prstGeom prst="rect">
            <a:avLst/>
          </a:prstGeom>
        </p:spPr>
        <p:txBody>
          <a:bodyPr lIns="0" tIns="0" rIns="0" bIns="0" rtlCol="0" anchor="t">
            <a:spAutoFit/>
          </a:bodyPr>
          <a:lstStyle/>
          <a:p>
            <a:pPr algn="l">
              <a:lnSpc>
                <a:spcPts val="7200"/>
              </a:lnSpc>
            </a:pPr>
            <a:r>
              <a:rPr lang="en-US" sz="6000">
                <a:solidFill>
                  <a:srgbClr val="F1F5F9"/>
                </a:solidFill>
                <a:latin typeface="Arial"/>
                <a:ea typeface="Arial"/>
                <a:cs typeface="Arial"/>
                <a:sym typeface="Arial"/>
              </a:rPr>
              <a:t>Replication </a:t>
            </a:r>
            <a:r>
              <a:rPr lang="en-US" sz="6000" b="1">
                <a:solidFill>
                  <a:srgbClr val="22D3EE"/>
                </a:solidFill>
                <a:latin typeface="Arial Bold"/>
                <a:ea typeface="Arial Bold"/>
                <a:cs typeface="Arial Bold"/>
                <a:sym typeface="Arial Bold"/>
              </a:rPr>
              <a:t>vs</a:t>
            </a:r>
            <a:r>
              <a:rPr lang="en-US" sz="6000">
                <a:solidFill>
                  <a:srgbClr val="F1F5F9"/>
                </a:solidFill>
                <a:latin typeface="Arial"/>
                <a:ea typeface="Arial"/>
                <a:cs typeface="Arial"/>
                <a:sym typeface="Arial"/>
              </a:rPr>
              <a:t> sharding</a:t>
            </a:r>
          </a:p>
        </p:txBody>
      </p:sp>
      <p:grpSp>
        <p:nvGrpSpPr>
          <p:cNvPr id="4" name="Group 4"/>
          <p:cNvGrpSpPr/>
          <p:nvPr/>
        </p:nvGrpSpPr>
        <p:grpSpPr>
          <a:xfrm>
            <a:off x="1514475" y="3927281"/>
            <a:ext cx="7169048" cy="5645048"/>
            <a:chOff x="0" y="0"/>
            <a:chExt cx="9558731" cy="7526731"/>
          </a:xfrm>
        </p:grpSpPr>
        <p:sp>
          <p:nvSpPr>
            <p:cNvPr id="5" name="Freeform 5"/>
            <p:cNvSpPr/>
            <p:nvPr/>
          </p:nvSpPr>
          <p:spPr>
            <a:xfrm>
              <a:off x="12700" y="12700"/>
              <a:ext cx="9533255" cy="7501382"/>
            </a:xfrm>
            <a:custGeom>
              <a:avLst/>
              <a:gdLst/>
              <a:ahLst/>
              <a:cxnLst/>
              <a:rect l="l" t="t" r="r" b="b"/>
              <a:pathLst>
                <a:path w="9533255" h="7501382">
                  <a:moveTo>
                    <a:pt x="0" y="203200"/>
                  </a:moveTo>
                  <a:cubicBezTo>
                    <a:pt x="0" y="90932"/>
                    <a:pt x="91059" y="0"/>
                    <a:pt x="203327" y="0"/>
                  </a:cubicBezTo>
                  <a:lnTo>
                    <a:pt x="9329928" y="0"/>
                  </a:lnTo>
                  <a:cubicBezTo>
                    <a:pt x="9442197" y="0"/>
                    <a:pt x="9533255" y="90932"/>
                    <a:pt x="9533255" y="203200"/>
                  </a:cubicBezTo>
                  <a:lnTo>
                    <a:pt x="9533255" y="7298182"/>
                  </a:lnTo>
                  <a:cubicBezTo>
                    <a:pt x="9533255" y="7410450"/>
                    <a:pt x="9442197" y="7501382"/>
                    <a:pt x="9329928" y="7501382"/>
                  </a:cubicBezTo>
                  <a:lnTo>
                    <a:pt x="203327" y="7501382"/>
                  </a:lnTo>
                  <a:cubicBezTo>
                    <a:pt x="91059" y="7501382"/>
                    <a:pt x="0" y="7410450"/>
                    <a:pt x="0" y="7298182"/>
                  </a:cubicBezTo>
                  <a:close/>
                </a:path>
              </a:pathLst>
            </a:custGeom>
            <a:solidFill>
              <a:srgbClr val="122236"/>
            </a:solidFill>
          </p:spPr>
          <p:txBody>
            <a:bodyPr/>
            <a:lstStyle/>
            <a:p>
              <a:endParaRPr lang="en-US"/>
            </a:p>
          </p:txBody>
        </p:sp>
        <p:sp>
          <p:nvSpPr>
            <p:cNvPr id="6" name="Freeform 6"/>
            <p:cNvSpPr/>
            <p:nvPr/>
          </p:nvSpPr>
          <p:spPr>
            <a:xfrm>
              <a:off x="0" y="0"/>
              <a:ext cx="9558655" cy="7526782"/>
            </a:xfrm>
            <a:custGeom>
              <a:avLst/>
              <a:gdLst/>
              <a:ahLst/>
              <a:cxnLst/>
              <a:rect l="l" t="t" r="r" b="b"/>
              <a:pathLst>
                <a:path w="9558655" h="7526782">
                  <a:moveTo>
                    <a:pt x="0" y="215900"/>
                  </a:moveTo>
                  <a:cubicBezTo>
                    <a:pt x="0" y="96647"/>
                    <a:pt x="96774" y="0"/>
                    <a:pt x="216027" y="0"/>
                  </a:cubicBezTo>
                  <a:lnTo>
                    <a:pt x="9342628" y="0"/>
                  </a:lnTo>
                  <a:lnTo>
                    <a:pt x="9342628" y="12700"/>
                  </a:lnTo>
                  <a:lnTo>
                    <a:pt x="9342628" y="0"/>
                  </a:lnTo>
                  <a:cubicBezTo>
                    <a:pt x="9462008" y="0"/>
                    <a:pt x="9558655" y="96647"/>
                    <a:pt x="9558655" y="215900"/>
                  </a:cubicBezTo>
                  <a:lnTo>
                    <a:pt x="9545955" y="215900"/>
                  </a:lnTo>
                  <a:lnTo>
                    <a:pt x="9558655" y="215900"/>
                  </a:lnTo>
                  <a:lnTo>
                    <a:pt x="9558655" y="7310882"/>
                  </a:lnTo>
                  <a:lnTo>
                    <a:pt x="9545955" y="7310882"/>
                  </a:lnTo>
                  <a:lnTo>
                    <a:pt x="9558655" y="7310882"/>
                  </a:lnTo>
                  <a:cubicBezTo>
                    <a:pt x="9558655" y="7430135"/>
                    <a:pt x="9461881" y="7526782"/>
                    <a:pt x="9342628" y="7526782"/>
                  </a:cubicBezTo>
                  <a:lnTo>
                    <a:pt x="9342628" y="7514082"/>
                  </a:lnTo>
                  <a:lnTo>
                    <a:pt x="9342628" y="7526782"/>
                  </a:lnTo>
                  <a:lnTo>
                    <a:pt x="216027" y="7526782"/>
                  </a:lnTo>
                  <a:lnTo>
                    <a:pt x="216027" y="7514082"/>
                  </a:lnTo>
                  <a:lnTo>
                    <a:pt x="216027" y="7526782"/>
                  </a:lnTo>
                  <a:cubicBezTo>
                    <a:pt x="96647" y="7526782"/>
                    <a:pt x="0" y="7430135"/>
                    <a:pt x="0" y="7310882"/>
                  </a:cubicBezTo>
                  <a:lnTo>
                    <a:pt x="0" y="215900"/>
                  </a:lnTo>
                  <a:lnTo>
                    <a:pt x="12700" y="215900"/>
                  </a:lnTo>
                  <a:lnTo>
                    <a:pt x="0" y="215900"/>
                  </a:lnTo>
                  <a:moveTo>
                    <a:pt x="25400" y="215900"/>
                  </a:moveTo>
                  <a:lnTo>
                    <a:pt x="25400" y="7310882"/>
                  </a:lnTo>
                  <a:lnTo>
                    <a:pt x="12700" y="7310882"/>
                  </a:lnTo>
                  <a:lnTo>
                    <a:pt x="25400" y="7310882"/>
                  </a:lnTo>
                  <a:cubicBezTo>
                    <a:pt x="25400" y="7416038"/>
                    <a:pt x="110744" y="7501382"/>
                    <a:pt x="216027" y="7501382"/>
                  </a:cubicBezTo>
                  <a:lnTo>
                    <a:pt x="9342628" y="7501382"/>
                  </a:lnTo>
                  <a:cubicBezTo>
                    <a:pt x="9447911" y="7501382"/>
                    <a:pt x="9533255" y="7416038"/>
                    <a:pt x="9533255" y="7310882"/>
                  </a:cubicBezTo>
                  <a:lnTo>
                    <a:pt x="9533255" y="215900"/>
                  </a:lnTo>
                  <a:cubicBezTo>
                    <a:pt x="9533255" y="110744"/>
                    <a:pt x="9447911" y="25400"/>
                    <a:pt x="9342628" y="25400"/>
                  </a:cubicBezTo>
                  <a:lnTo>
                    <a:pt x="216027" y="25400"/>
                  </a:lnTo>
                  <a:lnTo>
                    <a:pt x="216027" y="12700"/>
                  </a:lnTo>
                  <a:lnTo>
                    <a:pt x="216027" y="25400"/>
                  </a:lnTo>
                  <a:cubicBezTo>
                    <a:pt x="110744" y="25400"/>
                    <a:pt x="25400" y="110744"/>
                    <a:pt x="25400" y="215900"/>
                  </a:cubicBezTo>
                  <a:close/>
                </a:path>
              </a:pathLst>
            </a:custGeom>
            <a:solidFill>
              <a:srgbClr val="1E3A5F"/>
            </a:solidFill>
          </p:spPr>
          <p:txBody>
            <a:bodyPr/>
            <a:lstStyle/>
            <a:p>
              <a:endParaRPr lang="en-US"/>
            </a:p>
          </p:txBody>
        </p:sp>
      </p:grpSp>
      <p:grpSp>
        <p:nvGrpSpPr>
          <p:cNvPr id="7" name="Group 7"/>
          <p:cNvGrpSpPr/>
          <p:nvPr/>
        </p:nvGrpSpPr>
        <p:grpSpPr>
          <a:xfrm>
            <a:off x="9642281" y="3927281"/>
            <a:ext cx="7169048" cy="5645048"/>
            <a:chOff x="0" y="0"/>
            <a:chExt cx="9558731" cy="7526731"/>
          </a:xfrm>
        </p:grpSpPr>
        <p:sp>
          <p:nvSpPr>
            <p:cNvPr id="8" name="Freeform 8"/>
            <p:cNvSpPr/>
            <p:nvPr/>
          </p:nvSpPr>
          <p:spPr>
            <a:xfrm>
              <a:off x="12700" y="12700"/>
              <a:ext cx="9533255" cy="7501382"/>
            </a:xfrm>
            <a:custGeom>
              <a:avLst/>
              <a:gdLst/>
              <a:ahLst/>
              <a:cxnLst/>
              <a:rect l="l" t="t" r="r" b="b"/>
              <a:pathLst>
                <a:path w="9533255" h="7501382">
                  <a:moveTo>
                    <a:pt x="0" y="203200"/>
                  </a:moveTo>
                  <a:cubicBezTo>
                    <a:pt x="0" y="90932"/>
                    <a:pt x="91059" y="0"/>
                    <a:pt x="203327" y="0"/>
                  </a:cubicBezTo>
                  <a:lnTo>
                    <a:pt x="9329928" y="0"/>
                  </a:lnTo>
                  <a:cubicBezTo>
                    <a:pt x="9442197" y="0"/>
                    <a:pt x="9533255" y="90932"/>
                    <a:pt x="9533255" y="203200"/>
                  </a:cubicBezTo>
                  <a:lnTo>
                    <a:pt x="9533255" y="7298182"/>
                  </a:lnTo>
                  <a:cubicBezTo>
                    <a:pt x="9533255" y="7410450"/>
                    <a:pt x="9442197" y="7501382"/>
                    <a:pt x="9329928" y="7501382"/>
                  </a:cubicBezTo>
                  <a:lnTo>
                    <a:pt x="203327" y="7501382"/>
                  </a:lnTo>
                  <a:cubicBezTo>
                    <a:pt x="91059" y="7501382"/>
                    <a:pt x="0" y="7410450"/>
                    <a:pt x="0" y="7298182"/>
                  </a:cubicBezTo>
                  <a:close/>
                </a:path>
              </a:pathLst>
            </a:custGeom>
            <a:solidFill>
              <a:srgbClr val="122236"/>
            </a:solidFill>
          </p:spPr>
          <p:txBody>
            <a:bodyPr/>
            <a:lstStyle/>
            <a:p>
              <a:endParaRPr lang="en-US"/>
            </a:p>
          </p:txBody>
        </p:sp>
        <p:sp>
          <p:nvSpPr>
            <p:cNvPr id="9" name="Freeform 9"/>
            <p:cNvSpPr/>
            <p:nvPr/>
          </p:nvSpPr>
          <p:spPr>
            <a:xfrm>
              <a:off x="0" y="0"/>
              <a:ext cx="9558655" cy="7526782"/>
            </a:xfrm>
            <a:custGeom>
              <a:avLst/>
              <a:gdLst/>
              <a:ahLst/>
              <a:cxnLst/>
              <a:rect l="l" t="t" r="r" b="b"/>
              <a:pathLst>
                <a:path w="9558655" h="7526782">
                  <a:moveTo>
                    <a:pt x="0" y="215900"/>
                  </a:moveTo>
                  <a:cubicBezTo>
                    <a:pt x="0" y="96647"/>
                    <a:pt x="96774" y="0"/>
                    <a:pt x="216027" y="0"/>
                  </a:cubicBezTo>
                  <a:lnTo>
                    <a:pt x="9342628" y="0"/>
                  </a:lnTo>
                  <a:lnTo>
                    <a:pt x="9342628" y="12700"/>
                  </a:lnTo>
                  <a:lnTo>
                    <a:pt x="9342628" y="0"/>
                  </a:lnTo>
                  <a:cubicBezTo>
                    <a:pt x="9462008" y="0"/>
                    <a:pt x="9558655" y="96647"/>
                    <a:pt x="9558655" y="215900"/>
                  </a:cubicBezTo>
                  <a:lnTo>
                    <a:pt x="9545955" y="215900"/>
                  </a:lnTo>
                  <a:lnTo>
                    <a:pt x="9558655" y="215900"/>
                  </a:lnTo>
                  <a:lnTo>
                    <a:pt x="9558655" y="7310882"/>
                  </a:lnTo>
                  <a:lnTo>
                    <a:pt x="9545955" y="7310882"/>
                  </a:lnTo>
                  <a:lnTo>
                    <a:pt x="9558655" y="7310882"/>
                  </a:lnTo>
                  <a:cubicBezTo>
                    <a:pt x="9558655" y="7430135"/>
                    <a:pt x="9461881" y="7526782"/>
                    <a:pt x="9342628" y="7526782"/>
                  </a:cubicBezTo>
                  <a:lnTo>
                    <a:pt x="9342628" y="7514082"/>
                  </a:lnTo>
                  <a:lnTo>
                    <a:pt x="9342628" y="7526782"/>
                  </a:lnTo>
                  <a:lnTo>
                    <a:pt x="216027" y="7526782"/>
                  </a:lnTo>
                  <a:lnTo>
                    <a:pt x="216027" y="7514082"/>
                  </a:lnTo>
                  <a:lnTo>
                    <a:pt x="216027" y="7526782"/>
                  </a:lnTo>
                  <a:cubicBezTo>
                    <a:pt x="96647" y="7526782"/>
                    <a:pt x="0" y="7430135"/>
                    <a:pt x="0" y="7310882"/>
                  </a:cubicBezTo>
                  <a:lnTo>
                    <a:pt x="0" y="215900"/>
                  </a:lnTo>
                  <a:lnTo>
                    <a:pt x="12700" y="215900"/>
                  </a:lnTo>
                  <a:lnTo>
                    <a:pt x="0" y="215900"/>
                  </a:lnTo>
                  <a:moveTo>
                    <a:pt x="25400" y="215900"/>
                  </a:moveTo>
                  <a:lnTo>
                    <a:pt x="25400" y="7310882"/>
                  </a:lnTo>
                  <a:lnTo>
                    <a:pt x="12700" y="7310882"/>
                  </a:lnTo>
                  <a:lnTo>
                    <a:pt x="25400" y="7310882"/>
                  </a:lnTo>
                  <a:cubicBezTo>
                    <a:pt x="25400" y="7416038"/>
                    <a:pt x="110744" y="7501382"/>
                    <a:pt x="216027" y="7501382"/>
                  </a:cubicBezTo>
                  <a:lnTo>
                    <a:pt x="9342628" y="7501382"/>
                  </a:lnTo>
                  <a:cubicBezTo>
                    <a:pt x="9447911" y="7501382"/>
                    <a:pt x="9533255" y="7416038"/>
                    <a:pt x="9533255" y="7310882"/>
                  </a:cubicBezTo>
                  <a:lnTo>
                    <a:pt x="9533255" y="215900"/>
                  </a:lnTo>
                  <a:cubicBezTo>
                    <a:pt x="9533255" y="110744"/>
                    <a:pt x="9447911" y="25400"/>
                    <a:pt x="9342628" y="25400"/>
                  </a:cubicBezTo>
                  <a:lnTo>
                    <a:pt x="216027" y="25400"/>
                  </a:lnTo>
                  <a:lnTo>
                    <a:pt x="216027" y="12700"/>
                  </a:lnTo>
                  <a:lnTo>
                    <a:pt x="216027" y="25400"/>
                  </a:lnTo>
                  <a:cubicBezTo>
                    <a:pt x="110744" y="25400"/>
                    <a:pt x="25400" y="110744"/>
                    <a:pt x="25400" y="215900"/>
                  </a:cubicBezTo>
                  <a:close/>
                </a:path>
              </a:pathLst>
            </a:custGeom>
            <a:solidFill>
              <a:srgbClr val="1E3A5F"/>
            </a:solidFill>
          </p:spPr>
          <p:txBody>
            <a:bodyPr/>
            <a:lstStyle/>
            <a:p>
              <a:endParaRPr lang="en-US"/>
            </a:p>
          </p:txBody>
        </p:sp>
      </p:grpSp>
      <p:sp>
        <p:nvSpPr>
          <p:cNvPr id="10" name="TextBox 10"/>
          <p:cNvSpPr txBox="1"/>
          <p:nvPr/>
        </p:nvSpPr>
        <p:spPr>
          <a:xfrm>
            <a:off x="1452877" y="4298756"/>
            <a:ext cx="7254135" cy="438150"/>
          </a:xfrm>
          <a:prstGeom prst="rect">
            <a:avLst/>
          </a:prstGeom>
        </p:spPr>
        <p:txBody>
          <a:bodyPr lIns="0" tIns="0" rIns="0" bIns="0" rtlCol="0" anchor="t">
            <a:spAutoFit/>
          </a:bodyPr>
          <a:lstStyle/>
          <a:p>
            <a:pPr algn="ctr">
              <a:lnSpc>
                <a:spcPts val="3359"/>
              </a:lnSpc>
            </a:pPr>
            <a:r>
              <a:rPr lang="en-US" sz="2799" b="1">
                <a:solidFill>
                  <a:srgbClr val="22D3EE"/>
                </a:solidFill>
                <a:latin typeface="Arial Bold"/>
                <a:ea typeface="Arial Bold"/>
                <a:cs typeface="Arial Bold"/>
                <a:sym typeface="Arial Bold"/>
              </a:rPr>
              <a:t>REPLICATED</a:t>
            </a:r>
          </a:p>
        </p:txBody>
      </p:sp>
      <p:sp>
        <p:nvSpPr>
          <p:cNvPr id="11" name="TextBox 11"/>
          <p:cNvSpPr txBox="1"/>
          <p:nvPr/>
        </p:nvSpPr>
        <p:spPr>
          <a:xfrm>
            <a:off x="1452877" y="4828880"/>
            <a:ext cx="7254135" cy="295275"/>
          </a:xfrm>
          <a:prstGeom prst="rect">
            <a:avLst/>
          </a:prstGeom>
        </p:spPr>
        <p:txBody>
          <a:bodyPr lIns="0" tIns="0" rIns="0" bIns="0" rtlCol="0" anchor="t">
            <a:spAutoFit/>
          </a:bodyPr>
          <a:lstStyle/>
          <a:p>
            <a:pPr algn="ctr">
              <a:lnSpc>
                <a:spcPts val="2400"/>
              </a:lnSpc>
            </a:pPr>
            <a:r>
              <a:rPr lang="en-US" sz="2000">
                <a:solidFill>
                  <a:srgbClr val="94A3B8"/>
                </a:solidFill>
                <a:latin typeface="Arial"/>
                <a:ea typeface="Arial"/>
                <a:cs typeface="Arial"/>
                <a:sym typeface="Arial"/>
              </a:rPr>
              <a:t>Every worker holds a full copy</a:t>
            </a:r>
          </a:p>
        </p:txBody>
      </p:sp>
      <p:sp>
        <p:nvSpPr>
          <p:cNvPr id="12" name="TextBox 12"/>
          <p:cNvSpPr txBox="1"/>
          <p:nvPr/>
        </p:nvSpPr>
        <p:spPr>
          <a:xfrm>
            <a:off x="9580683" y="4298756"/>
            <a:ext cx="7254135" cy="438150"/>
          </a:xfrm>
          <a:prstGeom prst="rect">
            <a:avLst/>
          </a:prstGeom>
        </p:spPr>
        <p:txBody>
          <a:bodyPr lIns="0" tIns="0" rIns="0" bIns="0" rtlCol="0" anchor="t">
            <a:spAutoFit/>
          </a:bodyPr>
          <a:lstStyle/>
          <a:p>
            <a:pPr algn="ctr">
              <a:lnSpc>
                <a:spcPts val="3359"/>
              </a:lnSpc>
            </a:pPr>
            <a:r>
              <a:rPr lang="en-US" sz="2799" b="1">
                <a:solidFill>
                  <a:srgbClr val="22D3EE"/>
                </a:solidFill>
                <a:latin typeface="Arial Bold"/>
                <a:ea typeface="Arial Bold"/>
                <a:cs typeface="Arial Bold"/>
                <a:sym typeface="Arial Bold"/>
              </a:rPr>
              <a:t>SHARDED</a:t>
            </a:r>
          </a:p>
        </p:txBody>
      </p:sp>
      <p:sp>
        <p:nvSpPr>
          <p:cNvPr id="13" name="TextBox 13"/>
          <p:cNvSpPr txBox="1"/>
          <p:nvPr/>
        </p:nvSpPr>
        <p:spPr>
          <a:xfrm>
            <a:off x="9580683" y="4828880"/>
            <a:ext cx="7254135" cy="295275"/>
          </a:xfrm>
          <a:prstGeom prst="rect">
            <a:avLst/>
          </a:prstGeom>
        </p:spPr>
        <p:txBody>
          <a:bodyPr lIns="0" tIns="0" rIns="0" bIns="0" rtlCol="0" anchor="t">
            <a:spAutoFit/>
          </a:bodyPr>
          <a:lstStyle/>
          <a:p>
            <a:pPr algn="ctr">
              <a:lnSpc>
                <a:spcPts val="2400"/>
              </a:lnSpc>
            </a:pPr>
            <a:r>
              <a:rPr lang="en-US" sz="2000">
                <a:solidFill>
                  <a:srgbClr val="94A3B8"/>
                </a:solidFill>
                <a:latin typeface="Arial"/>
                <a:ea typeface="Arial"/>
                <a:cs typeface="Arial"/>
                <a:sym typeface="Arial"/>
              </a:rPr>
              <a:t>Each worker holds a slice</a:t>
            </a:r>
          </a:p>
        </p:txBody>
      </p:sp>
      <p:grpSp>
        <p:nvGrpSpPr>
          <p:cNvPr id="14" name="Group 14"/>
          <p:cNvGrpSpPr/>
          <p:nvPr/>
        </p:nvGrpSpPr>
        <p:grpSpPr>
          <a:xfrm>
            <a:off x="2012756" y="5568848"/>
            <a:ext cx="1384106" cy="1384106"/>
            <a:chOff x="0" y="0"/>
            <a:chExt cx="1845475" cy="1845475"/>
          </a:xfrm>
        </p:grpSpPr>
        <p:sp>
          <p:nvSpPr>
            <p:cNvPr id="15" name="Freeform 15"/>
            <p:cNvSpPr/>
            <p:nvPr/>
          </p:nvSpPr>
          <p:spPr>
            <a:xfrm>
              <a:off x="25400" y="25400"/>
              <a:ext cx="1794764" cy="1794764"/>
            </a:xfrm>
            <a:custGeom>
              <a:avLst/>
              <a:gdLst/>
              <a:ahLst/>
              <a:cxnLst/>
              <a:rect l="l" t="t" r="r" b="b"/>
              <a:pathLst>
                <a:path w="1794764" h="1794764">
                  <a:moveTo>
                    <a:pt x="0" y="135509"/>
                  </a:moveTo>
                  <a:cubicBezTo>
                    <a:pt x="0" y="60706"/>
                    <a:pt x="60706" y="0"/>
                    <a:pt x="135509" y="0"/>
                  </a:cubicBezTo>
                  <a:lnTo>
                    <a:pt x="1659255" y="0"/>
                  </a:lnTo>
                  <a:cubicBezTo>
                    <a:pt x="1734058" y="0"/>
                    <a:pt x="1794764" y="60706"/>
                    <a:pt x="1794764" y="135509"/>
                  </a:cubicBezTo>
                  <a:lnTo>
                    <a:pt x="1794764" y="1659255"/>
                  </a:lnTo>
                  <a:cubicBezTo>
                    <a:pt x="1794764" y="1734058"/>
                    <a:pt x="1734058" y="1794764"/>
                    <a:pt x="1659255" y="1794764"/>
                  </a:cubicBezTo>
                  <a:lnTo>
                    <a:pt x="135509" y="1794764"/>
                  </a:lnTo>
                  <a:cubicBezTo>
                    <a:pt x="60706" y="1794637"/>
                    <a:pt x="0" y="1734058"/>
                    <a:pt x="0" y="1659255"/>
                  </a:cubicBezTo>
                  <a:close/>
                </a:path>
              </a:pathLst>
            </a:custGeom>
            <a:solidFill>
              <a:srgbClr val="0A1628"/>
            </a:solidFill>
          </p:spPr>
          <p:txBody>
            <a:bodyPr/>
            <a:lstStyle/>
            <a:p>
              <a:endParaRPr lang="en-US"/>
            </a:p>
          </p:txBody>
        </p:sp>
        <p:sp>
          <p:nvSpPr>
            <p:cNvPr id="16" name="Freeform 16"/>
            <p:cNvSpPr/>
            <p:nvPr/>
          </p:nvSpPr>
          <p:spPr>
            <a:xfrm>
              <a:off x="0" y="0"/>
              <a:ext cx="1845564" cy="1845564"/>
            </a:xfrm>
            <a:custGeom>
              <a:avLst/>
              <a:gdLst/>
              <a:ahLst/>
              <a:cxnLst/>
              <a:rect l="l" t="t" r="r" b="b"/>
              <a:pathLst>
                <a:path w="1845564" h="1845564">
                  <a:moveTo>
                    <a:pt x="0" y="160909"/>
                  </a:moveTo>
                  <a:cubicBezTo>
                    <a:pt x="0" y="72009"/>
                    <a:pt x="72009" y="0"/>
                    <a:pt x="160909" y="0"/>
                  </a:cubicBezTo>
                  <a:lnTo>
                    <a:pt x="1684655" y="0"/>
                  </a:lnTo>
                  <a:lnTo>
                    <a:pt x="1684655" y="25400"/>
                  </a:lnTo>
                  <a:lnTo>
                    <a:pt x="1684655" y="0"/>
                  </a:lnTo>
                  <a:cubicBezTo>
                    <a:pt x="1773555" y="0"/>
                    <a:pt x="1845564" y="72009"/>
                    <a:pt x="1845564" y="160909"/>
                  </a:cubicBezTo>
                  <a:lnTo>
                    <a:pt x="1820164" y="160909"/>
                  </a:lnTo>
                  <a:lnTo>
                    <a:pt x="1845564" y="160909"/>
                  </a:lnTo>
                  <a:lnTo>
                    <a:pt x="1845564" y="1684655"/>
                  </a:lnTo>
                  <a:lnTo>
                    <a:pt x="1820164" y="1684655"/>
                  </a:lnTo>
                  <a:lnTo>
                    <a:pt x="1845564" y="1684655"/>
                  </a:lnTo>
                  <a:cubicBezTo>
                    <a:pt x="1845564" y="1773555"/>
                    <a:pt x="1773555" y="1845564"/>
                    <a:pt x="1684655" y="1845564"/>
                  </a:cubicBezTo>
                  <a:lnTo>
                    <a:pt x="1684655" y="1820164"/>
                  </a:lnTo>
                  <a:lnTo>
                    <a:pt x="1684655" y="1845564"/>
                  </a:lnTo>
                  <a:lnTo>
                    <a:pt x="160909" y="1845564"/>
                  </a:lnTo>
                  <a:lnTo>
                    <a:pt x="160909" y="1820164"/>
                  </a:lnTo>
                  <a:lnTo>
                    <a:pt x="160909" y="1845564"/>
                  </a:lnTo>
                  <a:cubicBezTo>
                    <a:pt x="72009" y="1845564"/>
                    <a:pt x="0" y="1773555"/>
                    <a:pt x="0" y="1684655"/>
                  </a:cubicBezTo>
                  <a:lnTo>
                    <a:pt x="0" y="160909"/>
                  </a:lnTo>
                  <a:lnTo>
                    <a:pt x="25400" y="160909"/>
                  </a:lnTo>
                  <a:lnTo>
                    <a:pt x="0" y="160909"/>
                  </a:lnTo>
                  <a:moveTo>
                    <a:pt x="50800" y="160909"/>
                  </a:moveTo>
                  <a:lnTo>
                    <a:pt x="50800" y="1684655"/>
                  </a:lnTo>
                  <a:lnTo>
                    <a:pt x="25400" y="1684655"/>
                  </a:lnTo>
                  <a:lnTo>
                    <a:pt x="50800" y="1684655"/>
                  </a:lnTo>
                  <a:cubicBezTo>
                    <a:pt x="50800" y="1745488"/>
                    <a:pt x="100076" y="1794764"/>
                    <a:pt x="160909" y="1794764"/>
                  </a:cubicBezTo>
                  <a:lnTo>
                    <a:pt x="1684655" y="1794764"/>
                  </a:lnTo>
                  <a:cubicBezTo>
                    <a:pt x="1745488" y="1794764"/>
                    <a:pt x="1794764" y="1745488"/>
                    <a:pt x="1794764" y="1684655"/>
                  </a:cubicBezTo>
                  <a:lnTo>
                    <a:pt x="1794764" y="160909"/>
                  </a:lnTo>
                  <a:cubicBezTo>
                    <a:pt x="1794764" y="100076"/>
                    <a:pt x="1745488" y="50800"/>
                    <a:pt x="1684655" y="50800"/>
                  </a:cubicBezTo>
                  <a:lnTo>
                    <a:pt x="160909" y="50800"/>
                  </a:lnTo>
                  <a:lnTo>
                    <a:pt x="160909" y="25400"/>
                  </a:lnTo>
                  <a:lnTo>
                    <a:pt x="160909" y="50800"/>
                  </a:lnTo>
                  <a:cubicBezTo>
                    <a:pt x="100076" y="50800"/>
                    <a:pt x="50800" y="100076"/>
                    <a:pt x="50800" y="160909"/>
                  </a:cubicBezTo>
                  <a:close/>
                </a:path>
              </a:pathLst>
            </a:custGeom>
            <a:solidFill>
              <a:srgbClr val="22D3EE"/>
            </a:solidFill>
          </p:spPr>
          <p:txBody>
            <a:bodyPr/>
            <a:lstStyle/>
            <a:p>
              <a:endParaRPr lang="en-US"/>
            </a:p>
          </p:txBody>
        </p:sp>
      </p:grpSp>
      <p:grpSp>
        <p:nvGrpSpPr>
          <p:cNvPr id="17" name="Group 17"/>
          <p:cNvGrpSpPr/>
          <p:nvPr/>
        </p:nvGrpSpPr>
        <p:grpSpPr>
          <a:xfrm>
            <a:off x="3663848" y="5568848"/>
            <a:ext cx="1384106" cy="1384106"/>
            <a:chOff x="0" y="0"/>
            <a:chExt cx="1845475" cy="1845475"/>
          </a:xfrm>
        </p:grpSpPr>
        <p:sp>
          <p:nvSpPr>
            <p:cNvPr id="18" name="Freeform 18"/>
            <p:cNvSpPr/>
            <p:nvPr/>
          </p:nvSpPr>
          <p:spPr>
            <a:xfrm>
              <a:off x="25400" y="25400"/>
              <a:ext cx="1794764" cy="1794764"/>
            </a:xfrm>
            <a:custGeom>
              <a:avLst/>
              <a:gdLst/>
              <a:ahLst/>
              <a:cxnLst/>
              <a:rect l="l" t="t" r="r" b="b"/>
              <a:pathLst>
                <a:path w="1794764" h="1794764">
                  <a:moveTo>
                    <a:pt x="0" y="135509"/>
                  </a:moveTo>
                  <a:cubicBezTo>
                    <a:pt x="0" y="60706"/>
                    <a:pt x="60706" y="0"/>
                    <a:pt x="135509" y="0"/>
                  </a:cubicBezTo>
                  <a:lnTo>
                    <a:pt x="1659255" y="0"/>
                  </a:lnTo>
                  <a:cubicBezTo>
                    <a:pt x="1734058" y="0"/>
                    <a:pt x="1794764" y="60706"/>
                    <a:pt x="1794764" y="135509"/>
                  </a:cubicBezTo>
                  <a:lnTo>
                    <a:pt x="1794764" y="1659255"/>
                  </a:lnTo>
                  <a:cubicBezTo>
                    <a:pt x="1794764" y="1734058"/>
                    <a:pt x="1734058" y="1794764"/>
                    <a:pt x="1659255" y="1794764"/>
                  </a:cubicBezTo>
                  <a:lnTo>
                    <a:pt x="135509" y="1794764"/>
                  </a:lnTo>
                  <a:cubicBezTo>
                    <a:pt x="60706" y="1794637"/>
                    <a:pt x="0" y="1734058"/>
                    <a:pt x="0" y="1659255"/>
                  </a:cubicBezTo>
                  <a:close/>
                </a:path>
              </a:pathLst>
            </a:custGeom>
            <a:solidFill>
              <a:srgbClr val="0A1628"/>
            </a:solidFill>
          </p:spPr>
          <p:txBody>
            <a:bodyPr/>
            <a:lstStyle/>
            <a:p>
              <a:endParaRPr lang="en-US"/>
            </a:p>
          </p:txBody>
        </p:sp>
        <p:sp>
          <p:nvSpPr>
            <p:cNvPr id="19" name="Freeform 19"/>
            <p:cNvSpPr/>
            <p:nvPr/>
          </p:nvSpPr>
          <p:spPr>
            <a:xfrm>
              <a:off x="0" y="0"/>
              <a:ext cx="1845564" cy="1845564"/>
            </a:xfrm>
            <a:custGeom>
              <a:avLst/>
              <a:gdLst/>
              <a:ahLst/>
              <a:cxnLst/>
              <a:rect l="l" t="t" r="r" b="b"/>
              <a:pathLst>
                <a:path w="1845564" h="1845564">
                  <a:moveTo>
                    <a:pt x="0" y="160909"/>
                  </a:moveTo>
                  <a:cubicBezTo>
                    <a:pt x="0" y="72009"/>
                    <a:pt x="72009" y="0"/>
                    <a:pt x="160909" y="0"/>
                  </a:cubicBezTo>
                  <a:lnTo>
                    <a:pt x="1684655" y="0"/>
                  </a:lnTo>
                  <a:lnTo>
                    <a:pt x="1684655" y="25400"/>
                  </a:lnTo>
                  <a:lnTo>
                    <a:pt x="1684655" y="0"/>
                  </a:lnTo>
                  <a:cubicBezTo>
                    <a:pt x="1773555" y="0"/>
                    <a:pt x="1845564" y="72009"/>
                    <a:pt x="1845564" y="160909"/>
                  </a:cubicBezTo>
                  <a:lnTo>
                    <a:pt x="1820164" y="160909"/>
                  </a:lnTo>
                  <a:lnTo>
                    <a:pt x="1845564" y="160909"/>
                  </a:lnTo>
                  <a:lnTo>
                    <a:pt x="1845564" y="1684655"/>
                  </a:lnTo>
                  <a:lnTo>
                    <a:pt x="1820164" y="1684655"/>
                  </a:lnTo>
                  <a:lnTo>
                    <a:pt x="1845564" y="1684655"/>
                  </a:lnTo>
                  <a:cubicBezTo>
                    <a:pt x="1845564" y="1773555"/>
                    <a:pt x="1773555" y="1845564"/>
                    <a:pt x="1684655" y="1845564"/>
                  </a:cubicBezTo>
                  <a:lnTo>
                    <a:pt x="1684655" y="1820164"/>
                  </a:lnTo>
                  <a:lnTo>
                    <a:pt x="1684655" y="1845564"/>
                  </a:lnTo>
                  <a:lnTo>
                    <a:pt x="160909" y="1845564"/>
                  </a:lnTo>
                  <a:lnTo>
                    <a:pt x="160909" y="1820164"/>
                  </a:lnTo>
                  <a:lnTo>
                    <a:pt x="160909" y="1845564"/>
                  </a:lnTo>
                  <a:cubicBezTo>
                    <a:pt x="72009" y="1845564"/>
                    <a:pt x="0" y="1773555"/>
                    <a:pt x="0" y="1684655"/>
                  </a:cubicBezTo>
                  <a:lnTo>
                    <a:pt x="0" y="160909"/>
                  </a:lnTo>
                  <a:lnTo>
                    <a:pt x="25400" y="160909"/>
                  </a:lnTo>
                  <a:lnTo>
                    <a:pt x="0" y="160909"/>
                  </a:lnTo>
                  <a:moveTo>
                    <a:pt x="50800" y="160909"/>
                  </a:moveTo>
                  <a:lnTo>
                    <a:pt x="50800" y="1684655"/>
                  </a:lnTo>
                  <a:lnTo>
                    <a:pt x="25400" y="1684655"/>
                  </a:lnTo>
                  <a:lnTo>
                    <a:pt x="50800" y="1684655"/>
                  </a:lnTo>
                  <a:cubicBezTo>
                    <a:pt x="50800" y="1745488"/>
                    <a:pt x="100076" y="1794764"/>
                    <a:pt x="160909" y="1794764"/>
                  </a:cubicBezTo>
                  <a:lnTo>
                    <a:pt x="1684655" y="1794764"/>
                  </a:lnTo>
                  <a:cubicBezTo>
                    <a:pt x="1745488" y="1794764"/>
                    <a:pt x="1794764" y="1745488"/>
                    <a:pt x="1794764" y="1684655"/>
                  </a:cubicBezTo>
                  <a:lnTo>
                    <a:pt x="1794764" y="160909"/>
                  </a:lnTo>
                  <a:cubicBezTo>
                    <a:pt x="1794764" y="100076"/>
                    <a:pt x="1745488" y="50800"/>
                    <a:pt x="1684655" y="50800"/>
                  </a:cubicBezTo>
                  <a:lnTo>
                    <a:pt x="160909" y="50800"/>
                  </a:lnTo>
                  <a:lnTo>
                    <a:pt x="160909" y="25400"/>
                  </a:lnTo>
                  <a:lnTo>
                    <a:pt x="160909" y="50800"/>
                  </a:lnTo>
                  <a:cubicBezTo>
                    <a:pt x="100076" y="50800"/>
                    <a:pt x="50800" y="100076"/>
                    <a:pt x="50800" y="160909"/>
                  </a:cubicBezTo>
                  <a:close/>
                </a:path>
              </a:pathLst>
            </a:custGeom>
            <a:solidFill>
              <a:srgbClr val="22D3EE"/>
            </a:solidFill>
          </p:spPr>
          <p:txBody>
            <a:bodyPr/>
            <a:lstStyle/>
            <a:p>
              <a:endParaRPr lang="en-US"/>
            </a:p>
          </p:txBody>
        </p:sp>
      </p:grpSp>
      <p:grpSp>
        <p:nvGrpSpPr>
          <p:cNvPr id="20" name="Group 20"/>
          <p:cNvGrpSpPr/>
          <p:nvPr/>
        </p:nvGrpSpPr>
        <p:grpSpPr>
          <a:xfrm>
            <a:off x="2012756" y="7219950"/>
            <a:ext cx="1384106" cy="1384106"/>
            <a:chOff x="0" y="0"/>
            <a:chExt cx="1845475" cy="1845475"/>
          </a:xfrm>
        </p:grpSpPr>
        <p:sp>
          <p:nvSpPr>
            <p:cNvPr id="21" name="Freeform 21"/>
            <p:cNvSpPr/>
            <p:nvPr/>
          </p:nvSpPr>
          <p:spPr>
            <a:xfrm>
              <a:off x="25400" y="25400"/>
              <a:ext cx="1794764" cy="1794764"/>
            </a:xfrm>
            <a:custGeom>
              <a:avLst/>
              <a:gdLst/>
              <a:ahLst/>
              <a:cxnLst/>
              <a:rect l="l" t="t" r="r" b="b"/>
              <a:pathLst>
                <a:path w="1794764" h="1794764">
                  <a:moveTo>
                    <a:pt x="0" y="135509"/>
                  </a:moveTo>
                  <a:cubicBezTo>
                    <a:pt x="0" y="60706"/>
                    <a:pt x="60706" y="0"/>
                    <a:pt x="135509" y="0"/>
                  </a:cubicBezTo>
                  <a:lnTo>
                    <a:pt x="1659255" y="0"/>
                  </a:lnTo>
                  <a:cubicBezTo>
                    <a:pt x="1734058" y="0"/>
                    <a:pt x="1794764" y="60706"/>
                    <a:pt x="1794764" y="135509"/>
                  </a:cubicBezTo>
                  <a:lnTo>
                    <a:pt x="1794764" y="1659255"/>
                  </a:lnTo>
                  <a:cubicBezTo>
                    <a:pt x="1794764" y="1734058"/>
                    <a:pt x="1734058" y="1794764"/>
                    <a:pt x="1659255" y="1794764"/>
                  </a:cubicBezTo>
                  <a:lnTo>
                    <a:pt x="135509" y="1794764"/>
                  </a:lnTo>
                  <a:cubicBezTo>
                    <a:pt x="60706" y="1794637"/>
                    <a:pt x="0" y="1734058"/>
                    <a:pt x="0" y="1659255"/>
                  </a:cubicBezTo>
                  <a:close/>
                </a:path>
              </a:pathLst>
            </a:custGeom>
            <a:solidFill>
              <a:srgbClr val="0A1628"/>
            </a:solidFill>
          </p:spPr>
          <p:txBody>
            <a:bodyPr/>
            <a:lstStyle/>
            <a:p>
              <a:endParaRPr lang="en-US"/>
            </a:p>
          </p:txBody>
        </p:sp>
        <p:sp>
          <p:nvSpPr>
            <p:cNvPr id="22" name="Freeform 22"/>
            <p:cNvSpPr/>
            <p:nvPr/>
          </p:nvSpPr>
          <p:spPr>
            <a:xfrm>
              <a:off x="0" y="0"/>
              <a:ext cx="1845564" cy="1845564"/>
            </a:xfrm>
            <a:custGeom>
              <a:avLst/>
              <a:gdLst/>
              <a:ahLst/>
              <a:cxnLst/>
              <a:rect l="l" t="t" r="r" b="b"/>
              <a:pathLst>
                <a:path w="1845564" h="1845564">
                  <a:moveTo>
                    <a:pt x="0" y="160909"/>
                  </a:moveTo>
                  <a:cubicBezTo>
                    <a:pt x="0" y="72009"/>
                    <a:pt x="72009" y="0"/>
                    <a:pt x="160909" y="0"/>
                  </a:cubicBezTo>
                  <a:lnTo>
                    <a:pt x="1684655" y="0"/>
                  </a:lnTo>
                  <a:lnTo>
                    <a:pt x="1684655" y="25400"/>
                  </a:lnTo>
                  <a:lnTo>
                    <a:pt x="1684655" y="0"/>
                  </a:lnTo>
                  <a:cubicBezTo>
                    <a:pt x="1773555" y="0"/>
                    <a:pt x="1845564" y="72009"/>
                    <a:pt x="1845564" y="160909"/>
                  </a:cubicBezTo>
                  <a:lnTo>
                    <a:pt x="1820164" y="160909"/>
                  </a:lnTo>
                  <a:lnTo>
                    <a:pt x="1845564" y="160909"/>
                  </a:lnTo>
                  <a:lnTo>
                    <a:pt x="1845564" y="1684655"/>
                  </a:lnTo>
                  <a:lnTo>
                    <a:pt x="1820164" y="1684655"/>
                  </a:lnTo>
                  <a:lnTo>
                    <a:pt x="1845564" y="1684655"/>
                  </a:lnTo>
                  <a:cubicBezTo>
                    <a:pt x="1845564" y="1773555"/>
                    <a:pt x="1773555" y="1845564"/>
                    <a:pt x="1684655" y="1845564"/>
                  </a:cubicBezTo>
                  <a:lnTo>
                    <a:pt x="1684655" y="1820164"/>
                  </a:lnTo>
                  <a:lnTo>
                    <a:pt x="1684655" y="1845564"/>
                  </a:lnTo>
                  <a:lnTo>
                    <a:pt x="160909" y="1845564"/>
                  </a:lnTo>
                  <a:lnTo>
                    <a:pt x="160909" y="1820164"/>
                  </a:lnTo>
                  <a:lnTo>
                    <a:pt x="160909" y="1845564"/>
                  </a:lnTo>
                  <a:cubicBezTo>
                    <a:pt x="72009" y="1845564"/>
                    <a:pt x="0" y="1773555"/>
                    <a:pt x="0" y="1684655"/>
                  </a:cubicBezTo>
                  <a:lnTo>
                    <a:pt x="0" y="160909"/>
                  </a:lnTo>
                  <a:lnTo>
                    <a:pt x="25400" y="160909"/>
                  </a:lnTo>
                  <a:lnTo>
                    <a:pt x="0" y="160909"/>
                  </a:lnTo>
                  <a:moveTo>
                    <a:pt x="50800" y="160909"/>
                  </a:moveTo>
                  <a:lnTo>
                    <a:pt x="50800" y="1684655"/>
                  </a:lnTo>
                  <a:lnTo>
                    <a:pt x="25400" y="1684655"/>
                  </a:lnTo>
                  <a:lnTo>
                    <a:pt x="50800" y="1684655"/>
                  </a:lnTo>
                  <a:cubicBezTo>
                    <a:pt x="50800" y="1745488"/>
                    <a:pt x="100076" y="1794764"/>
                    <a:pt x="160909" y="1794764"/>
                  </a:cubicBezTo>
                  <a:lnTo>
                    <a:pt x="1684655" y="1794764"/>
                  </a:lnTo>
                  <a:cubicBezTo>
                    <a:pt x="1745488" y="1794764"/>
                    <a:pt x="1794764" y="1745488"/>
                    <a:pt x="1794764" y="1684655"/>
                  </a:cubicBezTo>
                  <a:lnTo>
                    <a:pt x="1794764" y="160909"/>
                  </a:lnTo>
                  <a:cubicBezTo>
                    <a:pt x="1794764" y="100076"/>
                    <a:pt x="1745488" y="50800"/>
                    <a:pt x="1684655" y="50800"/>
                  </a:cubicBezTo>
                  <a:lnTo>
                    <a:pt x="160909" y="50800"/>
                  </a:lnTo>
                  <a:lnTo>
                    <a:pt x="160909" y="25400"/>
                  </a:lnTo>
                  <a:lnTo>
                    <a:pt x="160909" y="50800"/>
                  </a:lnTo>
                  <a:cubicBezTo>
                    <a:pt x="100076" y="50800"/>
                    <a:pt x="50800" y="100076"/>
                    <a:pt x="50800" y="160909"/>
                  </a:cubicBezTo>
                  <a:close/>
                </a:path>
              </a:pathLst>
            </a:custGeom>
            <a:solidFill>
              <a:srgbClr val="22D3EE"/>
            </a:solidFill>
          </p:spPr>
          <p:txBody>
            <a:bodyPr/>
            <a:lstStyle/>
            <a:p>
              <a:endParaRPr lang="en-US"/>
            </a:p>
          </p:txBody>
        </p:sp>
      </p:grpSp>
      <p:grpSp>
        <p:nvGrpSpPr>
          <p:cNvPr id="23" name="Group 23"/>
          <p:cNvGrpSpPr/>
          <p:nvPr/>
        </p:nvGrpSpPr>
        <p:grpSpPr>
          <a:xfrm>
            <a:off x="3663848" y="7219950"/>
            <a:ext cx="1384106" cy="1384106"/>
            <a:chOff x="0" y="0"/>
            <a:chExt cx="1845475" cy="1845475"/>
          </a:xfrm>
        </p:grpSpPr>
        <p:sp>
          <p:nvSpPr>
            <p:cNvPr id="24" name="Freeform 24"/>
            <p:cNvSpPr/>
            <p:nvPr/>
          </p:nvSpPr>
          <p:spPr>
            <a:xfrm>
              <a:off x="25400" y="25400"/>
              <a:ext cx="1794764" cy="1794764"/>
            </a:xfrm>
            <a:custGeom>
              <a:avLst/>
              <a:gdLst/>
              <a:ahLst/>
              <a:cxnLst/>
              <a:rect l="l" t="t" r="r" b="b"/>
              <a:pathLst>
                <a:path w="1794764" h="1794764">
                  <a:moveTo>
                    <a:pt x="0" y="135509"/>
                  </a:moveTo>
                  <a:cubicBezTo>
                    <a:pt x="0" y="60706"/>
                    <a:pt x="60706" y="0"/>
                    <a:pt x="135509" y="0"/>
                  </a:cubicBezTo>
                  <a:lnTo>
                    <a:pt x="1659255" y="0"/>
                  </a:lnTo>
                  <a:cubicBezTo>
                    <a:pt x="1734058" y="0"/>
                    <a:pt x="1794764" y="60706"/>
                    <a:pt x="1794764" y="135509"/>
                  </a:cubicBezTo>
                  <a:lnTo>
                    <a:pt x="1794764" y="1659255"/>
                  </a:lnTo>
                  <a:cubicBezTo>
                    <a:pt x="1794764" y="1734058"/>
                    <a:pt x="1734058" y="1794764"/>
                    <a:pt x="1659255" y="1794764"/>
                  </a:cubicBezTo>
                  <a:lnTo>
                    <a:pt x="135509" y="1794764"/>
                  </a:lnTo>
                  <a:cubicBezTo>
                    <a:pt x="60706" y="1794637"/>
                    <a:pt x="0" y="1734058"/>
                    <a:pt x="0" y="1659255"/>
                  </a:cubicBezTo>
                  <a:close/>
                </a:path>
              </a:pathLst>
            </a:custGeom>
            <a:solidFill>
              <a:srgbClr val="0A1628"/>
            </a:solidFill>
          </p:spPr>
          <p:txBody>
            <a:bodyPr/>
            <a:lstStyle/>
            <a:p>
              <a:endParaRPr lang="en-US"/>
            </a:p>
          </p:txBody>
        </p:sp>
        <p:sp>
          <p:nvSpPr>
            <p:cNvPr id="25" name="Freeform 25"/>
            <p:cNvSpPr/>
            <p:nvPr/>
          </p:nvSpPr>
          <p:spPr>
            <a:xfrm>
              <a:off x="0" y="0"/>
              <a:ext cx="1845564" cy="1845564"/>
            </a:xfrm>
            <a:custGeom>
              <a:avLst/>
              <a:gdLst/>
              <a:ahLst/>
              <a:cxnLst/>
              <a:rect l="l" t="t" r="r" b="b"/>
              <a:pathLst>
                <a:path w="1845564" h="1845564">
                  <a:moveTo>
                    <a:pt x="0" y="160909"/>
                  </a:moveTo>
                  <a:cubicBezTo>
                    <a:pt x="0" y="72009"/>
                    <a:pt x="72009" y="0"/>
                    <a:pt x="160909" y="0"/>
                  </a:cubicBezTo>
                  <a:lnTo>
                    <a:pt x="1684655" y="0"/>
                  </a:lnTo>
                  <a:lnTo>
                    <a:pt x="1684655" y="25400"/>
                  </a:lnTo>
                  <a:lnTo>
                    <a:pt x="1684655" y="0"/>
                  </a:lnTo>
                  <a:cubicBezTo>
                    <a:pt x="1773555" y="0"/>
                    <a:pt x="1845564" y="72009"/>
                    <a:pt x="1845564" y="160909"/>
                  </a:cubicBezTo>
                  <a:lnTo>
                    <a:pt x="1820164" y="160909"/>
                  </a:lnTo>
                  <a:lnTo>
                    <a:pt x="1845564" y="160909"/>
                  </a:lnTo>
                  <a:lnTo>
                    <a:pt x="1845564" y="1684655"/>
                  </a:lnTo>
                  <a:lnTo>
                    <a:pt x="1820164" y="1684655"/>
                  </a:lnTo>
                  <a:lnTo>
                    <a:pt x="1845564" y="1684655"/>
                  </a:lnTo>
                  <a:cubicBezTo>
                    <a:pt x="1845564" y="1773555"/>
                    <a:pt x="1773555" y="1845564"/>
                    <a:pt x="1684655" y="1845564"/>
                  </a:cubicBezTo>
                  <a:lnTo>
                    <a:pt x="1684655" y="1820164"/>
                  </a:lnTo>
                  <a:lnTo>
                    <a:pt x="1684655" y="1845564"/>
                  </a:lnTo>
                  <a:lnTo>
                    <a:pt x="160909" y="1845564"/>
                  </a:lnTo>
                  <a:lnTo>
                    <a:pt x="160909" y="1820164"/>
                  </a:lnTo>
                  <a:lnTo>
                    <a:pt x="160909" y="1845564"/>
                  </a:lnTo>
                  <a:cubicBezTo>
                    <a:pt x="72009" y="1845564"/>
                    <a:pt x="0" y="1773555"/>
                    <a:pt x="0" y="1684655"/>
                  </a:cubicBezTo>
                  <a:lnTo>
                    <a:pt x="0" y="160909"/>
                  </a:lnTo>
                  <a:lnTo>
                    <a:pt x="25400" y="160909"/>
                  </a:lnTo>
                  <a:lnTo>
                    <a:pt x="0" y="160909"/>
                  </a:lnTo>
                  <a:moveTo>
                    <a:pt x="50800" y="160909"/>
                  </a:moveTo>
                  <a:lnTo>
                    <a:pt x="50800" y="1684655"/>
                  </a:lnTo>
                  <a:lnTo>
                    <a:pt x="25400" y="1684655"/>
                  </a:lnTo>
                  <a:lnTo>
                    <a:pt x="50800" y="1684655"/>
                  </a:lnTo>
                  <a:cubicBezTo>
                    <a:pt x="50800" y="1745488"/>
                    <a:pt x="100076" y="1794764"/>
                    <a:pt x="160909" y="1794764"/>
                  </a:cubicBezTo>
                  <a:lnTo>
                    <a:pt x="1684655" y="1794764"/>
                  </a:lnTo>
                  <a:cubicBezTo>
                    <a:pt x="1745488" y="1794764"/>
                    <a:pt x="1794764" y="1745488"/>
                    <a:pt x="1794764" y="1684655"/>
                  </a:cubicBezTo>
                  <a:lnTo>
                    <a:pt x="1794764" y="160909"/>
                  </a:lnTo>
                  <a:cubicBezTo>
                    <a:pt x="1794764" y="100076"/>
                    <a:pt x="1745488" y="50800"/>
                    <a:pt x="1684655" y="50800"/>
                  </a:cubicBezTo>
                  <a:lnTo>
                    <a:pt x="160909" y="50800"/>
                  </a:lnTo>
                  <a:lnTo>
                    <a:pt x="160909" y="25400"/>
                  </a:lnTo>
                  <a:lnTo>
                    <a:pt x="160909" y="50800"/>
                  </a:lnTo>
                  <a:cubicBezTo>
                    <a:pt x="100076" y="50800"/>
                    <a:pt x="50800" y="100076"/>
                    <a:pt x="50800" y="160909"/>
                  </a:cubicBezTo>
                  <a:close/>
                </a:path>
              </a:pathLst>
            </a:custGeom>
            <a:solidFill>
              <a:srgbClr val="22D3EE"/>
            </a:solidFill>
          </p:spPr>
          <p:txBody>
            <a:bodyPr/>
            <a:lstStyle/>
            <a:p>
              <a:endParaRPr lang="en-US"/>
            </a:p>
          </p:txBody>
        </p:sp>
      </p:grpSp>
      <p:grpSp>
        <p:nvGrpSpPr>
          <p:cNvPr id="26" name="Group 26"/>
          <p:cNvGrpSpPr/>
          <p:nvPr/>
        </p:nvGrpSpPr>
        <p:grpSpPr>
          <a:xfrm>
            <a:off x="2209800" y="5765606"/>
            <a:ext cx="914400" cy="914400"/>
            <a:chOff x="0" y="0"/>
            <a:chExt cx="1219200" cy="1219200"/>
          </a:xfrm>
        </p:grpSpPr>
        <p:sp>
          <p:nvSpPr>
            <p:cNvPr id="27" name="Freeform 27"/>
            <p:cNvSpPr/>
            <p:nvPr/>
          </p:nvSpPr>
          <p:spPr>
            <a:xfrm>
              <a:off x="0" y="0"/>
              <a:ext cx="1219200" cy="1219200"/>
            </a:xfrm>
            <a:custGeom>
              <a:avLst/>
              <a:gdLst/>
              <a:ahLst/>
              <a:cxnLst/>
              <a:rect l="l" t="t" r="r" b="b"/>
              <a:pathLst>
                <a:path w="1219200" h="1219200">
                  <a:moveTo>
                    <a:pt x="0" y="67691"/>
                  </a:moveTo>
                  <a:cubicBezTo>
                    <a:pt x="0" y="30353"/>
                    <a:pt x="30353" y="0"/>
                    <a:pt x="67691" y="0"/>
                  </a:cubicBezTo>
                  <a:lnTo>
                    <a:pt x="1151509" y="0"/>
                  </a:lnTo>
                  <a:cubicBezTo>
                    <a:pt x="1188847" y="0"/>
                    <a:pt x="1219200" y="30353"/>
                    <a:pt x="1219200" y="67691"/>
                  </a:cubicBezTo>
                  <a:lnTo>
                    <a:pt x="1219200" y="1151509"/>
                  </a:lnTo>
                  <a:cubicBezTo>
                    <a:pt x="1219200" y="1188847"/>
                    <a:pt x="1188847" y="1219200"/>
                    <a:pt x="1151509" y="1219200"/>
                  </a:cubicBezTo>
                  <a:lnTo>
                    <a:pt x="67691" y="1219200"/>
                  </a:lnTo>
                  <a:cubicBezTo>
                    <a:pt x="30353" y="1219200"/>
                    <a:pt x="0" y="1188847"/>
                    <a:pt x="0" y="1151509"/>
                  </a:cubicBezTo>
                  <a:close/>
                </a:path>
              </a:pathLst>
            </a:custGeom>
            <a:solidFill>
              <a:srgbClr val="22D3EE"/>
            </a:solidFill>
          </p:spPr>
          <p:txBody>
            <a:bodyPr/>
            <a:lstStyle/>
            <a:p>
              <a:endParaRPr lang="en-US"/>
            </a:p>
          </p:txBody>
        </p:sp>
      </p:grpSp>
      <p:grpSp>
        <p:nvGrpSpPr>
          <p:cNvPr id="28" name="Group 28"/>
          <p:cNvGrpSpPr/>
          <p:nvPr/>
        </p:nvGrpSpPr>
        <p:grpSpPr>
          <a:xfrm>
            <a:off x="3860606" y="5765606"/>
            <a:ext cx="914400" cy="914400"/>
            <a:chOff x="0" y="0"/>
            <a:chExt cx="1219200" cy="1219200"/>
          </a:xfrm>
        </p:grpSpPr>
        <p:sp>
          <p:nvSpPr>
            <p:cNvPr id="29" name="Freeform 29"/>
            <p:cNvSpPr/>
            <p:nvPr/>
          </p:nvSpPr>
          <p:spPr>
            <a:xfrm>
              <a:off x="0" y="0"/>
              <a:ext cx="1219200" cy="1219200"/>
            </a:xfrm>
            <a:custGeom>
              <a:avLst/>
              <a:gdLst/>
              <a:ahLst/>
              <a:cxnLst/>
              <a:rect l="l" t="t" r="r" b="b"/>
              <a:pathLst>
                <a:path w="1219200" h="1219200">
                  <a:moveTo>
                    <a:pt x="0" y="67691"/>
                  </a:moveTo>
                  <a:cubicBezTo>
                    <a:pt x="0" y="30353"/>
                    <a:pt x="30353" y="0"/>
                    <a:pt x="67691" y="0"/>
                  </a:cubicBezTo>
                  <a:lnTo>
                    <a:pt x="1151509" y="0"/>
                  </a:lnTo>
                  <a:cubicBezTo>
                    <a:pt x="1188847" y="0"/>
                    <a:pt x="1219200" y="30353"/>
                    <a:pt x="1219200" y="67691"/>
                  </a:cubicBezTo>
                  <a:lnTo>
                    <a:pt x="1219200" y="1151509"/>
                  </a:lnTo>
                  <a:cubicBezTo>
                    <a:pt x="1219200" y="1188847"/>
                    <a:pt x="1188847" y="1219200"/>
                    <a:pt x="1151509" y="1219200"/>
                  </a:cubicBezTo>
                  <a:lnTo>
                    <a:pt x="67691" y="1219200"/>
                  </a:lnTo>
                  <a:cubicBezTo>
                    <a:pt x="30353" y="1219200"/>
                    <a:pt x="0" y="1188847"/>
                    <a:pt x="0" y="1151509"/>
                  </a:cubicBezTo>
                  <a:close/>
                </a:path>
              </a:pathLst>
            </a:custGeom>
            <a:solidFill>
              <a:srgbClr val="22D3EE"/>
            </a:solidFill>
          </p:spPr>
          <p:txBody>
            <a:bodyPr/>
            <a:lstStyle/>
            <a:p>
              <a:endParaRPr lang="en-US"/>
            </a:p>
          </p:txBody>
        </p:sp>
      </p:grpSp>
      <p:grpSp>
        <p:nvGrpSpPr>
          <p:cNvPr id="30" name="Group 30"/>
          <p:cNvGrpSpPr/>
          <p:nvPr/>
        </p:nvGrpSpPr>
        <p:grpSpPr>
          <a:xfrm>
            <a:off x="2209800" y="7416698"/>
            <a:ext cx="914400" cy="914400"/>
            <a:chOff x="0" y="0"/>
            <a:chExt cx="1219200" cy="1219200"/>
          </a:xfrm>
        </p:grpSpPr>
        <p:sp>
          <p:nvSpPr>
            <p:cNvPr id="31" name="Freeform 31"/>
            <p:cNvSpPr/>
            <p:nvPr/>
          </p:nvSpPr>
          <p:spPr>
            <a:xfrm>
              <a:off x="0" y="0"/>
              <a:ext cx="1219200" cy="1219200"/>
            </a:xfrm>
            <a:custGeom>
              <a:avLst/>
              <a:gdLst/>
              <a:ahLst/>
              <a:cxnLst/>
              <a:rect l="l" t="t" r="r" b="b"/>
              <a:pathLst>
                <a:path w="1219200" h="1219200">
                  <a:moveTo>
                    <a:pt x="0" y="67691"/>
                  </a:moveTo>
                  <a:cubicBezTo>
                    <a:pt x="0" y="30353"/>
                    <a:pt x="30353" y="0"/>
                    <a:pt x="67691" y="0"/>
                  </a:cubicBezTo>
                  <a:lnTo>
                    <a:pt x="1151509" y="0"/>
                  </a:lnTo>
                  <a:cubicBezTo>
                    <a:pt x="1188847" y="0"/>
                    <a:pt x="1219200" y="30353"/>
                    <a:pt x="1219200" y="67691"/>
                  </a:cubicBezTo>
                  <a:lnTo>
                    <a:pt x="1219200" y="1151509"/>
                  </a:lnTo>
                  <a:cubicBezTo>
                    <a:pt x="1219200" y="1188847"/>
                    <a:pt x="1188847" y="1219200"/>
                    <a:pt x="1151509" y="1219200"/>
                  </a:cubicBezTo>
                  <a:lnTo>
                    <a:pt x="67691" y="1219200"/>
                  </a:lnTo>
                  <a:cubicBezTo>
                    <a:pt x="30353" y="1219200"/>
                    <a:pt x="0" y="1188847"/>
                    <a:pt x="0" y="1151509"/>
                  </a:cubicBezTo>
                  <a:close/>
                </a:path>
              </a:pathLst>
            </a:custGeom>
            <a:solidFill>
              <a:srgbClr val="22D3EE"/>
            </a:solidFill>
          </p:spPr>
          <p:txBody>
            <a:bodyPr/>
            <a:lstStyle/>
            <a:p>
              <a:endParaRPr lang="en-US"/>
            </a:p>
          </p:txBody>
        </p:sp>
      </p:grpSp>
      <p:grpSp>
        <p:nvGrpSpPr>
          <p:cNvPr id="32" name="Group 32"/>
          <p:cNvGrpSpPr/>
          <p:nvPr/>
        </p:nvGrpSpPr>
        <p:grpSpPr>
          <a:xfrm>
            <a:off x="3860606" y="7416698"/>
            <a:ext cx="914400" cy="914400"/>
            <a:chOff x="0" y="0"/>
            <a:chExt cx="1219200" cy="1219200"/>
          </a:xfrm>
        </p:grpSpPr>
        <p:sp>
          <p:nvSpPr>
            <p:cNvPr id="33" name="Freeform 33"/>
            <p:cNvSpPr/>
            <p:nvPr/>
          </p:nvSpPr>
          <p:spPr>
            <a:xfrm>
              <a:off x="0" y="0"/>
              <a:ext cx="1219200" cy="1219200"/>
            </a:xfrm>
            <a:custGeom>
              <a:avLst/>
              <a:gdLst/>
              <a:ahLst/>
              <a:cxnLst/>
              <a:rect l="l" t="t" r="r" b="b"/>
              <a:pathLst>
                <a:path w="1219200" h="1219200">
                  <a:moveTo>
                    <a:pt x="0" y="67691"/>
                  </a:moveTo>
                  <a:cubicBezTo>
                    <a:pt x="0" y="30353"/>
                    <a:pt x="30353" y="0"/>
                    <a:pt x="67691" y="0"/>
                  </a:cubicBezTo>
                  <a:lnTo>
                    <a:pt x="1151509" y="0"/>
                  </a:lnTo>
                  <a:cubicBezTo>
                    <a:pt x="1188847" y="0"/>
                    <a:pt x="1219200" y="30353"/>
                    <a:pt x="1219200" y="67691"/>
                  </a:cubicBezTo>
                  <a:lnTo>
                    <a:pt x="1219200" y="1151509"/>
                  </a:lnTo>
                  <a:cubicBezTo>
                    <a:pt x="1219200" y="1188847"/>
                    <a:pt x="1188847" y="1219200"/>
                    <a:pt x="1151509" y="1219200"/>
                  </a:cubicBezTo>
                  <a:lnTo>
                    <a:pt x="67691" y="1219200"/>
                  </a:lnTo>
                  <a:cubicBezTo>
                    <a:pt x="30353" y="1219200"/>
                    <a:pt x="0" y="1188847"/>
                    <a:pt x="0" y="1151509"/>
                  </a:cubicBezTo>
                  <a:close/>
                </a:path>
              </a:pathLst>
            </a:custGeom>
            <a:solidFill>
              <a:srgbClr val="22D3EE"/>
            </a:solidFill>
          </p:spPr>
          <p:txBody>
            <a:bodyPr/>
            <a:lstStyle/>
            <a:p>
              <a:endParaRPr lang="en-US"/>
            </a:p>
          </p:txBody>
        </p:sp>
      </p:grpSp>
      <p:grpSp>
        <p:nvGrpSpPr>
          <p:cNvPr id="34" name="Group 34"/>
          <p:cNvGrpSpPr/>
          <p:nvPr/>
        </p:nvGrpSpPr>
        <p:grpSpPr>
          <a:xfrm>
            <a:off x="10140848" y="5568848"/>
            <a:ext cx="1384106" cy="1384106"/>
            <a:chOff x="0" y="0"/>
            <a:chExt cx="1845475" cy="1845475"/>
          </a:xfrm>
        </p:grpSpPr>
        <p:sp>
          <p:nvSpPr>
            <p:cNvPr id="35" name="Freeform 35"/>
            <p:cNvSpPr/>
            <p:nvPr/>
          </p:nvSpPr>
          <p:spPr>
            <a:xfrm>
              <a:off x="25400" y="25400"/>
              <a:ext cx="1794764" cy="1794764"/>
            </a:xfrm>
            <a:custGeom>
              <a:avLst/>
              <a:gdLst/>
              <a:ahLst/>
              <a:cxnLst/>
              <a:rect l="l" t="t" r="r" b="b"/>
              <a:pathLst>
                <a:path w="1794764" h="1794764">
                  <a:moveTo>
                    <a:pt x="0" y="135509"/>
                  </a:moveTo>
                  <a:cubicBezTo>
                    <a:pt x="0" y="60706"/>
                    <a:pt x="60706" y="0"/>
                    <a:pt x="135509" y="0"/>
                  </a:cubicBezTo>
                  <a:lnTo>
                    <a:pt x="1659255" y="0"/>
                  </a:lnTo>
                  <a:cubicBezTo>
                    <a:pt x="1734058" y="0"/>
                    <a:pt x="1794764" y="60706"/>
                    <a:pt x="1794764" y="135509"/>
                  </a:cubicBezTo>
                  <a:lnTo>
                    <a:pt x="1794764" y="1659255"/>
                  </a:lnTo>
                  <a:cubicBezTo>
                    <a:pt x="1794764" y="1734058"/>
                    <a:pt x="1734058" y="1794764"/>
                    <a:pt x="1659255" y="1794764"/>
                  </a:cubicBezTo>
                  <a:lnTo>
                    <a:pt x="135509" y="1794764"/>
                  </a:lnTo>
                  <a:cubicBezTo>
                    <a:pt x="60706" y="1794637"/>
                    <a:pt x="0" y="1734058"/>
                    <a:pt x="0" y="1659255"/>
                  </a:cubicBezTo>
                  <a:close/>
                </a:path>
              </a:pathLst>
            </a:custGeom>
            <a:solidFill>
              <a:srgbClr val="0A1628"/>
            </a:solidFill>
          </p:spPr>
          <p:txBody>
            <a:bodyPr/>
            <a:lstStyle/>
            <a:p>
              <a:endParaRPr lang="en-US"/>
            </a:p>
          </p:txBody>
        </p:sp>
        <p:sp>
          <p:nvSpPr>
            <p:cNvPr id="36" name="Freeform 36"/>
            <p:cNvSpPr/>
            <p:nvPr/>
          </p:nvSpPr>
          <p:spPr>
            <a:xfrm>
              <a:off x="0" y="0"/>
              <a:ext cx="1845564" cy="1845564"/>
            </a:xfrm>
            <a:custGeom>
              <a:avLst/>
              <a:gdLst/>
              <a:ahLst/>
              <a:cxnLst/>
              <a:rect l="l" t="t" r="r" b="b"/>
              <a:pathLst>
                <a:path w="1845564" h="1845564">
                  <a:moveTo>
                    <a:pt x="0" y="160909"/>
                  </a:moveTo>
                  <a:cubicBezTo>
                    <a:pt x="0" y="72009"/>
                    <a:pt x="72009" y="0"/>
                    <a:pt x="160909" y="0"/>
                  </a:cubicBezTo>
                  <a:lnTo>
                    <a:pt x="1684655" y="0"/>
                  </a:lnTo>
                  <a:lnTo>
                    <a:pt x="1684655" y="25400"/>
                  </a:lnTo>
                  <a:lnTo>
                    <a:pt x="1684655" y="0"/>
                  </a:lnTo>
                  <a:cubicBezTo>
                    <a:pt x="1773555" y="0"/>
                    <a:pt x="1845564" y="72009"/>
                    <a:pt x="1845564" y="160909"/>
                  </a:cubicBezTo>
                  <a:lnTo>
                    <a:pt x="1820164" y="160909"/>
                  </a:lnTo>
                  <a:lnTo>
                    <a:pt x="1845564" y="160909"/>
                  </a:lnTo>
                  <a:lnTo>
                    <a:pt x="1845564" y="1684655"/>
                  </a:lnTo>
                  <a:lnTo>
                    <a:pt x="1820164" y="1684655"/>
                  </a:lnTo>
                  <a:lnTo>
                    <a:pt x="1845564" y="1684655"/>
                  </a:lnTo>
                  <a:cubicBezTo>
                    <a:pt x="1845564" y="1773555"/>
                    <a:pt x="1773555" y="1845564"/>
                    <a:pt x="1684655" y="1845564"/>
                  </a:cubicBezTo>
                  <a:lnTo>
                    <a:pt x="1684655" y="1820164"/>
                  </a:lnTo>
                  <a:lnTo>
                    <a:pt x="1684655" y="1845564"/>
                  </a:lnTo>
                  <a:lnTo>
                    <a:pt x="160909" y="1845564"/>
                  </a:lnTo>
                  <a:lnTo>
                    <a:pt x="160909" y="1820164"/>
                  </a:lnTo>
                  <a:lnTo>
                    <a:pt x="160909" y="1845564"/>
                  </a:lnTo>
                  <a:cubicBezTo>
                    <a:pt x="72009" y="1845564"/>
                    <a:pt x="0" y="1773555"/>
                    <a:pt x="0" y="1684655"/>
                  </a:cubicBezTo>
                  <a:lnTo>
                    <a:pt x="0" y="160909"/>
                  </a:lnTo>
                  <a:lnTo>
                    <a:pt x="25400" y="160909"/>
                  </a:lnTo>
                  <a:lnTo>
                    <a:pt x="0" y="160909"/>
                  </a:lnTo>
                  <a:moveTo>
                    <a:pt x="50800" y="160909"/>
                  </a:moveTo>
                  <a:lnTo>
                    <a:pt x="50800" y="1684655"/>
                  </a:lnTo>
                  <a:lnTo>
                    <a:pt x="25400" y="1684655"/>
                  </a:lnTo>
                  <a:lnTo>
                    <a:pt x="50800" y="1684655"/>
                  </a:lnTo>
                  <a:cubicBezTo>
                    <a:pt x="50800" y="1745488"/>
                    <a:pt x="100076" y="1794764"/>
                    <a:pt x="160909" y="1794764"/>
                  </a:cubicBezTo>
                  <a:lnTo>
                    <a:pt x="1684655" y="1794764"/>
                  </a:lnTo>
                  <a:cubicBezTo>
                    <a:pt x="1745488" y="1794764"/>
                    <a:pt x="1794764" y="1745488"/>
                    <a:pt x="1794764" y="1684655"/>
                  </a:cubicBezTo>
                  <a:lnTo>
                    <a:pt x="1794764" y="160909"/>
                  </a:lnTo>
                  <a:cubicBezTo>
                    <a:pt x="1794764" y="100076"/>
                    <a:pt x="1745488" y="50800"/>
                    <a:pt x="1684655" y="50800"/>
                  </a:cubicBezTo>
                  <a:lnTo>
                    <a:pt x="160909" y="50800"/>
                  </a:lnTo>
                  <a:lnTo>
                    <a:pt x="160909" y="25400"/>
                  </a:lnTo>
                  <a:lnTo>
                    <a:pt x="160909" y="50800"/>
                  </a:lnTo>
                  <a:cubicBezTo>
                    <a:pt x="100076" y="50800"/>
                    <a:pt x="50800" y="100076"/>
                    <a:pt x="50800" y="160909"/>
                  </a:cubicBezTo>
                  <a:close/>
                </a:path>
              </a:pathLst>
            </a:custGeom>
            <a:solidFill>
              <a:srgbClr val="22D3EE"/>
            </a:solidFill>
          </p:spPr>
          <p:txBody>
            <a:bodyPr/>
            <a:lstStyle/>
            <a:p>
              <a:endParaRPr lang="en-US"/>
            </a:p>
          </p:txBody>
        </p:sp>
      </p:grpSp>
      <p:grpSp>
        <p:nvGrpSpPr>
          <p:cNvPr id="37" name="Group 37"/>
          <p:cNvGrpSpPr/>
          <p:nvPr/>
        </p:nvGrpSpPr>
        <p:grpSpPr>
          <a:xfrm>
            <a:off x="11791950" y="5568848"/>
            <a:ext cx="1384106" cy="1384106"/>
            <a:chOff x="0" y="0"/>
            <a:chExt cx="1845475" cy="1845475"/>
          </a:xfrm>
        </p:grpSpPr>
        <p:sp>
          <p:nvSpPr>
            <p:cNvPr id="38" name="Freeform 38"/>
            <p:cNvSpPr/>
            <p:nvPr/>
          </p:nvSpPr>
          <p:spPr>
            <a:xfrm>
              <a:off x="25400" y="25400"/>
              <a:ext cx="1794764" cy="1794764"/>
            </a:xfrm>
            <a:custGeom>
              <a:avLst/>
              <a:gdLst/>
              <a:ahLst/>
              <a:cxnLst/>
              <a:rect l="l" t="t" r="r" b="b"/>
              <a:pathLst>
                <a:path w="1794764" h="1794764">
                  <a:moveTo>
                    <a:pt x="0" y="135509"/>
                  </a:moveTo>
                  <a:cubicBezTo>
                    <a:pt x="0" y="60706"/>
                    <a:pt x="60706" y="0"/>
                    <a:pt x="135509" y="0"/>
                  </a:cubicBezTo>
                  <a:lnTo>
                    <a:pt x="1659255" y="0"/>
                  </a:lnTo>
                  <a:cubicBezTo>
                    <a:pt x="1734058" y="0"/>
                    <a:pt x="1794764" y="60706"/>
                    <a:pt x="1794764" y="135509"/>
                  </a:cubicBezTo>
                  <a:lnTo>
                    <a:pt x="1794764" y="1659255"/>
                  </a:lnTo>
                  <a:cubicBezTo>
                    <a:pt x="1794764" y="1734058"/>
                    <a:pt x="1734058" y="1794764"/>
                    <a:pt x="1659255" y="1794764"/>
                  </a:cubicBezTo>
                  <a:lnTo>
                    <a:pt x="135509" y="1794764"/>
                  </a:lnTo>
                  <a:cubicBezTo>
                    <a:pt x="60706" y="1794637"/>
                    <a:pt x="0" y="1734058"/>
                    <a:pt x="0" y="1659255"/>
                  </a:cubicBezTo>
                  <a:close/>
                </a:path>
              </a:pathLst>
            </a:custGeom>
            <a:solidFill>
              <a:srgbClr val="0A1628"/>
            </a:solidFill>
          </p:spPr>
          <p:txBody>
            <a:bodyPr/>
            <a:lstStyle/>
            <a:p>
              <a:endParaRPr lang="en-US"/>
            </a:p>
          </p:txBody>
        </p:sp>
        <p:sp>
          <p:nvSpPr>
            <p:cNvPr id="39" name="Freeform 39"/>
            <p:cNvSpPr/>
            <p:nvPr/>
          </p:nvSpPr>
          <p:spPr>
            <a:xfrm>
              <a:off x="0" y="0"/>
              <a:ext cx="1845564" cy="1845564"/>
            </a:xfrm>
            <a:custGeom>
              <a:avLst/>
              <a:gdLst/>
              <a:ahLst/>
              <a:cxnLst/>
              <a:rect l="l" t="t" r="r" b="b"/>
              <a:pathLst>
                <a:path w="1845564" h="1845564">
                  <a:moveTo>
                    <a:pt x="0" y="160909"/>
                  </a:moveTo>
                  <a:cubicBezTo>
                    <a:pt x="0" y="72009"/>
                    <a:pt x="72009" y="0"/>
                    <a:pt x="160909" y="0"/>
                  </a:cubicBezTo>
                  <a:lnTo>
                    <a:pt x="1684655" y="0"/>
                  </a:lnTo>
                  <a:lnTo>
                    <a:pt x="1684655" y="25400"/>
                  </a:lnTo>
                  <a:lnTo>
                    <a:pt x="1684655" y="0"/>
                  </a:lnTo>
                  <a:cubicBezTo>
                    <a:pt x="1773555" y="0"/>
                    <a:pt x="1845564" y="72009"/>
                    <a:pt x="1845564" y="160909"/>
                  </a:cubicBezTo>
                  <a:lnTo>
                    <a:pt x="1820164" y="160909"/>
                  </a:lnTo>
                  <a:lnTo>
                    <a:pt x="1845564" y="160909"/>
                  </a:lnTo>
                  <a:lnTo>
                    <a:pt x="1845564" y="1684655"/>
                  </a:lnTo>
                  <a:lnTo>
                    <a:pt x="1820164" y="1684655"/>
                  </a:lnTo>
                  <a:lnTo>
                    <a:pt x="1845564" y="1684655"/>
                  </a:lnTo>
                  <a:cubicBezTo>
                    <a:pt x="1845564" y="1773555"/>
                    <a:pt x="1773555" y="1845564"/>
                    <a:pt x="1684655" y="1845564"/>
                  </a:cubicBezTo>
                  <a:lnTo>
                    <a:pt x="1684655" y="1820164"/>
                  </a:lnTo>
                  <a:lnTo>
                    <a:pt x="1684655" y="1845564"/>
                  </a:lnTo>
                  <a:lnTo>
                    <a:pt x="160909" y="1845564"/>
                  </a:lnTo>
                  <a:lnTo>
                    <a:pt x="160909" y="1820164"/>
                  </a:lnTo>
                  <a:lnTo>
                    <a:pt x="160909" y="1845564"/>
                  </a:lnTo>
                  <a:cubicBezTo>
                    <a:pt x="72009" y="1845564"/>
                    <a:pt x="0" y="1773555"/>
                    <a:pt x="0" y="1684655"/>
                  </a:cubicBezTo>
                  <a:lnTo>
                    <a:pt x="0" y="160909"/>
                  </a:lnTo>
                  <a:lnTo>
                    <a:pt x="25400" y="160909"/>
                  </a:lnTo>
                  <a:lnTo>
                    <a:pt x="0" y="160909"/>
                  </a:lnTo>
                  <a:moveTo>
                    <a:pt x="50800" y="160909"/>
                  </a:moveTo>
                  <a:lnTo>
                    <a:pt x="50800" y="1684655"/>
                  </a:lnTo>
                  <a:lnTo>
                    <a:pt x="25400" y="1684655"/>
                  </a:lnTo>
                  <a:lnTo>
                    <a:pt x="50800" y="1684655"/>
                  </a:lnTo>
                  <a:cubicBezTo>
                    <a:pt x="50800" y="1745488"/>
                    <a:pt x="100076" y="1794764"/>
                    <a:pt x="160909" y="1794764"/>
                  </a:cubicBezTo>
                  <a:lnTo>
                    <a:pt x="1684655" y="1794764"/>
                  </a:lnTo>
                  <a:cubicBezTo>
                    <a:pt x="1745488" y="1794764"/>
                    <a:pt x="1794764" y="1745488"/>
                    <a:pt x="1794764" y="1684655"/>
                  </a:cubicBezTo>
                  <a:lnTo>
                    <a:pt x="1794764" y="160909"/>
                  </a:lnTo>
                  <a:cubicBezTo>
                    <a:pt x="1794764" y="100076"/>
                    <a:pt x="1745488" y="50800"/>
                    <a:pt x="1684655" y="50800"/>
                  </a:cubicBezTo>
                  <a:lnTo>
                    <a:pt x="160909" y="50800"/>
                  </a:lnTo>
                  <a:lnTo>
                    <a:pt x="160909" y="25400"/>
                  </a:lnTo>
                  <a:lnTo>
                    <a:pt x="160909" y="50800"/>
                  </a:lnTo>
                  <a:cubicBezTo>
                    <a:pt x="100076" y="50800"/>
                    <a:pt x="50800" y="100076"/>
                    <a:pt x="50800" y="160909"/>
                  </a:cubicBezTo>
                  <a:close/>
                </a:path>
              </a:pathLst>
            </a:custGeom>
            <a:solidFill>
              <a:srgbClr val="22D3EE"/>
            </a:solidFill>
          </p:spPr>
          <p:txBody>
            <a:bodyPr/>
            <a:lstStyle/>
            <a:p>
              <a:endParaRPr lang="en-US"/>
            </a:p>
          </p:txBody>
        </p:sp>
      </p:grpSp>
      <p:grpSp>
        <p:nvGrpSpPr>
          <p:cNvPr id="40" name="Group 40"/>
          <p:cNvGrpSpPr/>
          <p:nvPr/>
        </p:nvGrpSpPr>
        <p:grpSpPr>
          <a:xfrm>
            <a:off x="10140848" y="7219950"/>
            <a:ext cx="1384106" cy="1384106"/>
            <a:chOff x="0" y="0"/>
            <a:chExt cx="1845475" cy="1845475"/>
          </a:xfrm>
        </p:grpSpPr>
        <p:sp>
          <p:nvSpPr>
            <p:cNvPr id="41" name="Freeform 41"/>
            <p:cNvSpPr/>
            <p:nvPr/>
          </p:nvSpPr>
          <p:spPr>
            <a:xfrm>
              <a:off x="25400" y="25400"/>
              <a:ext cx="1794764" cy="1794764"/>
            </a:xfrm>
            <a:custGeom>
              <a:avLst/>
              <a:gdLst/>
              <a:ahLst/>
              <a:cxnLst/>
              <a:rect l="l" t="t" r="r" b="b"/>
              <a:pathLst>
                <a:path w="1794764" h="1794764">
                  <a:moveTo>
                    <a:pt x="0" y="135509"/>
                  </a:moveTo>
                  <a:cubicBezTo>
                    <a:pt x="0" y="60706"/>
                    <a:pt x="60706" y="0"/>
                    <a:pt x="135509" y="0"/>
                  </a:cubicBezTo>
                  <a:lnTo>
                    <a:pt x="1659255" y="0"/>
                  </a:lnTo>
                  <a:cubicBezTo>
                    <a:pt x="1734058" y="0"/>
                    <a:pt x="1794764" y="60706"/>
                    <a:pt x="1794764" y="135509"/>
                  </a:cubicBezTo>
                  <a:lnTo>
                    <a:pt x="1794764" y="1659255"/>
                  </a:lnTo>
                  <a:cubicBezTo>
                    <a:pt x="1794764" y="1734058"/>
                    <a:pt x="1734058" y="1794764"/>
                    <a:pt x="1659255" y="1794764"/>
                  </a:cubicBezTo>
                  <a:lnTo>
                    <a:pt x="135509" y="1794764"/>
                  </a:lnTo>
                  <a:cubicBezTo>
                    <a:pt x="60706" y="1794637"/>
                    <a:pt x="0" y="1734058"/>
                    <a:pt x="0" y="1659255"/>
                  </a:cubicBezTo>
                  <a:close/>
                </a:path>
              </a:pathLst>
            </a:custGeom>
            <a:solidFill>
              <a:srgbClr val="0A1628"/>
            </a:solidFill>
          </p:spPr>
          <p:txBody>
            <a:bodyPr/>
            <a:lstStyle/>
            <a:p>
              <a:endParaRPr lang="en-US"/>
            </a:p>
          </p:txBody>
        </p:sp>
        <p:sp>
          <p:nvSpPr>
            <p:cNvPr id="42" name="Freeform 42"/>
            <p:cNvSpPr/>
            <p:nvPr/>
          </p:nvSpPr>
          <p:spPr>
            <a:xfrm>
              <a:off x="0" y="0"/>
              <a:ext cx="1845564" cy="1845564"/>
            </a:xfrm>
            <a:custGeom>
              <a:avLst/>
              <a:gdLst/>
              <a:ahLst/>
              <a:cxnLst/>
              <a:rect l="l" t="t" r="r" b="b"/>
              <a:pathLst>
                <a:path w="1845564" h="1845564">
                  <a:moveTo>
                    <a:pt x="0" y="160909"/>
                  </a:moveTo>
                  <a:cubicBezTo>
                    <a:pt x="0" y="72009"/>
                    <a:pt x="72009" y="0"/>
                    <a:pt x="160909" y="0"/>
                  </a:cubicBezTo>
                  <a:lnTo>
                    <a:pt x="1684655" y="0"/>
                  </a:lnTo>
                  <a:lnTo>
                    <a:pt x="1684655" y="25400"/>
                  </a:lnTo>
                  <a:lnTo>
                    <a:pt x="1684655" y="0"/>
                  </a:lnTo>
                  <a:cubicBezTo>
                    <a:pt x="1773555" y="0"/>
                    <a:pt x="1845564" y="72009"/>
                    <a:pt x="1845564" y="160909"/>
                  </a:cubicBezTo>
                  <a:lnTo>
                    <a:pt x="1820164" y="160909"/>
                  </a:lnTo>
                  <a:lnTo>
                    <a:pt x="1845564" y="160909"/>
                  </a:lnTo>
                  <a:lnTo>
                    <a:pt x="1845564" y="1684655"/>
                  </a:lnTo>
                  <a:lnTo>
                    <a:pt x="1820164" y="1684655"/>
                  </a:lnTo>
                  <a:lnTo>
                    <a:pt x="1845564" y="1684655"/>
                  </a:lnTo>
                  <a:cubicBezTo>
                    <a:pt x="1845564" y="1773555"/>
                    <a:pt x="1773555" y="1845564"/>
                    <a:pt x="1684655" y="1845564"/>
                  </a:cubicBezTo>
                  <a:lnTo>
                    <a:pt x="1684655" y="1820164"/>
                  </a:lnTo>
                  <a:lnTo>
                    <a:pt x="1684655" y="1845564"/>
                  </a:lnTo>
                  <a:lnTo>
                    <a:pt x="160909" y="1845564"/>
                  </a:lnTo>
                  <a:lnTo>
                    <a:pt x="160909" y="1820164"/>
                  </a:lnTo>
                  <a:lnTo>
                    <a:pt x="160909" y="1845564"/>
                  </a:lnTo>
                  <a:cubicBezTo>
                    <a:pt x="72009" y="1845564"/>
                    <a:pt x="0" y="1773555"/>
                    <a:pt x="0" y="1684655"/>
                  </a:cubicBezTo>
                  <a:lnTo>
                    <a:pt x="0" y="160909"/>
                  </a:lnTo>
                  <a:lnTo>
                    <a:pt x="25400" y="160909"/>
                  </a:lnTo>
                  <a:lnTo>
                    <a:pt x="0" y="160909"/>
                  </a:lnTo>
                  <a:moveTo>
                    <a:pt x="50800" y="160909"/>
                  </a:moveTo>
                  <a:lnTo>
                    <a:pt x="50800" y="1684655"/>
                  </a:lnTo>
                  <a:lnTo>
                    <a:pt x="25400" y="1684655"/>
                  </a:lnTo>
                  <a:lnTo>
                    <a:pt x="50800" y="1684655"/>
                  </a:lnTo>
                  <a:cubicBezTo>
                    <a:pt x="50800" y="1745488"/>
                    <a:pt x="100076" y="1794764"/>
                    <a:pt x="160909" y="1794764"/>
                  </a:cubicBezTo>
                  <a:lnTo>
                    <a:pt x="1684655" y="1794764"/>
                  </a:lnTo>
                  <a:cubicBezTo>
                    <a:pt x="1745488" y="1794764"/>
                    <a:pt x="1794764" y="1745488"/>
                    <a:pt x="1794764" y="1684655"/>
                  </a:cubicBezTo>
                  <a:lnTo>
                    <a:pt x="1794764" y="160909"/>
                  </a:lnTo>
                  <a:cubicBezTo>
                    <a:pt x="1794764" y="100076"/>
                    <a:pt x="1745488" y="50800"/>
                    <a:pt x="1684655" y="50800"/>
                  </a:cubicBezTo>
                  <a:lnTo>
                    <a:pt x="160909" y="50800"/>
                  </a:lnTo>
                  <a:lnTo>
                    <a:pt x="160909" y="25400"/>
                  </a:lnTo>
                  <a:lnTo>
                    <a:pt x="160909" y="50800"/>
                  </a:lnTo>
                  <a:cubicBezTo>
                    <a:pt x="100076" y="50800"/>
                    <a:pt x="50800" y="100076"/>
                    <a:pt x="50800" y="160909"/>
                  </a:cubicBezTo>
                  <a:close/>
                </a:path>
              </a:pathLst>
            </a:custGeom>
            <a:solidFill>
              <a:srgbClr val="22D3EE"/>
            </a:solidFill>
          </p:spPr>
          <p:txBody>
            <a:bodyPr/>
            <a:lstStyle/>
            <a:p>
              <a:endParaRPr lang="en-US"/>
            </a:p>
          </p:txBody>
        </p:sp>
      </p:grpSp>
      <p:grpSp>
        <p:nvGrpSpPr>
          <p:cNvPr id="43" name="Group 43"/>
          <p:cNvGrpSpPr/>
          <p:nvPr/>
        </p:nvGrpSpPr>
        <p:grpSpPr>
          <a:xfrm>
            <a:off x="11791950" y="7219950"/>
            <a:ext cx="1384106" cy="1384106"/>
            <a:chOff x="0" y="0"/>
            <a:chExt cx="1845475" cy="1845475"/>
          </a:xfrm>
        </p:grpSpPr>
        <p:sp>
          <p:nvSpPr>
            <p:cNvPr id="44" name="Freeform 44"/>
            <p:cNvSpPr/>
            <p:nvPr/>
          </p:nvSpPr>
          <p:spPr>
            <a:xfrm>
              <a:off x="25400" y="25400"/>
              <a:ext cx="1794764" cy="1794764"/>
            </a:xfrm>
            <a:custGeom>
              <a:avLst/>
              <a:gdLst/>
              <a:ahLst/>
              <a:cxnLst/>
              <a:rect l="l" t="t" r="r" b="b"/>
              <a:pathLst>
                <a:path w="1794764" h="1794764">
                  <a:moveTo>
                    <a:pt x="0" y="135509"/>
                  </a:moveTo>
                  <a:cubicBezTo>
                    <a:pt x="0" y="60706"/>
                    <a:pt x="60706" y="0"/>
                    <a:pt x="135509" y="0"/>
                  </a:cubicBezTo>
                  <a:lnTo>
                    <a:pt x="1659255" y="0"/>
                  </a:lnTo>
                  <a:cubicBezTo>
                    <a:pt x="1734058" y="0"/>
                    <a:pt x="1794764" y="60706"/>
                    <a:pt x="1794764" y="135509"/>
                  </a:cubicBezTo>
                  <a:lnTo>
                    <a:pt x="1794764" y="1659255"/>
                  </a:lnTo>
                  <a:cubicBezTo>
                    <a:pt x="1794764" y="1734058"/>
                    <a:pt x="1734058" y="1794764"/>
                    <a:pt x="1659255" y="1794764"/>
                  </a:cubicBezTo>
                  <a:lnTo>
                    <a:pt x="135509" y="1794764"/>
                  </a:lnTo>
                  <a:cubicBezTo>
                    <a:pt x="60706" y="1794637"/>
                    <a:pt x="0" y="1734058"/>
                    <a:pt x="0" y="1659255"/>
                  </a:cubicBezTo>
                  <a:close/>
                </a:path>
              </a:pathLst>
            </a:custGeom>
            <a:solidFill>
              <a:srgbClr val="0A1628"/>
            </a:solidFill>
          </p:spPr>
          <p:txBody>
            <a:bodyPr/>
            <a:lstStyle/>
            <a:p>
              <a:endParaRPr lang="en-US"/>
            </a:p>
          </p:txBody>
        </p:sp>
        <p:sp>
          <p:nvSpPr>
            <p:cNvPr id="45" name="Freeform 45"/>
            <p:cNvSpPr/>
            <p:nvPr/>
          </p:nvSpPr>
          <p:spPr>
            <a:xfrm>
              <a:off x="0" y="0"/>
              <a:ext cx="1845564" cy="1845564"/>
            </a:xfrm>
            <a:custGeom>
              <a:avLst/>
              <a:gdLst/>
              <a:ahLst/>
              <a:cxnLst/>
              <a:rect l="l" t="t" r="r" b="b"/>
              <a:pathLst>
                <a:path w="1845564" h="1845564">
                  <a:moveTo>
                    <a:pt x="0" y="160909"/>
                  </a:moveTo>
                  <a:cubicBezTo>
                    <a:pt x="0" y="72009"/>
                    <a:pt x="72009" y="0"/>
                    <a:pt x="160909" y="0"/>
                  </a:cubicBezTo>
                  <a:lnTo>
                    <a:pt x="1684655" y="0"/>
                  </a:lnTo>
                  <a:lnTo>
                    <a:pt x="1684655" y="25400"/>
                  </a:lnTo>
                  <a:lnTo>
                    <a:pt x="1684655" y="0"/>
                  </a:lnTo>
                  <a:cubicBezTo>
                    <a:pt x="1773555" y="0"/>
                    <a:pt x="1845564" y="72009"/>
                    <a:pt x="1845564" y="160909"/>
                  </a:cubicBezTo>
                  <a:lnTo>
                    <a:pt x="1820164" y="160909"/>
                  </a:lnTo>
                  <a:lnTo>
                    <a:pt x="1845564" y="160909"/>
                  </a:lnTo>
                  <a:lnTo>
                    <a:pt x="1845564" y="1684655"/>
                  </a:lnTo>
                  <a:lnTo>
                    <a:pt x="1820164" y="1684655"/>
                  </a:lnTo>
                  <a:lnTo>
                    <a:pt x="1845564" y="1684655"/>
                  </a:lnTo>
                  <a:cubicBezTo>
                    <a:pt x="1845564" y="1773555"/>
                    <a:pt x="1773555" y="1845564"/>
                    <a:pt x="1684655" y="1845564"/>
                  </a:cubicBezTo>
                  <a:lnTo>
                    <a:pt x="1684655" y="1820164"/>
                  </a:lnTo>
                  <a:lnTo>
                    <a:pt x="1684655" y="1845564"/>
                  </a:lnTo>
                  <a:lnTo>
                    <a:pt x="160909" y="1845564"/>
                  </a:lnTo>
                  <a:lnTo>
                    <a:pt x="160909" y="1820164"/>
                  </a:lnTo>
                  <a:lnTo>
                    <a:pt x="160909" y="1845564"/>
                  </a:lnTo>
                  <a:cubicBezTo>
                    <a:pt x="72009" y="1845564"/>
                    <a:pt x="0" y="1773555"/>
                    <a:pt x="0" y="1684655"/>
                  </a:cubicBezTo>
                  <a:lnTo>
                    <a:pt x="0" y="160909"/>
                  </a:lnTo>
                  <a:lnTo>
                    <a:pt x="25400" y="160909"/>
                  </a:lnTo>
                  <a:lnTo>
                    <a:pt x="0" y="160909"/>
                  </a:lnTo>
                  <a:moveTo>
                    <a:pt x="50800" y="160909"/>
                  </a:moveTo>
                  <a:lnTo>
                    <a:pt x="50800" y="1684655"/>
                  </a:lnTo>
                  <a:lnTo>
                    <a:pt x="25400" y="1684655"/>
                  </a:lnTo>
                  <a:lnTo>
                    <a:pt x="50800" y="1684655"/>
                  </a:lnTo>
                  <a:cubicBezTo>
                    <a:pt x="50800" y="1745488"/>
                    <a:pt x="100076" y="1794764"/>
                    <a:pt x="160909" y="1794764"/>
                  </a:cubicBezTo>
                  <a:lnTo>
                    <a:pt x="1684655" y="1794764"/>
                  </a:lnTo>
                  <a:cubicBezTo>
                    <a:pt x="1745488" y="1794764"/>
                    <a:pt x="1794764" y="1745488"/>
                    <a:pt x="1794764" y="1684655"/>
                  </a:cubicBezTo>
                  <a:lnTo>
                    <a:pt x="1794764" y="160909"/>
                  </a:lnTo>
                  <a:cubicBezTo>
                    <a:pt x="1794764" y="100076"/>
                    <a:pt x="1745488" y="50800"/>
                    <a:pt x="1684655" y="50800"/>
                  </a:cubicBezTo>
                  <a:lnTo>
                    <a:pt x="160909" y="50800"/>
                  </a:lnTo>
                  <a:lnTo>
                    <a:pt x="160909" y="25400"/>
                  </a:lnTo>
                  <a:lnTo>
                    <a:pt x="160909" y="50800"/>
                  </a:lnTo>
                  <a:cubicBezTo>
                    <a:pt x="100076" y="50800"/>
                    <a:pt x="50800" y="100076"/>
                    <a:pt x="50800" y="160909"/>
                  </a:cubicBezTo>
                  <a:close/>
                </a:path>
              </a:pathLst>
            </a:custGeom>
            <a:solidFill>
              <a:srgbClr val="22D3EE"/>
            </a:solidFill>
          </p:spPr>
          <p:txBody>
            <a:bodyPr/>
            <a:lstStyle/>
            <a:p>
              <a:endParaRPr lang="en-US"/>
            </a:p>
          </p:txBody>
        </p:sp>
      </p:grpSp>
      <p:grpSp>
        <p:nvGrpSpPr>
          <p:cNvPr id="46" name="Group 46"/>
          <p:cNvGrpSpPr/>
          <p:nvPr/>
        </p:nvGrpSpPr>
        <p:grpSpPr>
          <a:xfrm>
            <a:off x="10337606" y="5765606"/>
            <a:ext cx="914400" cy="914400"/>
            <a:chOff x="0" y="0"/>
            <a:chExt cx="1219200" cy="1219200"/>
          </a:xfrm>
        </p:grpSpPr>
        <p:sp>
          <p:nvSpPr>
            <p:cNvPr id="47" name="Freeform 47"/>
            <p:cNvSpPr/>
            <p:nvPr/>
          </p:nvSpPr>
          <p:spPr>
            <a:xfrm>
              <a:off x="0" y="0"/>
              <a:ext cx="1219200" cy="1219200"/>
            </a:xfrm>
            <a:custGeom>
              <a:avLst/>
              <a:gdLst/>
              <a:ahLst/>
              <a:cxnLst/>
              <a:rect l="l" t="t" r="r" b="b"/>
              <a:pathLst>
                <a:path w="1219200" h="1219200">
                  <a:moveTo>
                    <a:pt x="0" y="67691"/>
                  </a:moveTo>
                  <a:cubicBezTo>
                    <a:pt x="0" y="30353"/>
                    <a:pt x="30353" y="0"/>
                    <a:pt x="67691" y="0"/>
                  </a:cubicBezTo>
                  <a:lnTo>
                    <a:pt x="1151509" y="0"/>
                  </a:lnTo>
                  <a:cubicBezTo>
                    <a:pt x="1188847" y="0"/>
                    <a:pt x="1219200" y="30353"/>
                    <a:pt x="1219200" y="67691"/>
                  </a:cubicBezTo>
                  <a:lnTo>
                    <a:pt x="1219200" y="1151509"/>
                  </a:lnTo>
                  <a:cubicBezTo>
                    <a:pt x="1219200" y="1188847"/>
                    <a:pt x="1188847" y="1219200"/>
                    <a:pt x="1151509" y="1219200"/>
                  </a:cubicBezTo>
                  <a:lnTo>
                    <a:pt x="67691" y="1219200"/>
                  </a:lnTo>
                  <a:cubicBezTo>
                    <a:pt x="30353" y="1219200"/>
                    <a:pt x="0" y="1188847"/>
                    <a:pt x="0" y="1151509"/>
                  </a:cubicBezTo>
                  <a:close/>
                </a:path>
              </a:pathLst>
            </a:custGeom>
            <a:solidFill>
              <a:srgbClr val="22D3EE"/>
            </a:solidFill>
          </p:spPr>
          <p:txBody>
            <a:bodyPr/>
            <a:lstStyle/>
            <a:p>
              <a:endParaRPr lang="en-US"/>
            </a:p>
          </p:txBody>
        </p:sp>
      </p:grpSp>
      <p:grpSp>
        <p:nvGrpSpPr>
          <p:cNvPr id="48" name="Group 48"/>
          <p:cNvGrpSpPr/>
          <p:nvPr/>
        </p:nvGrpSpPr>
        <p:grpSpPr>
          <a:xfrm>
            <a:off x="11988698" y="5765606"/>
            <a:ext cx="914400" cy="914400"/>
            <a:chOff x="0" y="0"/>
            <a:chExt cx="1219200" cy="1219200"/>
          </a:xfrm>
        </p:grpSpPr>
        <p:sp>
          <p:nvSpPr>
            <p:cNvPr id="49" name="Freeform 49"/>
            <p:cNvSpPr/>
            <p:nvPr/>
          </p:nvSpPr>
          <p:spPr>
            <a:xfrm>
              <a:off x="0" y="0"/>
              <a:ext cx="1219200" cy="1219200"/>
            </a:xfrm>
            <a:custGeom>
              <a:avLst/>
              <a:gdLst/>
              <a:ahLst/>
              <a:cxnLst/>
              <a:rect l="l" t="t" r="r" b="b"/>
              <a:pathLst>
                <a:path w="1219200" h="1219200">
                  <a:moveTo>
                    <a:pt x="0" y="67691"/>
                  </a:moveTo>
                  <a:cubicBezTo>
                    <a:pt x="0" y="30353"/>
                    <a:pt x="30353" y="0"/>
                    <a:pt x="67691" y="0"/>
                  </a:cubicBezTo>
                  <a:lnTo>
                    <a:pt x="1151509" y="0"/>
                  </a:lnTo>
                  <a:cubicBezTo>
                    <a:pt x="1188847" y="0"/>
                    <a:pt x="1219200" y="30353"/>
                    <a:pt x="1219200" y="67691"/>
                  </a:cubicBezTo>
                  <a:lnTo>
                    <a:pt x="1219200" y="1151509"/>
                  </a:lnTo>
                  <a:cubicBezTo>
                    <a:pt x="1219200" y="1188847"/>
                    <a:pt x="1188847" y="1219200"/>
                    <a:pt x="1151509" y="1219200"/>
                  </a:cubicBezTo>
                  <a:lnTo>
                    <a:pt x="67691" y="1219200"/>
                  </a:lnTo>
                  <a:cubicBezTo>
                    <a:pt x="30353" y="1219200"/>
                    <a:pt x="0" y="1188847"/>
                    <a:pt x="0" y="1151509"/>
                  </a:cubicBezTo>
                  <a:close/>
                </a:path>
              </a:pathLst>
            </a:custGeom>
            <a:solidFill>
              <a:srgbClr val="06B6D4"/>
            </a:solidFill>
          </p:spPr>
          <p:txBody>
            <a:bodyPr/>
            <a:lstStyle/>
            <a:p>
              <a:endParaRPr lang="en-US"/>
            </a:p>
          </p:txBody>
        </p:sp>
      </p:grpSp>
      <p:grpSp>
        <p:nvGrpSpPr>
          <p:cNvPr id="50" name="Group 50"/>
          <p:cNvGrpSpPr/>
          <p:nvPr/>
        </p:nvGrpSpPr>
        <p:grpSpPr>
          <a:xfrm>
            <a:off x="10337606" y="7416698"/>
            <a:ext cx="914400" cy="914400"/>
            <a:chOff x="0" y="0"/>
            <a:chExt cx="1219200" cy="1219200"/>
          </a:xfrm>
        </p:grpSpPr>
        <p:sp>
          <p:nvSpPr>
            <p:cNvPr id="51" name="Freeform 51"/>
            <p:cNvSpPr/>
            <p:nvPr/>
          </p:nvSpPr>
          <p:spPr>
            <a:xfrm>
              <a:off x="0" y="0"/>
              <a:ext cx="1219200" cy="1219200"/>
            </a:xfrm>
            <a:custGeom>
              <a:avLst/>
              <a:gdLst/>
              <a:ahLst/>
              <a:cxnLst/>
              <a:rect l="l" t="t" r="r" b="b"/>
              <a:pathLst>
                <a:path w="1219200" h="1219200">
                  <a:moveTo>
                    <a:pt x="0" y="67691"/>
                  </a:moveTo>
                  <a:cubicBezTo>
                    <a:pt x="0" y="30353"/>
                    <a:pt x="30353" y="0"/>
                    <a:pt x="67691" y="0"/>
                  </a:cubicBezTo>
                  <a:lnTo>
                    <a:pt x="1151509" y="0"/>
                  </a:lnTo>
                  <a:cubicBezTo>
                    <a:pt x="1188847" y="0"/>
                    <a:pt x="1219200" y="30353"/>
                    <a:pt x="1219200" y="67691"/>
                  </a:cubicBezTo>
                  <a:lnTo>
                    <a:pt x="1219200" y="1151509"/>
                  </a:lnTo>
                  <a:cubicBezTo>
                    <a:pt x="1219200" y="1188847"/>
                    <a:pt x="1188847" y="1219200"/>
                    <a:pt x="1151509" y="1219200"/>
                  </a:cubicBezTo>
                  <a:lnTo>
                    <a:pt x="67691" y="1219200"/>
                  </a:lnTo>
                  <a:cubicBezTo>
                    <a:pt x="30353" y="1219200"/>
                    <a:pt x="0" y="1188847"/>
                    <a:pt x="0" y="1151509"/>
                  </a:cubicBezTo>
                  <a:close/>
                </a:path>
              </a:pathLst>
            </a:custGeom>
            <a:solidFill>
              <a:srgbClr val="22D3EE"/>
            </a:solidFill>
          </p:spPr>
          <p:txBody>
            <a:bodyPr/>
            <a:lstStyle/>
            <a:p>
              <a:endParaRPr lang="en-US"/>
            </a:p>
          </p:txBody>
        </p:sp>
      </p:grpSp>
      <p:grpSp>
        <p:nvGrpSpPr>
          <p:cNvPr id="52" name="Group 52"/>
          <p:cNvGrpSpPr/>
          <p:nvPr/>
        </p:nvGrpSpPr>
        <p:grpSpPr>
          <a:xfrm>
            <a:off x="11988698" y="7416698"/>
            <a:ext cx="914400" cy="914400"/>
            <a:chOff x="0" y="0"/>
            <a:chExt cx="1219200" cy="1219200"/>
          </a:xfrm>
        </p:grpSpPr>
        <p:sp>
          <p:nvSpPr>
            <p:cNvPr id="53" name="Freeform 53"/>
            <p:cNvSpPr/>
            <p:nvPr/>
          </p:nvSpPr>
          <p:spPr>
            <a:xfrm>
              <a:off x="0" y="0"/>
              <a:ext cx="1219200" cy="1219200"/>
            </a:xfrm>
            <a:custGeom>
              <a:avLst/>
              <a:gdLst/>
              <a:ahLst/>
              <a:cxnLst/>
              <a:rect l="l" t="t" r="r" b="b"/>
              <a:pathLst>
                <a:path w="1219200" h="1219200">
                  <a:moveTo>
                    <a:pt x="0" y="67691"/>
                  </a:moveTo>
                  <a:cubicBezTo>
                    <a:pt x="0" y="30353"/>
                    <a:pt x="30353" y="0"/>
                    <a:pt x="67691" y="0"/>
                  </a:cubicBezTo>
                  <a:lnTo>
                    <a:pt x="1151509" y="0"/>
                  </a:lnTo>
                  <a:cubicBezTo>
                    <a:pt x="1188847" y="0"/>
                    <a:pt x="1219200" y="30353"/>
                    <a:pt x="1219200" y="67691"/>
                  </a:cubicBezTo>
                  <a:lnTo>
                    <a:pt x="1219200" y="1151509"/>
                  </a:lnTo>
                  <a:cubicBezTo>
                    <a:pt x="1219200" y="1188847"/>
                    <a:pt x="1188847" y="1219200"/>
                    <a:pt x="1151509" y="1219200"/>
                  </a:cubicBezTo>
                  <a:lnTo>
                    <a:pt x="67691" y="1219200"/>
                  </a:lnTo>
                  <a:cubicBezTo>
                    <a:pt x="30353" y="1219200"/>
                    <a:pt x="0" y="1188847"/>
                    <a:pt x="0" y="1151509"/>
                  </a:cubicBezTo>
                  <a:close/>
                </a:path>
              </a:pathLst>
            </a:custGeom>
            <a:solidFill>
              <a:srgbClr val="06B6D4"/>
            </a:solidFill>
          </p:spPr>
          <p:txBody>
            <a:bodyPr/>
            <a:lstStyle/>
            <a:p>
              <a:endParaRPr lang="en-US"/>
            </a:p>
          </p:txBody>
        </p:sp>
      </p:grpSp>
      <p:sp>
        <p:nvSpPr>
          <p:cNvPr id="54" name="TextBox 54"/>
          <p:cNvSpPr txBox="1"/>
          <p:nvPr/>
        </p:nvSpPr>
        <p:spPr>
          <a:xfrm>
            <a:off x="5460806" y="5959373"/>
            <a:ext cx="3108960" cy="638175"/>
          </a:xfrm>
          <a:prstGeom prst="rect">
            <a:avLst/>
          </a:prstGeom>
        </p:spPr>
        <p:txBody>
          <a:bodyPr lIns="0" tIns="0" rIns="0" bIns="0" rtlCol="0" anchor="t">
            <a:spAutoFit/>
          </a:bodyPr>
          <a:lstStyle/>
          <a:p>
            <a:pPr algn="l">
              <a:lnSpc>
                <a:spcPts val="5280"/>
              </a:lnSpc>
            </a:pPr>
            <a:r>
              <a:rPr lang="en-US" sz="4400" b="1">
                <a:solidFill>
                  <a:srgbClr val="22D3EE"/>
                </a:solidFill>
                <a:latin typeface="Courier New Bold"/>
                <a:ea typeface="Courier New Bold"/>
                <a:cs typeface="Courier New Bold"/>
                <a:sym typeface="Courier New Bold"/>
              </a:rPr>
              <a:t>40,000</a:t>
            </a:r>
          </a:p>
        </p:txBody>
      </p:sp>
      <p:sp>
        <p:nvSpPr>
          <p:cNvPr id="55" name="TextBox 55"/>
          <p:cNvSpPr txBox="1"/>
          <p:nvPr/>
        </p:nvSpPr>
        <p:spPr>
          <a:xfrm>
            <a:off x="5460806" y="6629105"/>
            <a:ext cx="3108960" cy="285750"/>
          </a:xfrm>
          <a:prstGeom prst="rect">
            <a:avLst/>
          </a:prstGeom>
        </p:spPr>
        <p:txBody>
          <a:bodyPr lIns="0" tIns="0" rIns="0" bIns="0" rtlCol="0" anchor="t">
            <a:spAutoFit/>
          </a:bodyPr>
          <a:lstStyle/>
          <a:p>
            <a:pPr algn="l">
              <a:lnSpc>
                <a:spcPts val="2160"/>
              </a:lnSpc>
            </a:pPr>
            <a:r>
              <a:rPr lang="en-US" sz="1800">
                <a:solidFill>
                  <a:srgbClr val="94A3B8"/>
                </a:solidFill>
                <a:latin typeface="Arial"/>
                <a:ea typeface="Arial"/>
                <a:cs typeface="Arial"/>
                <a:sym typeface="Arial"/>
              </a:rPr>
              <a:t>POLYGON COPIES</a:t>
            </a:r>
          </a:p>
        </p:txBody>
      </p:sp>
      <p:sp>
        <p:nvSpPr>
          <p:cNvPr id="56" name="TextBox 56"/>
          <p:cNvSpPr txBox="1"/>
          <p:nvPr/>
        </p:nvSpPr>
        <p:spPr>
          <a:xfrm>
            <a:off x="13588898" y="5959373"/>
            <a:ext cx="3108960" cy="638175"/>
          </a:xfrm>
          <a:prstGeom prst="rect">
            <a:avLst/>
          </a:prstGeom>
        </p:spPr>
        <p:txBody>
          <a:bodyPr lIns="0" tIns="0" rIns="0" bIns="0" rtlCol="0" anchor="t">
            <a:spAutoFit/>
          </a:bodyPr>
          <a:lstStyle/>
          <a:p>
            <a:pPr algn="l">
              <a:lnSpc>
                <a:spcPts val="5280"/>
              </a:lnSpc>
            </a:pPr>
            <a:r>
              <a:rPr lang="en-US" sz="4400" b="1">
                <a:solidFill>
                  <a:srgbClr val="22D3EE"/>
                </a:solidFill>
                <a:latin typeface="Courier New Bold"/>
                <a:ea typeface="Courier New Bold"/>
                <a:cs typeface="Courier New Bold"/>
                <a:sym typeface="Courier New Bold"/>
              </a:rPr>
              <a:t>10,600</a:t>
            </a:r>
          </a:p>
        </p:txBody>
      </p:sp>
      <p:sp>
        <p:nvSpPr>
          <p:cNvPr id="57" name="TextBox 57"/>
          <p:cNvSpPr txBox="1"/>
          <p:nvPr/>
        </p:nvSpPr>
        <p:spPr>
          <a:xfrm>
            <a:off x="13588898" y="6629105"/>
            <a:ext cx="3108960" cy="285750"/>
          </a:xfrm>
          <a:prstGeom prst="rect">
            <a:avLst/>
          </a:prstGeom>
        </p:spPr>
        <p:txBody>
          <a:bodyPr lIns="0" tIns="0" rIns="0" bIns="0" rtlCol="0" anchor="t">
            <a:spAutoFit/>
          </a:bodyPr>
          <a:lstStyle/>
          <a:p>
            <a:pPr algn="l">
              <a:lnSpc>
                <a:spcPts val="2160"/>
              </a:lnSpc>
            </a:pPr>
            <a:r>
              <a:rPr lang="en-US" sz="1800">
                <a:solidFill>
                  <a:srgbClr val="94A3B8"/>
                </a:solidFill>
                <a:latin typeface="Arial"/>
                <a:ea typeface="Arial"/>
                <a:cs typeface="Arial"/>
                <a:sym typeface="Arial"/>
              </a:rPr>
              <a:t>POLYGON COPIES</a:t>
            </a:r>
          </a:p>
        </p:txBody>
      </p:sp>
      <p:sp>
        <p:nvSpPr>
          <p:cNvPr id="58" name="TextBox 58"/>
          <p:cNvSpPr txBox="1"/>
          <p:nvPr/>
        </p:nvSpPr>
        <p:spPr>
          <a:xfrm>
            <a:off x="1371600" y="9600905"/>
            <a:ext cx="15544800" cy="323850"/>
          </a:xfrm>
          <a:prstGeom prst="rect">
            <a:avLst/>
          </a:prstGeom>
        </p:spPr>
        <p:txBody>
          <a:bodyPr lIns="0" tIns="0" rIns="0" bIns="0" rtlCol="0" anchor="t">
            <a:spAutoFit/>
          </a:bodyPr>
          <a:lstStyle/>
          <a:p>
            <a:pPr algn="ctr">
              <a:lnSpc>
                <a:spcPts val="2640"/>
              </a:lnSpc>
            </a:pPr>
            <a:r>
              <a:rPr lang="en-US" sz="2200">
                <a:solidFill>
                  <a:srgbClr val="F1F5F9"/>
                </a:solidFill>
                <a:latin typeface="Arial"/>
                <a:ea typeface="Arial"/>
                <a:cs typeface="Arial"/>
                <a:sym typeface="Arial"/>
              </a:rPr>
              <a:t>Same </a:t>
            </a:r>
            <a:r>
              <a:rPr lang="en-US" sz="2200" b="1">
                <a:solidFill>
                  <a:srgbClr val="22D3EE"/>
                </a:solidFill>
                <a:latin typeface="Arial Bold"/>
                <a:ea typeface="Arial Bold"/>
                <a:cs typeface="Arial Bold"/>
                <a:sym typeface="Arial Bold"/>
              </a:rPr>
              <a:t>checksum</a:t>
            </a:r>
            <a:r>
              <a:rPr lang="en-US" sz="2200">
                <a:solidFill>
                  <a:srgbClr val="F1F5F9"/>
                </a:solidFill>
                <a:latin typeface="Arial"/>
                <a:ea typeface="Arial"/>
                <a:cs typeface="Arial"/>
                <a:sym typeface="Arial"/>
              </a:rPr>
              <a:t> → identical classification results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TextBox 2"/>
          <p:cNvSpPr txBox="1"/>
          <p:nvPr/>
        </p:nvSpPr>
        <p:spPr>
          <a:xfrm>
            <a:off x="1524000" y="1260281"/>
            <a:ext cx="3037303" cy="295275"/>
          </a:xfrm>
          <a:prstGeom prst="rect">
            <a:avLst/>
          </a:prstGeom>
        </p:spPr>
        <p:txBody>
          <a:bodyPr lIns="0" tIns="0" rIns="0" bIns="0" rtlCol="0" anchor="t">
            <a:spAutoFit/>
          </a:bodyPr>
          <a:lstStyle/>
          <a:p>
            <a:pPr algn="l">
              <a:lnSpc>
                <a:spcPts val="2400"/>
              </a:lnSpc>
            </a:pPr>
            <a:r>
              <a:rPr lang="en-US" sz="2000">
                <a:solidFill>
                  <a:srgbClr val="22D3EE"/>
                </a:solidFill>
                <a:latin typeface="Arial"/>
                <a:ea typeface="Arial"/>
                <a:cs typeface="Arial"/>
                <a:sym typeface="Arial"/>
              </a:rPr>
              <a:t>CHALLENGES</a:t>
            </a:r>
          </a:p>
        </p:txBody>
      </p:sp>
      <p:sp>
        <p:nvSpPr>
          <p:cNvPr id="3" name="TextBox 3"/>
          <p:cNvSpPr txBox="1"/>
          <p:nvPr/>
        </p:nvSpPr>
        <p:spPr>
          <a:xfrm>
            <a:off x="1524000" y="2003231"/>
            <a:ext cx="15544800" cy="885825"/>
          </a:xfrm>
          <a:prstGeom prst="rect">
            <a:avLst/>
          </a:prstGeom>
        </p:spPr>
        <p:txBody>
          <a:bodyPr lIns="0" tIns="0" rIns="0" bIns="0" rtlCol="0" anchor="t">
            <a:spAutoFit/>
          </a:bodyPr>
          <a:lstStyle/>
          <a:p>
            <a:pPr algn="l">
              <a:lnSpc>
                <a:spcPts val="7200"/>
              </a:lnSpc>
            </a:pPr>
            <a:r>
              <a:rPr lang="en-US" sz="6000">
                <a:solidFill>
                  <a:srgbClr val="F1F5F9"/>
                </a:solidFill>
                <a:latin typeface="Arial"/>
                <a:ea typeface="Arial"/>
                <a:cs typeface="Arial"/>
                <a:sym typeface="Arial"/>
              </a:rPr>
              <a:t>What we </a:t>
            </a:r>
            <a:r>
              <a:rPr lang="en-US" sz="6000" b="1">
                <a:solidFill>
                  <a:srgbClr val="22D3EE"/>
                </a:solidFill>
                <a:latin typeface="Arial Bold"/>
                <a:ea typeface="Arial Bold"/>
                <a:cs typeface="Arial Bold"/>
                <a:sym typeface="Arial Bold"/>
              </a:rPr>
              <a:t>hit</a:t>
            </a:r>
          </a:p>
        </p:txBody>
      </p:sp>
      <p:grpSp>
        <p:nvGrpSpPr>
          <p:cNvPr id="4" name="Group 4"/>
          <p:cNvGrpSpPr/>
          <p:nvPr/>
        </p:nvGrpSpPr>
        <p:grpSpPr>
          <a:xfrm>
            <a:off x="1524000" y="4191000"/>
            <a:ext cx="7226198" cy="2450906"/>
            <a:chOff x="0" y="0"/>
            <a:chExt cx="9634931" cy="3267875"/>
          </a:xfrm>
        </p:grpSpPr>
        <p:sp>
          <p:nvSpPr>
            <p:cNvPr id="5" name="Freeform 5"/>
            <p:cNvSpPr/>
            <p:nvPr/>
          </p:nvSpPr>
          <p:spPr>
            <a:xfrm>
              <a:off x="0" y="0"/>
              <a:ext cx="9634982" cy="3267964"/>
            </a:xfrm>
            <a:custGeom>
              <a:avLst/>
              <a:gdLst/>
              <a:ahLst/>
              <a:cxnLst/>
              <a:rect l="l" t="t" r="r" b="b"/>
              <a:pathLst>
                <a:path w="9634982" h="3267964">
                  <a:moveTo>
                    <a:pt x="0" y="135509"/>
                  </a:moveTo>
                  <a:cubicBezTo>
                    <a:pt x="0" y="60706"/>
                    <a:pt x="60706" y="0"/>
                    <a:pt x="135509" y="0"/>
                  </a:cubicBezTo>
                  <a:lnTo>
                    <a:pt x="9499473" y="0"/>
                  </a:lnTo>
                  <a:cubicBezTo>
                    <a:pt x="9574276" y="0"/>
                    <a:pt x="9634982" y="60706"/>
                    <a:pt x="9634982" y="135509"/>
                  </a:cubicBezTo>
                  <a:lnTo>
                    <a:pt x="9634982" y="3132455"/>
                  </a:lnTo>
                  <a:cubicBezTo>
                    <a:pt x="9634982" y="3207258"/>
                    <a:pt x="9574276" y="3267964"/>
                    <a:pt x="9499473" y="3267964"/>
                  </a:cubicBezTo>
                  <a:lnTo>
                    <a:pt x="135509" y="3267964"/>
                  </a:lnTo>
                  <a:cubicBezTo>
                    <a:pt x="60706" y="3267837"/>
                    <a:pt x="0" y="3207258"/>
                    <a:pt x="0" y="3132455"/>
                  </a:cubicBezTo>
                  <a:close/>
                </a:path>
              </a:pathLst>
            </a:custGeom>
            <a:solidFill>
              <a:srgbClr val="122236"/>
            </a:solidFill>
          </p:spPr>
          <p:txBody>
            <a:bodyPr/>
            <a:lstStyle/>
            <a:p>
              <a:endParaRPr lang="en-US"/>
            </a:p>
          </p:txBody>
        </p:sp>
      </p:grpSp>
      <p:grpSp>
        <p:nvGrpSpPr>
          <p:cNvPr id="6" name="Group 6"/>
          <p:cNvGrpSpPr/>
          <p:nvPr/>
        </p:nvGrpSpPr>
        <p:grpSpPr>
          <a:xfrm>
            <a:off x="1514475" y="4191000"/>
            <a:ext cx="7245248" cy="19050"/>
            <a:chOff x="0" y="0"/>
            <a:chExt cx="9660331" cy="25400"/>
          </a:xfrm>
        </p:grpSpPr>
        <p:sp>
          <p:nvSpPr>
            <p:cNvPr id="7" name="Freeform 7"/>
            <p:cNvSpPr/>
            <p:nvPr/>
          </p:nvSpPr>
          <p:spPr>
            <a:xfrm>
              <a:off x="12700" y="0"/>
              <a:ext cx="9634982" cy="25400"/>
            </a:xfrm>
            <a:custGeom>
              <a:avLst/>
              <a:gdLst/>
              <a:ahLst/>
              <a:cxnLst/>
              <a:rect l="l" t="t" r="r" b="b"/>
              <a:pathLst>
                <a:path w="9634982" h="25400">
                  <a:moveTo>
                    <a:pt x="0" y="0"/>
                  </a:moveTo>
                  <a:lnTo>
                    <a:pt x="9634982" y="0"/>
                  </a:lnTo>
                  <a:lnTo>
                    <a:pt x="9634982" y="25400"/>
                  </a:lnTo>
                  <a:lnTo>
                    <a:pt x="0" y="25400"/>
                  </a:lnTo>
                  <a:close/>
                </a:path>
              </a:pathLst>
            </a:custGeom>
            <a:solidFill>
              <a:srgbClr val="1E3A5F"/>
            </a:solidFill>
          </p:spPr>
          <p:txBody>
            <a:bodyPr/>
            <a:lstStyle/>
            <a:p>
              <a:endParaRPr lang="en-US"/>
            </a:p>
          </p:txBody>
        </p:sp>
      </p:grpSp>
      <p:grpSp>
        <p:nvGrpSpPr>
          <p:cNvPr id="8" name="Group 8"/>
          <p:cNvGrpSpPr/>
          <p:nvPr/>
        </p:nvGrpSpPr>
        <p:grpSpPr>
          <a:xfrm>
            <a:off x="8731148" y="4181475"/>
            <a:ext cx="19050" cy="2469956"/>
            <a:chOff x="0" y="0"/>
            <a:chExt cx="25400" cy="3293275"/>
          </a:xfrm>
        </p:grpSpPr>
        <p:sp>
          <p:nvSpPr>
            <p:cNvPr id="9" name="Freeform 9"/>
            <p:cNvSpPr/>
            <p:nvPr/>
          </p:nvSpPr>
          <p:spPr>
            <a:xfrm>
              <a:off x="0" y="12700"/>
              <a:ext cx="25400" cy="3267837"/>
            </a:xfrm>
            <a:custGeom>
              <a:avLst/>
              <a:gdLst/>
              <a:ahLst/>
              <a:cxnLst/>
              <a:rect l="l" t="t" r="r" b="b"/>
              <a:pathLst>
                <a:path w="25400" h="3267837">
                  <a:moveTo>
                    <a:pt x="25400" y="0"/>
                  </a:moveTo>
                  <a:lnTo>
                    <a:pt x="25400" y="3267837"/>
                  </a:lnTo>
                  <a:lnTo>
                    <a:pt x="0" y="3267837"/>
                  </a:lnTo>
                  <a:lnTo>
                    <a:pt x="0" y="0"/>
                  </a:lnTo>
                  <a:close/>
                </a:path>
              </a:pathLst>
            </a:custGeom>
            <a:solidFill>
              <a:srgbClr val="1E3A5F"/>
            </a:solidFill>
          </p:spPr>
          <p:txBody>
            <a:bodyPr/>
            <a:lstStyle/>
            <a:p>
              <a:endParaRPr lang="en-US"/>
            </a:p>
          </p:txBody>
        </p:sp>
      </p:grpSp>
      <p:grpSp>
        <p:nvGrpSpPr>
          <p:cNvPr id="10" name="Group 10"/>
          <p:cNvGrpSpPr/>
          <p:nvPr/>
        </p:nvGrpSpPr>
        <p:grpSpPr>
          <a:xfrm>
            <a:off x="1514475" y="6622847"/>
            <a:ext cx="7245248" cy="19050"/>
            <a:chOff x="0" y="0"/>
            <a:chExt cx="9660331" cy="25400"/>
          </a:xfrm>
        </p:grpSpPr>
        <p:sp>
          <p:nvSpPr>
            <p:cNvPr id="11" name="Freeform 11"/>
            <p:cNvSpPr/>
            <p:nvPr/>
          </p:nvSpPr>
          <p:spPr>
            <a:xfrm>
              <a:off x="12700" y="0"/>
              <a:ext cx="9634982" cy="25400"/>
            </a:xfrm>
            <a:custGeom>
              <a:avLst/>
              <a:gdLst/>
              <a:ahLst/>
              <a:cxnLst/>
              <a:rect l="l" t="t" r="r" b="b"/>
              <a:pathLst>
                <a:path w="9634982" h="25400">
                  <a:moveTo>
                    <a:pt x="0" y="0"/>
                  </a:moveTo>
                  <a:lnTo>
                    <a:pt x="9634982" y="0"/>
                  </a:lnTo>
                  <a:lnTo>
                    <a:pt x="9634982" y="25400"/>
                  </a:lnTo>
                  <a:lnTo>
                    <a:pt x="0" y="25400"/>
                  </a:lnTo>
                  <a:close/>
                </a:path>
              </a:pathLst>
            </a:custGeom>
            <a:solidFill>
              <a:srgbClr val="1E3A5F"/>
            </a:solidFill>
          </p:spPr>
          <p:txBody>
            <a:bodyPr/>
            <a:lstStyle/>
            <a:p>
              <a:endParaRPr lang="en-US"/>
            </a:p>
          </p:txBody>
        </p:sp>
      </p:grpSp>
      <p:grpSp>
        <p:nvGrpSpPr>
          <p:cNvPr id="12" name="Group 12"/>
          <p:cNvGrpSpPr/>
          <p:nvPr/>
        </p:nvGrpSpPr>
        <p:grpSpPr>
          <a:xfrm>
            <a:off x="1524000" y="4143375"/>
            <a:ext cx="95250" cy="2546156"/>
            <a:chOff x="0" y="0"/>
            <a:chExt cx="127000" cy="3394875"/>
          </a:xfrm>
        </p:grpSpPr>
        <p:sp>
          <p:nvSpPr>
            <p:cNvPr id="13" name="Freeform 13"/>
            <p:cNvSpPr/>
            <p:nvPr/>
          </p:nvSpPr>
          <p:spPr>
            <a:xfrm>
              <a:off x="0" y="63500"/>
              <a:ext cx="127000" cy="3267837"/>
            </a:xfrm>
            <a:custGeom>
              <a:avLst/>
              <a:gdLst/>
              <a:ahLst/>
              <a:cxnLst/>
              <a:rect l="l" t="t" r="r" b="b"/>
              <a:pathLst>
                <a:path w="127000" h="3267837">
                  <a:moveTo>
                    <a:pt x="127000" y="0"/>
                  </a:moveTo>
                  <a:lnTo>
                    <a:pt x="127000" y="3267837"/>
                  </a:lnTo>
                  <a:lnTo>
                    <a:pt x="0" y="3267837"/>
                  </a:lnTo>
                  <a:lnTo>
                    <a:pt x="0" y="0"/>
                  </a:lnTo>
                  <a:close/>
                </a:path>
              </a:pathLst>
            </a:custGeom>
            <a:solidFill>
              <a:srgbClr val="22D3EE"/>
            </a:solidFill>
          </p:spPr>
          <p:txBody>
            <a:bodyPr/>
            <a:lstStyle/>
            <a:p>
              <a:endParaRPr lang="en-US"/>
            </a:p>
          </p:txBody>
        </p:sp>
      </p:grpSp>
      <p:grpSp>
        <p:nvGrpSpPr>
          <p:cNvPr id="14" name="Group 14"/>
          <p:cNvGrpSpPr/>
          <p:nvPr/>
        </p:nvGrpSpPr>
        <p:grpSpPr>
          <a:xfrm>
            <a:off x="9651806" y="4191000"/>
            <a:ext cx="7226198" cy="2450906"/>
            <a:chOff x="0" y="0"/>
            <a:chExt cx="9634931" cy="3267875"/>
          </a:xfrm>
        </p:grpSpPr>
        <p:sp>
          <p:nvSpPr>
            <p:cNvPr id="15" name="Freeform 15"/>
            <p:cNvSpPr/>
            <p:nvPr/>
          </p:nvSpPr>
          <p:spPr>
            <a:xfrm>
              <a:off x="0" y="0"/>
              <a:ext cx="9634982" cy="3267964"/>
            </a:xfrm>
            <a:custGeom>
              <a:avLst/>
              <a:gdLst/>
              <a:ahLst/>
              <a:cxnLst/>
              <a:rect l="l" t="t" r="r" b="b"/>
              <a:pathLst>
                <a:path w="9634982" h="3267964">
                  <a:moveTo>
                    <a:pt x="0" y="135509"/>
                  </a:moveTo>
                  <a:cubicBezTo>
                    <a:pt x="0" y="60706"/>
                    <a:pt x="60706" y="0"/>
                    <a:pt x="135509" y="0"/>
                  </a:cubicBezTo>
                  <a:lnTo>
                    <a:pt x="9499473" y="0"/>
                  </a:lnTo>
                  <a:cubicBezTo>
                    <a:pt x="9574276" y="0"/>
                    <a:pt x="9634982" y="60706"/>
                    <a:pt x="9634982" y="135509"/>
                  </a:cubicBezTo>
                  <a:lnTo>
                    <a:pt x="9634982" y="3132455"/>
                  </a:lnTo>
                  <a:cubicBezTo>
                    <a:pt x="9634982" y="3207258"/>
                    <a:pt x="9574276" y="3267964"/>
                    <a:pt x="9499473" y="3267964"/>
                  </a:cubicBezTo>
                  <a:lnTo>
                    <a:pt x="135509" y="3267964"/>
                  </a:lnTo>
                  <a:cubicBezTo>
                    <a:pt x="60706" y="3267837"/>
                    <a:pt x="0" y="3207258"/>
                    <a:pt x="0" y="3132455"/>
                  </a:cubicBezTo>
                  <a:close/>
                </a:path>
              </a:pathLst>
            </a:custGeom>
            <a:solidFill>
              <a:srgbClr val="122236"/>
            </a:solidFill>
          </p:spPr>
          <p:txBody>
            <a:bodyPr/>
            <a:lstStyle/>
            <a:p>
              <a:endParaRPr lang="en-US"/>
            </a:p>
          </p:txBody>
        </p:sp>
      </p:grpSp>
      <p:grpSp>
        <p:nvGrpSpPr>
          <p:cNvPr id="16" name="Group 16"/>
          <p:cNvGrpSpPr/>
          <p:nvPr/>
        </p:nvGrpSpPr>
        <p:grpSpPr>
          <a:xfrm>
            <a:off x="9642281" y="4191000"/>
            <a:ext cx="7245248" cy="19050"/>
            <a:chOff x="0" y="0"/>
            <a:chExt cx="9660331" cy="25400"/>
          </a:xfrm>
        </p:grpSpPr>
        <p:sp>
          <p:nvSpPr>
            <p:cNvPr id="17" name="Freeform 17"/>
            <p:cNvSpPr/>
            <p:nvPr/>
          </p:nvSpPr>
          <p:spPr>
            <a:xfrm>
              <a:off x="12700" y="0"/>
              <a:ext cx="9634982" cy="25400"/>
            </a:xfrm>
            <a:custGeom>
              <a:avLst/>
              <a:gdLst/>
              <a:ahLst/>
              <a:cxnLst/>
              <a:rect l="l" t="t" r="r" b="b"/>
              <a:pathLst>
                <a:path w="9634982" h="25400">
                  <a:moveTo>
                    <a:pt x="0" y="0"/>
                  </a:moveTo>
                  <a:lnTo>
                    <a:pt x="9634982" y="0"/>
                  </a:lnTo>
                  <a:lnTo>
                    <a:pt x="9634982" y="25400"/>
                  </a:lnTo>
                  <a:lnTo>
                    <a:pt x="0" y="25400"/>
                  </a:lnTo>
                  <a:close/>
                </a:path>
              </a:pathLst>
            </a:custGeom>
            <a:solidFill>
              <a:srgbClr val="1E3A5F"/>
            </a:solidFill>
          </p:spPr>
          <p:txBody>
            <a:bodyPr/>
            <a:lstStyle/>
            <a:p>
              <a:endParaRPr lang="en-US"/>
            </a:p>
          </p:txBody>
        </p:sp>
      </p:grpSp>
      <p:grpSp>
        <p:nvGrpSpPr>
          <p:cNvPr id="18" name="Group 18"/>
          <p:cNvGrpSpPr/>
          <p:nvPr/>
        </p:nvGrpSpPr>
        <p:grpSpPr>
          <a:xfrm>
            <a:off x="16858955" y="4181475"/>
            <a:ext cx="19050" cy="2469956"/>
            <a:chOff x="0" y="0"/>
            <a:chExt cx="25400" cy="3293275"/>
          </a:xfrm>
        </p:grpSpPr>
        <p:sp>
          <p:nvSpPr>
            <p:cNvPr id="19" name="Freeform 19"/>
            <p:cNvSpPr/>
            <p:nvPr/>
          </p:nvSpPr>
          <p:spPr>
            <a:xfrm>
              <a:off x="0" y="12700"/>
              <a:ext cx="25400" cy="3267837"/>
            </a:xfrm>
            <a:custGeom>
              <a:avLst/>
              <a:gdLst/>
              <a:ahLst/>
              <a:cxnLst/>
              <a:rect l="l" t="t" r="r" b="b"/>
              <a:pathLst>
                <a:path w="25400" h="3267837">
                  <a:moveTo>
                    <a:pt x="25400" y="0"/>
                  </a:moveTo>
                  <a:lnTo>
                    <a:pt x="25400" y="3267837"/>
                  </a:lnTo>
                  <a:lnTo>
                    <a:pt x="0" y="3267837"/>
                  </a:lnTo>
                  <a:lnTo>
                    <a:pt x="0" y="0"/>
                  </a:lnTo>
                  <a:close/>
                </a:path>
              </a:pathLst>
            </a:custGeom>
            <a:solidFill>
              <a:srgbClr val="1E3A5F"/>
            </a:solidFill>
          </p:spPr>
          <p:txBody>
            <a:bodyPr/>
            <a:lstStyle/>
            <a:p>
              <a:endParaRPr lang="en-US"/>
            </a:p>
          </p:txBody>
        </p:sp>
      </p:grpSp>
      <p:grpSp>
        <p:nvGrpSpPr>
          <p:cNvPr id="20" name="Group 20"/>
          <p:cNvGrpSpPr/>
          <p:nvPr/>
        </p:nvGrpSpPr>
        <p:grpSpPr>
          <a:xfrm>
            <a:off x="9642281" y="6622847"/>
            <a:ext cx="7245248" cy="19050"/>
            <a:chOff x="0" y="0"/>
            <a:chExt cx="9660331" cy="25400"/>
          </a:xfrm>
        </p:grpSpPr>
        <p:sp>
          <p:nvSpPr>
            <p:cNvPr id="21" name="Freeform 21"/>
            <p:cNvSpPr/>
            <p:nvPr/>
          </p:nvSpPr>
          <p:spPr>
            <a:xfrm>
              <a:off x="12700" y="0"/>
              <a:ext cx="9634982" cy="25400"/>
            </a:xfrm>
            <a:custGeom>
              <a:avLst/>
              <a:gdLst/>
              <a:ahLst/>
              <a:cxnLst/>
              <a:rect l="l" t="t" r="r" b="b"/>
              <a:pathLst>
                <a:path w="9634982" h="25400">
                  <a:moveTo>
                    <a:pt x="0" y="0"/>
                  </a:moveTo>
                  <a:lnTo>
                    <a:pt x="9634982" y="0"/>
                  </a:lnTo>
                  <a:lnTo>
                    <a:pt x="9634982" y="25400"/>
                  </a:lnTo>
                  <a:lnTo>
                    <a:pt x="0" y="25400"/>
                  </a:lnTo>
                  <a:close/>
                </a:path>
              </a:pathLst>
            </a:custGeom>
            <a:solidFill>
              <a:srgbClr val="1E3A5F"/>
            </a:solidFill>
          </p:spPr>
          <p:txBody>
            <a:bodyPr/>
            <a:lstStyle/>
            <a:p>
              <a:endParaRPr lang="en-US"/>
            </a:p>
          </p:txBody>
        </p:sp>
      </p:grpSp>
      <p:grpSp>
        <p:nvGrpSpPr>
          <p:cNvPr id="22" name="Group 22"/>
          <p:cNvGrpSpPr/>
          <p:nvPr/>
        </p:nvGrpSpPr>
        <p:grpSpPr>
          <a:xfrm>
            <a:off x="9651797" y="4143375"/>
            <a:ext cx="95250" cy="2546156"/>
            <a:chOff x="0" y="0"/>
            <a:chExt cx="127000" cy="3394875"/>
          </a:xfrm>
        </p:grpSpPr>
        <p:sp>
          <p:nvSpPr>
            <p:cNvPr id="23" name="Freeform 23"/>
            <p:cNvSpPr/>
            <p:nvPr/>
          </p:nvSpPr>
          <p:spPr>
            <a:xfrm>
              <a:off x="0" y="63500"/>
              <a:ext cx="127000" cy="3267837"/>
            </a:xfrm>
            <a:custGeom>
              <a:avLst/>
              <a:gdLst/>
              <a:ahLst/>
              <a:cxnLst/>
              <a:rect l="l" t="t" r="r" b="b"/>
              <a:pathLst>
                <a:path w="127000" h="3267837">
                  <a:moveTo>
                    <a:pt x="127000" y="0"/>
                  </a:moveTo>
                  <a:lnTo>
                    <a:pt x="127000" y="3267837"/>
                  </a:lnTo>
                  <a:lnTo>
                    <a:pt x="0" y="3267837"/>
                  </a:lnTo>
                  <a:lnTo>
                    <a:pt x="0" y="0"/>
                  </a:lnTo>
                  <a:close/>
                </a:path>
              </a:pathLst>
            </a:custGeom>
            <a:solidFill>
              <a:srgbClr val="22D3EE"/>
            </a:solidFill>
          </p:spPr>
          <p:txBody>
            <a:bodyPr/>
            <a:lstStyle/>
            <a:p>
              <a:endParaRPr lang="en-US"/>
            </a:p>
          </p:txBody>
        </p:sp>
      </p:grpSp>
      <p:grpSp>
        <p:nvGrpSpPr>
          <p:cNvPr id="24" name="Group 24"/>
          <p:cNvGrpSpPr/>
          <p:nvPr/>
        </p:nvGrpSpPr>
        <p:grpSpPr>
          <a:xfrm>
            <a:off x="1524000" y="7111898"/>
            <a:ext cx="7226198" cy="2450906"/>
            <a:chOff x="0" y="0"/>
            <a:chExt cx="9634931" cy="3267875"/>
          </a:xfrm>
        </p:grpSpPr>
        <p:sp>
          <p:nvSpPr>
            <p:cNvPr id="25" name="Freeform 25"/>
            <p:cNvSpPr/>
            <p:nvPr/>
          </p:nvSpPr>
          <p:spPr>
            <a:xfrm>
              <a:off x="0" y="0"/>
              <a:ext cx="9634982" cy="3267964"/>
            </a:xfrm>
            <a:custGeom>
              <a:avLst/>
              <a:gdLst/>
              <a:ahLst/>
              <a:cxnLst/>
              <a:rect l="l" t="t" r="r" b="b"/>
              <a:pathLst>
                <a:path w="9634982" h="3267964">
                  <a:moveTo>
                    <a:pt x="0" y="135509"/>
                  </a:moveTo>
                  <a:cubicBezTo>
                    <a:pt x="0" y="60706"/>
                    <a:pt x="60706" y="0"/>
                    <a:pt x="135509" y="0"/>
                  </a:cubicBezTo>
                  <a:lnTo>
                    <a:pt x="9499473" y="0"/>
                  </a:lnTo>
                  <a:cubicBezTo>
                    <a:pt x="9574276" y="0"/>
                    <a:pt x="9634982" y="60706"/>
                    <a:pt x="9634982" y="135509"/>
                  </a:cubicBezTo>
                  <a:lnTo>
                    <a:pt x="9634982" y="3132455"/>
                  </a:lnTo>
                  <a:cubicBezTo>
                    <a:pt x="9634982" y="3207258"/>
                    <a:pt x="9574276" y="3267964"/>
                    <a:pt x="9499473" y="3267964"/>
                  </a:cubicBezTo>
                  <a:lnTo>
                    <a:pt x="135509" y="3267964"/>
                  </a:lnTo>
                  <a:cubicBezTo>
                    <a:pt x="60706" y="3267837"/>
                    <a:pt x="0" y="3207258"/>
                    <a:pt x="0" y="3132455"/>
                  </a:cubicBezTo>
                  <a:close/>
                </a:path>
              </a:pathLst>
            </a:custGeom>
            <a:solidFill>
              <a:srgbClr val="122236"/>
            </a:solidFill>
          </p:spPr>
          <p:txBody>
            <a:bodyPr/>
            <a:lstStyle/>
            <a:p>
              <a:endParaRPr lang="en-US"/>
            </a:p>
          </p:txBody>
        </p:sp>
      </p:grpSp>
      <p:grpSp>
        <p:nvGrpSpPr>
          <p:cNvPr id="26" name="Group 26"/>
          <p:cNvGrpSpPr/>
          <p:nvPr/>
        </p:nvGrpSpPr>
        <p:grpSpPr>
          <a:xfrm>
            <a:off x="1514475" y="7111898"/>
            <a:ext cx="7245248" cy="19050"/>
            <a:chOff x="0" y="0"/>
            <a:chExt cx="9660331" cy="25400"/>
          </a:xfrm>
        </p:grpSpPr>
        <p:sp>
          <p:nvSpPr>
            <p:cNvPr id="27" name="Freeform 27"/>
            <p:cNvSpPr/>
            <p:nvPr/>
          </p:nvSpPr>
          <p:spPr>
            <a:xfrm>
              <a:off x="12700" y="0"/>
              <a:ext cx="9634982" cy="25400"/>
            </a:xfrm>
            <a:custGeom>
              <a:avLst/>
              <a:gdLst/>
              <a:ahLst/>
              <a:cxnLst/>
              <a:rect l="l" t="t" r="r" b="b"/>
              <a:pathLst>
                <a:path w="9634982" h="25400">
                  <a:moveTo>
                    <a:pt x="0" y="0"/>
                  </a:moveTo>
                  <a:lnTo>
                    <a:pt x="9634982" y="0"/>
                  </a:lnTo>
                  <a:lnTo>
                    <a:pt x="9634982" y="25400"/>
                  </a:lnTo>
                  <a:lnTo>
                    <a:pt x="0" y="25400"/>
                  </a:lnTo>
                  <a:close/>
                </a:path>
              </a:pathLst>
            </a:custGeom>
            <a:solidFill>
              <a:srgbClr val="1E3A5F"/>
            </a:solidFill>
          </p:spPr>
          <p:txBody>
            <a:bodyPr/>
            <a:lstStyle/>
            <a:p>
              <a:endParaRPr lang="en-US"/>
            </a:p>
          </p:txBody>
        </p:sp>
      </p:grpSp>
      <p:grpSp>
        <p:nvGrpSpPr>
          <p:cNvPr id="28" name="Group 28"/>
          <p:cNvGrpSpPr/>
          <p:nvPr/>
        </p:nvGrpSpPr>
        <p:grpSpPr>
          <a:xfrm>
            <a:off x="8731148" y="7102373"/>
            <a:ext cx="19050" cy="2469956"/>
            <a:chOff x="0" y="0"/>
            <a:chExt cx="25400" cy="3293275"/>
          </a:xfrm>
        </p:grpSpPr>
        <p:sp>
          <p:nvSpPr>
            <p:cNvPr id="29" name="Freeform 29"/>
            <p:cNvSpPr/>
            <p:nvPr/>
          </p:nvSpPr>
          <p:spPr>
            <a:xfrm>
              <a:off x="0" y="12700"/>
              <a:ext cx="25400" cy="3267837"/>
            </a:xfrm>
            <a:custGeom>
              <a:avLst/>
              <a:gdLst/>
              <a:ahLst/>
              <a:cxnLst/>
              <a:rect l="l" t="t" r="r" b="b"/>
              <a:pathLst>
                <a:path w="25400" h="3267837">
                  <a:moveTo>
                    <a:pt x="25400" y="0"/>
                  </a:moveTo>
                  <a:lnTo>
                    <a:pt x="25400" y="3267837"/>
                  </a:lnTo>
                  <a:lnTo>
                    <a:pt x="0" y="3267837"/>
                  </a:lnTo>
                  <a:lnTo>
                    <a:pt x="0" y="0"/>
                  </a:lnTo>
                  <a:close/>
                </a:path>
              </a:pathLst>
            </a:custGeom>
            <a:solidFill>
              <a:srgbClr val="1E3A5F"/>
            </a:solidFill>
          </p:spPr>
          <p:txBody>
            <a:bodyPr/>
            <a:lstStyle/>
            <a:p>
              <a:endParaRPr lang="en-US"/>
            </a:p>
          </p:txBody>
        </p:sp>
      </p:grpSp>
      <p:grpSp>
        <p:nvGrpSpPr>
          <p:cNvPr id="30" name="Group 30"/>
          <p:cNvGrpSpPr/>
          <p:nvPr/>
        </p:nvGrpSpPr>
        <p:grpSpPr>
          <a:xfrm>
            <a:off x="1514475" y="9543755"/>
            <a:ext cx="7245248" cy="19050"/>
            <a:chOff x="0" y="0"/>
            <a:chExt cx="9660331" cy="25400"/>
          </a:xfrm>
        </p:grpSpPr>
        <p:sp>
          <p:nvSpPr>
            <p:cNvPr id="31" name="Freeform 31"/>
            <p:cNvSpPr/>
            <p:nvPr/>
          </p:nvSpPr>
          <p:spPr>
            <a:xfrm>
              <a:off x="12700" y="0"/>
              <a:ext cx="9634982" cy="25400"/>
            </a:xfrm>
            <a:custGeom>
              <a:avLst/>
              <a:gdLst/>
              <a:ahLst/>
              <a:cxnLst/>
              <a:rect l="l" t="t" r="r" b="b"/>
              <a:pathLst>
                <a:path w="9634982" h="25400">
                  <a:moveTo>
                    <a:pt x="0" y="0"/>
                  </a:moveTo>
                  <a:lnTo>
                    <a:pt x="9634982" y="0"/>
                  </a:lnTo>
                  <a:lnTo>
                    <a:pt x="9634982" y="25400"/>
                  </a:lnTo>
                  <a:lnTo>
                    <a:pt x="0" y="25400"/>
                  </a:lnTo>
                  <a:close/>
                </a:path>
              </a:pathLst>
            </a:custGeom>
            <a:solidFill>
              <a:srgbClr val="1E3A5F"/>
            </a:solidFill>
          </p:spPr>
          <p:txBody>
            <a:bodyPr/>
            <a:lstStyle/>
            <a:p>
              <a:endParaRPr lang="en-US"/>
            </a:p>
          </p:txBody>
        </p:sp>
      </p:grpSp>
      <p:grpSp>
        <p:nvGrpSpPr>
          <p:cNvPr id="32" name="Group 32"/>
          <p:cNvGrpSpPr/>
          <p:nvPr/>
        </p:nvGrpSpPr>
        <p:grpSpPr>
          <a:xfrm>
            <a:off x="1524000" y="7064273"/>
            <a:ext cx="95250" cy="2546156"/>
            <a:chOff x="0" y="0"/>
            <a:chExt cx="127000" cy="3394875"/>
          </a:xfrm>
        </p:grpSpPr>
        <p:sp>
          <p:nvSpPr>
            <p:cNvPr id="33" name="Freeform 33"/>
            <p:cNvSpPr/>
            <p:nvPr/>
          </p:nvSpPr>
          <p:spPr>
            <a:xfrm>
              <a:off x="0" y="63500"/>
              <a:ext cx="127000" cy="3267837"/>
            </a:xfrm>
            <a:custGeom>
              <a:avLst/>
              <a:gdLst/>
              <a:ahLst/>
              <a:cxnLst/>
              <a:rect l="l" t="t" r="r" b="b"/>
              <a:pathLst>
                <a:path w="127000" h="3267837">
                  <a:moveTo>
                    <a:pt x="127000" y="0"/>
                  </a:moveTo>
                  <a:lnTo>
                    <a:pt x="127000" y="3267837"/>
                  </a:lnTo>
                  <a:lnTo>
                    <a:pt x="0" y="3267837"/>
                  </a:lnTo>
                  <a:lnTo>
                    <a:pt x="0" y="0"/>
                  </a:lnTo>
                  <a:close/>
                </a:path>
              </a:pathLst>
            </a:custGeom>
            <a:solidFill>
              <a:srgbClr val="22D3EE"/>
            </a:solidFill>
          </p:spPr>
          <p:txBody>
            <a:bodyPr/>
            <a:lstStyle/>
            <a:p>
              <a:endParaRPr lang="en-US"/>
            </a:p>
          </p:txBody>
        </p:sp>
      </p:grpSp>
      <p:grpSp>
        <p:nvGrpSpPr>
          <p:cNvPr id="34" name="Group 34"/>
          <p:cNvGrpSpPr/>
          <p:nvPr/>
        </p:nvGrpSpPr>
        <p:grpSpPr>
          <a:xfrm>
            <a:off x="9651806" y="7111898"/>
            <a:ext cx="7226198" cy="2450906"/>
            <a:chOff x="0" y="0"/>
            <a:chExt cx="9634931" cy="3267875"/>
          </a:xfrm>
        </p:grpSpPr>
        <p:sp>
          <p:nvSpPr>
            <p:cNvPr id="35" name="Freeform 35"/>
            <p:cNvSpPr/>
            <p:nvPr/>
          </p:nvSpPr>
          <p:spPr>
            <a:xfrm>
              <a:off x="0" y="0"/>
              <a:ext cx="9634982" cy="3267964"/>
            </a:xfrm>
            <a:custGeom>
              <a:avLst/>
              <a:gdLst/>
              <a:ahLst/>
              <a:cxnLst/>
              <a:rect l="l" t="t" r="r" b="b"/>
              <a:pathLst>
                <a:path w="9634982" h="3267964">
                  <a:moveTo>
                    <a:pt x="0" y="135509"/>
                  </a:moveTo>
                  <a:cubicBezTo>
                    <a:pt x="0" y="60706"/>
                    <a:pt x="60706" y="0"/>
                    <a:pt x="135509" y="0"/>
                  </a:cubicBezTo>
                  <a:lnTo>
                    <a:pt x="9499473" y="0"/>
                  </a:lnTo>
                  <a:cubicBezTo>
                    <a:pt x="9574276" y="0"/>
                    <a:pt x="9634982" y="60706"/>
                    <a:pt x="9634982" y="135509"/>
                  </a:cubicBezTo>
                  <a:lnTo>
                    <a:pt x="9634982" y="3132455"/>
                  </a:lnTo>
                  <a:cubicBezTo>
                    <a:pt x="9634982" y="3207258"/>
                    <a:pt x="9574276" y="3267964"/>
                    <a:pt x="9499473" y="3267964"/>
                  </a:cubicBezTo>
                  <a:lnTo>
                    <a:pt x="135509" y="3267964"/>
                  </a:lnTo>
                  <a:cubicBezTo>
                    <a:pt x="60706" y="3267837"/>
                    <a:pt x="0" y="3207258"/>
                    <a:pt x="0" y="3132455"/>
                  </a:cubicBezTo>
                  <a:close/>
                </a:path>
              </a:pathLst>
            </a:custGeom>
            <a:solidFill>
              <a:srgbClr val="122236"/>
            </a:solidFill>
          </p:spPr>
          <p:txBody>
            <a:bodyPr/>
            <a:lstStyle/>
            <a:p>
              <a:endParaRPr lang="en-US"/>
            </a:p>
          </p:txBody>
        </p:sp>
      </p:grpSp>
      <p:grpSp>
        <p:nvGrpSpPr>
          <p:cNvPr id="36" name="Group 36"/>
          <p:cNvGrpSpPr/>
          <p:nvPr/>
        </p:nvGrpSpPr>
        <p:grpSpPr>
          <a:xfrm>
            <a:off x="9642281" y="7111898"/>
            <a:ext cx="7245248" cy="19050"/>
            <a:chOff x="0" y="0"/>
            <a:chExt cx="9660331" cy="25400"/>
          </a:xfrm>
        </p:grpSpPr>
        <p:sp>
          <p:nvSpPr>
            <p:cNvPr id="37" name="Freeform 37"/>
            <p:cNvSpPr/>
            <p:nvPr/>
          </p:nvSpPr>
          <p:spPr>
            <a:xfrm>
              <a:off x="12700" y="0"/>
              <a:ext cx="9634982" cy="25400"/>
            </a:xfrm>
            <a:custGeom>
              <a:avLst/>
              <a:gdLst/>
              <a:ahLst/>
              <a:cxnLst/>
              <a:rect l="l" t="t" r="r" b="b"/>
              <a:pathLst>
                <a:path w="9634982" h="25400">
                  <a:moveTo>
                    <a:pt x="0" y="0"/>
                  </a:moveTo>
                  <a:lnTo>
                    <a:pt x="9634982" y="0"/>
                  </a:lnTo>
                  <a:lnTo>
                    <a:pt x="9634982" y="25400"/>
                  </a:lnTo>
                  <a:lnTo>
                    <a:pt x="0" y="25400"/>
                  </a:lnTo>
                  <a:close/>
                </a:path>
              </a:pathLst>
            </a:custGeom>
            <a:solidFill>
              <a:srgbClr val="1E3A5F"/>
            </a:solidFill>
          </p:spPr>
          <p:txBody>
            <a:bodyPr/>
            <a:lstStyle/>
            <a:p>
              <a:endParaRPr lang="en-US"/>
            </a:p>
          </p:txBody>
        </p:sp>
      </p:grpSp>
      <p:grpSp>
        <p:nvGrpSpPr>
          <p:cNvPr id="38" name="Group 38"/>
          <p:cNvGrpSpPr/>
          <p:nvPr/>
        </p:nvGrpSpPr>
        <p:grpSpPr>
          <a:xfrm>
            <a:off x="16858955" y="7102373"/>
            <a:ext cx="19050" cy="2469956"/>
            <a:chOff x="0" y="0"/>
            <a:chExt cx="25400" cy="3293275"/>
          </a:xfrm>
        </p:grpSpPr>
        <p:sp>
          <p:nvSpPr>
            <p:cNvPr id="39" name="Freeform 39"/>
            <p:cNvSpPr/>
            <p:nvPr/>
          </p:nvSpPr>
          <p:spPr>
            <a:xfrm>
              <a:off x="0" y="12700"/>
              <a:ext cx="25400" cy="3267837"/>
            </a:xfrm>
            <a:custGeom>
              <a:avLst/>
              <a:gdLst/>
              <a:ahLst/>
              <a:cxnLst/>
              <a:rect l="l" t="t" r="r" b="b"/>
              <a:pathLst>
                <a:path w="25400" h="3267837">
                  <a:moveTo>
                    <a:pt x="25400" y="0"/>
                  </a:moveTo>
                  <a:lnTo>
                    <a:pt x="25400" y="3267837"/>
                  </a:lnTo>
                  <a:lnTo>
                    <a:pt x="0" y="3267837"/>
                  </a:lnTo>
                  <a:lnTo>
                    <a:pt x="0" y="0"/>
                  </a:lnTo>
                  <a:close/>
                </a:path>
              </a:pathLst>
            </a:custGeom>
            <a:solidFill>
              <a:srgbClr val="1E3A5F"/>
            </a:solidFill>
          </p:spPr>
          <p:txBody>
            <a:bodyPr/>
            <a:lstStyle/>
            <a:p>
              <a:endParaRPr lang="en-US"/>
            </a:p>
          </p:txBody>
        </p:sp>
      </p:grpSp>
      <p:grpSp>
        <p:nvGrpSpPr>
          <p:cNvPr id="40" name="Group 40"/>
          <p:cNvGrpSpPr/>
          <p:nvPr/>
        </p:nvGrpSpPr>
        <p:grpSpPr>
          <a:xfrm>
            <a:off x="9642281" y="9543755"/>
            <a:ext cx="7245248" cy="19050"/>
            <a:chOff x="0" y="0"/>
            <a:chExt cx="9660331" cy="25400"/>
          </a:xfrm>
        </p:grpSpPr>
        <p:sp>
          <p:nvSpPr>
            <p:cNvPr id="41" name="Freeform 41"/>
            <p:cNvSpPr/>
            <p:nvPr/>
          </p:nvSpPr>
          <p:spPr>
            <a:xfrm>
              <a:off x="12700" y="0"/>
              <a:ext cx="9634982" cy="25400"/>
            </a:xfrm>
            <a:custGeom>
              <a:avLst/>
              <a:gdLst/>
              <a:ahLst/>
              <a:cxnLst/>
              <a:rect l="l" t="t" r="r" b="b"/>
              <a:pathLst>
                <a:path w="9634982" h="25400">
                  <a:moveTo>
                    <a:pt x="0" y="0"/>
                  </a:moveTo>
                  <a:lnTo>
                    <a:pt x="9634982" y="0"/>
                  </a:lnTo>
                  <a:lnTo>
                    <a:pt x="9634982" y="25400"/>
                  </a:lnTo>
                  <a:lnTo>
                    <a:pt x="0" y="25400"/>
                  </a:lnTo>
                  <a:close/>
                </a:path>
              </a:pathLst>
            </a:custGeom>
            <a:solidFill>
              <a:srgbClr val="1E3A5F"/>
            </a:solidFill>
          </p:spPr>
          <p:txBody>
            <a:bodyPr/>
            <a:lstStyle/>
            <a:p>
              <a:endParaRPr lang="en-US"/>
            </a:p>
          </p:txBody>
        </p:sp>
      </p:grpSp>
      <p:grpSp>
        <p:nvGrpSpPr>
          <p:cNvPr id="42" name="Group 42"/>
          <p:cNvGrpSpPr/>
          <p:nvPr/>
        </p:nvGrpSpPr>
        <p:grpSpPr>
          <a:xfrm>
            <a:off x="9651797" y="7064273"/>
            <a:ext cx="95250" cy="2546156"/>
            <a:chOff x="0" y="0"/>
            <a:chExt cx="127000" cy="3394875"/>
          </a:xfrm>
        </p:grpSpPr>
        <p:sp>
          <p:nvSpPr>
            <p:cNvPr id="43" name="Freeform 43"/>
            <p:cNvSpPr/>
            <p:nvPr/>
          </p:nvSpPr>
          <p:spPr>
            <a:xfrm>
              <a:off x="0" y="63500"/>
              <a:ext cx="127000" cy="3267837"/>
            </a:xfrm>
            <a:custGeom>
              <a:avLst/>
              <a:gdLst/>
              <a:ahLst/>
              <a:cxnLst/>
              <a:rect l="l" t="t" r="r" b="b"/>
              <a:pathLst>
                <a:path w="127000" h="3267837">
                  <a:moveTo>
                    <a:pt x="127000" y="0"/>
                  </a:moveTo>
                  <a:lnTo>
                    <a:pt x="127000" y="3267837"/>
                  </a:lnTo>
                  <a:lnTo>
                    <a:pt x="0" y="3267837"/>
                  </a:lnTo>
                  <a:lnTo>
                    <a:pt x="0" y="0"/>
                  </a:lnTo>
                  <a:close/>
                </a:path>
              </a:pathLst>
            </a:custGeom>
            <a:solidFill>
              <a:srgbClr val="22D3EE"/>
            </a:solidFill>
          </p:spPr>
          <p:txBody>
            <a:bodyPr/>
            <a:lstStyle/>
            <a:p>
              <a:endParaRPr lang="en-US"/>
            </a:p>
          </p:txBody>
        </p:sp>
      </p:grpSp>
      <p:sp>
        <p:nvSpPr>
          <p:cNvPr id="44" name="TextBox 44"/>
          <p:cNvSpPr txBox="1"/>
          <p:nvPr/>
        </p:nvSpPr>
        <p:spPr>
          <a:xfrm>
            <a:off x="1930298" y="4527356"/>
            <a:ext cx="7254135" cy="419100"/>
          </a:xfrm>
          <a:prstGeom prst="rect">
            <a:avLst/>
          </a:prstGeom>
        </p:spPr>
        <p:txBody>
          <a:bodyPr lIns="0" tIns="0" rIns="0" bIns="0" rtlCol="0" anchor="t">
            <a:spAutoFit/>
          </a:bodyPr>
          <a:lstStyle/>
          <a:p>
            <a:pPr algn="l">
              <a:lnSpc>
                <a:spcPts val="3120"/>
              </a:lnSpc>
            </a:pPr>
            <a:r>
              <a:rPr lang="en-US" sz="2600" b="1">
                <a:solidFill>
                  <a:srgbClr val="F1F5F9"/>
                </a:solidFill>
                <a:latin typeface="Arial Bold"/>
                <a:ea typeface="Arial Bold"/>
                <a:cs typeface="Arial Bold"/>
                <a:sym typeface="Arial Bold"/>
              </a:rPr>
              <a:t>Memory-bound quadtree</a:t>
            </a:r>
          </a:p>
        </p:txBody>
      </p:sp>
      <p:sp>
        <p:nvSpPr>
          <p:cNvPr id="45" name="TextBox 45"/>
          <p:cNvSpPr txBox="1"/>
          <p:nvPr/>
        </p:nvSpPr>
        <p:spPr>
          <a:xfrm>
            <a:off x="1930298" y="5051231"/>
            <a:ext cx="7254135" cy="403031"/>
          </a:xfrm>
          <a:prstGeom prst="rect">
            <a:avLst/>
          </a:prstGeom>
        </p:spPr>
        <p:txBody>
          <a:bodyPr lIns="0" tIns="0" rIns="0" bIns="0" rtlCol="0" anchor="t">
            <a:spAutoFit/>
          </a:bodyPr>
          <a:lstStyle/>
          <a:p>
            <a:pPr algn="l">
              <a:lnSpc>
                <a:spcPts val="2800"/>
              </a:lnSpc>
            </a:pPr>
            <a:r>
              <a:rPr lang="en-US" sz="2000">
                <a:solidFill>
                  <a:srgbClr val="94A3B8"/>
                </a:solidFill>
                <a:latin typeface="Arial"/>
                <a:ea typeface="Arial"/>
                <a:cs typeface="Arial"/>
                <a:sym typeface="Arial"/>
              </a:rPr>
              <a:t>Random pointer chasing limits parallel scaling</a:t>
            </a:r>
          </a:p>
        </p:txBody>
      </p:sp>
      <p:sp>
        <p:nvSpPr>
          <p:cNvPr id="46" name="TextBox 46"/>
          <p:cNvSpPr txBox="1"/>
          <p:nvPr/>
        </p:nvSpPr>
        <p:spPr>
          <a:xfrm>
            <a:off x="10058105" y="4527356"/>
            <a:ext cx="7254135" cy="419100"/>
          </a:xfrm>
          <a:prstGeom prst="rect">
            <a:avLst/>
          </a:prstGeom>
        </p:spPr>
        <p:txBody>
          <a:bodyPr lIns="0" tIns="0" rIns="0" bIns="0" rtlCol="0" anchor="t">
            <a:spAutoFit/>
          </a:bodyPr>
          <a:lstStyle/>
          <a:p>
            <a:pPr algn="l">
              <a:lnSpc>
                <a:spcPts val="3120"/>
              </a:lnSpc>
            </a:pPr>
            <a:r>
              <a:rPr lang="en-US" sz="2600" b="1">
                <a:solidFill>
                  <a:srgbClr val="F1F5F9"/>
                </a:solidFill>
                <a:latin typeface="Arial Bold"/>
                <a:ea typeface="Arial Bold"/>
                <a:cs typeface="Arial Bold"/>
                <a:sym typeface="Arial Bold"/>
              </a:rPr>
              <a:t>Sub-linear speedup</a:t>
            </a:r>
          </a:p>
        </p:txBody>
      </p:sp>
      <p:sp>
        <p:nvSpPr>
          <p:cNvPr id="47" name="TextBox 47"/>
          <p:cNvSpPr txBox="1"/>
          <p:nvPr/>
        </p:nvSpPr>
        <p:spPr>
          <a:xfrm>
            <a:off x="10058105" y="5051231"/>
            <a:ext cx="7254135" cy="403031"/>
          </a:xfrm>
          <a:prstGeom prst="rect">
            <a:avLst/>
          </a:prstGeom>
        </p:spPr>
        <p:txBody>
          <a:bodyPr lIns="0" tIns="0" rIns="0" bIns="0" rtlCol="0" anchor="t">
            <a:spAutoFit/>
          </a:bodyPr>
          <a:lstStyle/>
          <a:p>
            <a:pPr algn="l">
              <a:lnSpc>
                <a:spcPts val="2800"/>
              </a:lnSpc>
            </a:pPr>
            <a:r>
              <a:rPr lang="en-US" sz="2000">
                <a:solidFill>
                  <a:srgbClr val="94A3B8"/>
                </a:solidFill>
                <a:latin typeface="Arial"/>
                <a:ea typeface="Arial"/>
                <a:cs typeface="Arial"/>
                <a:sym typeface="Arial"/>
              </a:rPr>
              <a:t>2.14× on 4 threads — not 4×</a:t>
            </a:r>
          </a:p>
        </p:txBody>
      </p:sp>
      <p:sp>
        <p:nvSpPr>
          <p:cNvPr id="48" name="TextBox 48"/>
          <p:cNvSpPr txBox="1"/>
          <p:nvPr/>
        </p:nvSpPr>
        <p:spPr>
          <a:xfrm>
            <a:off x="1930298" y="7448255"/>
            <a:ext cx="7254135" cy="419100"/>
          </a:xfrm>
          <a:prstGeom prst="rect">
            <a:avLst/>
          </a:prstGeom>
        </p:spPr>
        <p:txBody>
          <a:bodyPr lIns="0" tIns="0" rIns="0" bIns="0" rtlCol="0" anchor="t">
            <a:spAutoFit/>
          </a:bodyPr>
          <a:lstStyle/>
          <a:p>
            <a:pPr algn="l">
              <a:lnSpc>
                <a:spcPts val="3120"/>
              </a:lnSpc>
            </a:pPr>
            <a:r>
              <a:rPr lang="en-US" sz="2600" b="1">
                <a:solidFill>
                  <a:srgbClr val="F1F5F9"/>
                </a:solidFill>
                <a:latin typeface="Arial Bold"/>
                <a:ea typeface="Arial Bold"/>
                <a:cs typeface="Arial Bold"/>
                <a:sym typeface="Arial Bold"/>
              </a:rPr>
              <a:t>No MPI on Windows</a:t>
            </a:r>
          </a:p>
        </p:txBody>
      </p:sp>
      <p:sp>
        <p:nvSpPr>
          <p:cNvPr id="49" name="TextBox 49"/>
          <p:cNvSpPr txBox="1"/>
          <p:nvPr/>
        </p:nvSpPr>
        <p:spPr>
          <a:xfrm>
            <a:off x="1930298" y="7972130"/>
            <a:ext cx="7254135" cy="403031"/>
          </a:xfrm>
          <a:prstGeom prst="rect">
            <a:avLst/>
          </a:prstGeom>
        </p:spPr>
        <p:txBody>
          <a:bodyPr lIns="0" tIns="0" rIns="0" bIns="0" rtlCol="0" anchor="t">
            <a:spAutoFit/>
          </a:bodyPr>
          <a:lstStyle/>
          <a:p>
            <a:pPr algn="l">
              <a:lnSpc>
                <a:spcPts val="2800"/>
              </a:lnSpc>
            </a:pPr>
            <a:r>
              <a:rPr lang="en-US" sz="2000">
                <a:solidFill>
                  <a:srgbClr val="94A3B8"/>
                </a:solidFill>
                <a:latin typeface="Arial"/>
                <a:ea typeface="Arial"/>
                <a:cs typeface="Arial"/>
                <a:sym typeface="Arial"/>
              </a:rPr>
              <a:t>Used multi-process with file-based IPC instead</a:t>
            </a:r>
          </a:p>
        </p:txBody>
      </p:sp>
      <p:sp>
        <p:nvSpPr>
          <p:cNvPr id="50" name="TextBox 50"/>
          <p:cNvSpPr txBox="1"/>
          <p:nvPr/>
        </p:nvSpPr>
        <p:spPr>
          <a:xfrm>
            <a:off x="10058105" y="7448255"/>
            <a:ext cx="7254135" cy="419100"/>
          </a:xfrm>
          <a:prstGeom prst="rect">
            <a:avLst/>
          </a:prstGeom>
        </p:spPr>
        <p:txBody>
          <a:bodyPr lIns="0" tIns="0" rIns="0" bIns="0" rtlCol="0" anchor="t">
            <a:spAutoFit/>
          </a:bodyPr>
          <a:lstStyle/>
          <a:p>
            <a:pPr algn="l">
              <a:lnSpc>
                <a:spcPts val="3120"/>
              </a:lnSpc>
            </a:pPr>
            <a:r>
              <a:rPr lang="en-US" sz="2600" b="1">
                <a:solidFill>
                  <a:srgbClr val="F1F5F9"/>
                </a:solidFill>
                <a:latin typeface="Arial Bold"/>
                <a:ea typeface="Arial Bold"/>
                <a:cs typeface="Arial Bold"/>
                <a:sym typeface="Arial Bold"/>
              </a:rPr>
              <a:t>IPC overhead</a:t>
            </a:r>
          </a:p>
        </p:txBody>
      </p:sp>
      <p:sp>
        <p:nvSpPr>
          <p:cNvPr id="51" name="TextBox 51"/>
          <p:cNvSpPr txBox="1"/>
          <p:nvPr/>
        </p:nvSpPr>
        <p:spPr>
          <a:xfrm>
            <a:off x="10058105" y="7972130"/>
            <a:ext cx="7254135" cy="403031"/>
          </a:xfrm>
          <a:prstGeom prst="rect">
            <a:avLst/>
          </a:prstGeom>
        </p:spPr>
        <p:txBody>
          <a:bodyPr lIns="0" tIns="0" rIns="0" bIns="0" rtlCol="0" anchor="t">
            <a:spAutoFit/>
          </a:bodyPr>
          <a:lstStyle/>
          <a:p>
            <a:pPr algn="l">
              <a:lnSpc>
                <a:spcPts val="2800"/>
              </a:lnSpc>
            </a:pPr>
            <a:r>
              <a:rPr lang="en-US" sz="2000">
                <a:solidFill>
                  <a:srgbClr val="94A3B8"/>
                </a:solidFill>
                <a:latin typeface="Arial"/>
                <a:ea typeface="Arial"/>
                <a:cs typeface="Arial"/>
                <a:sym typeface="Arial"/>
              </a:rPr>
              <a:t>Write &amp; read times made explicit, not hidden</a:t>
            </a:r>
          </a:p>
        </p:txBody>
      </p:sp>
      <p:grpSp>
        <p:nvGrpSpPr>
          <p:cNvPr id="52" name="Group 52"/>
          <p:cNvGrpSpPr/>
          <p:nvPr/>
        </p:nvGrpSpPr>
        <p:grpSpPr>
          <a:xfrm>
            <a:off x="6502298" y="4444898"/>
            <a:ext cx="2115445" cy="381000"/>
            <a:chOff x="0" y="0"/>
            <a:chExt cx="2820594" cy="508000"/>
          </a:xfrm>
        </p:grpSpPr>
        <p:sp>
          <p:nvSpPr>
            <p:cNvPr id="53" name="Freeform 53"/>
            <p:cNvSpPr/>
            <p:nvPr/>
          </p:nvSpPr>
          <p:spPr>
            <a:xfrm>
              <a:off x="0" y="0"/>
              <a:ext cx="2820543" cy="508000"/>
            </a:xfrm>
            <a:custGeom>
              <a:avLst/>
              <a:gdLst/>
              <a:ahLst/>
              <a:cxnLst/>
              <a:rect l="l" t="t" r="r" b="b"/>
              <a:pathLst>
                <a:path w="2820543" h="508000">
                  <a:moveTo>
                    <a:pt x="0" y="101600"/>
                  </a:moveTo>
                  <a:cubicBezTo>
                    <a:pt x="0" y="45466"/>
                    <a:pt x="45466" y="0"/>
                    <a:pt x="101600" y="0"/>
                  </a:cubicBezTo>
                  <a:lnTo>
                    <a:pt x="2718943" y="0"/>
                  </a:lnTo>
                  <a:cubicBezTo>
                    <a:pt x="2775077" y="0"/>
                    <a:pt x="2820543" y="45466"/>
                    <a:pt x="2820543" y="101600"/>
                  </a:cubicBezTo>
                  <a:lnTo>
                    <a:pt x="2820543" y="406400"/>
                  </a:lnTo>
                  <a:cubicBezTo>
                    <a:pt x="2820543" y="462534"/>
                    <a:pt x="2775077" y="508000"/>
                    <a:pt x="2718943" y="508000"/>
                  </a:cubicBezTo>
                  <a:lnTo>
                    <a:pt x="101600" y="508000"/>
                  </a:lnTo>
                  <a:cubicBezTo>
                    <a:pt x="45466" y="508000"/>
                    <a:pt x="0" y="462534"/>
                    <a:pt x="0" y="406400"/>
                  </a:cubicBezTo>
                  <a:close/>
                </a:path>
              </a:pathLst>
            </a:custGeom>
            <a:solidFill>
              <a:srgbClr val="06B6D4"/>
            </a:solidFill>
          </p:spPr>
          <p:txBody>
            <a:bodyPr/>
            <a:lstStyle/>
            <a:p>
              <a:endParaRPr lang="en-US"/>
            </a:p>
          </p:txBody>
        </p:sp>
      </p:grpSp>
      <p:sp>
        <p:nvSpPr>
          <p:cNvPr id="54" name="TextBox 54"/>
          <p:cNvSpPr txBox="1"/>
          <p:nvPr/>
        </p:nvSpPr>
        <p:spPr>
          <a:xfrm>
            <a:off x="6705305" y="4502048"/>
            <a:ext cx="1743627" cy="247650"/>
          </a:xfrm>
          <a:prstGeom prst="rect">
            <a:avLst/>
          </a:prstGeom>
        </p:spPr>
        <p:txBody>
          <a:bodyPr lIns="0" tIns="0" rIns="0" bIns="0" rtlCol="0" anchor="t">
            <a:spAutoFit/>
          </a:bodyPr>
          <a:lstStyle/>
          <a:p>
            <a:pPr algn="l">
              <a:lnSpc>
                <a:spcPts val="1920"/>
              </a:lnSpc>
            </a:pPr>
            <a:r>
              <a:rPr lang="en-US" sz="1600" b="1">
                <a:solidFill>
                  <a:srgbClr val="0A1628"/>
                </a:solidFill>
                <a:latin typeface="Arial Bold"/>
                <a:ea typeface="Arial Bold"/>
                <a:cs typeface="Arial Bold"/>
                <a:sym typeface="Arial Bold"/>
              </a:rPr>
              <a:t>DOCUMENTED</a:t>
            </a:r>
          </a:p>
        </p:txBody>
      </p:sp>
      <p:grpSp>
        <p:nvGrpSpPr>
          <p:cNvPr id="55" name="Group 55"/>
          <p:cNvGrpSpPr/>
          <p:nvPr/>
        </p:nvGrpSpPr>
        <p:grpSpPr>
          <a:xfrm>
            <a:off x="14630400" y="4444898"/>
            <a:ext cx="1404642" cy="381000"/>
            <a:chOff x="0" y="0"/>
            <a:chExt cx="1872856" cy="508000"/>
          </a:xfrm>
        </p:grpSpPr>
        <p:sp>
          <p:nvSpPr>
            <p:cNvPr id="56" name="Freeform 56"/>
            <p:cNvSpPr/>
            <p:nvPr/>
          </p:nvSpPr>
          <p:spPr>
            <a:xfrm>
              <a:off x="0" y="0"/>
              <a:ext cx="1872869" cy="508000"/>
            </a:xfrm>
            <a:custGeom>
              <a:avLst/>
              <a:gdLst/>
              <a:ahLst/>
              <a:cxnLst/>
              <a:rect l="l" t="t" r="r" b="b"/>
              <a:pathLst>
                <a:path w="1872869" h="508000">
                  <a:moveTo>
                    <a:pt x="0" y="101600"/>
                  </a:moveTo>
                  <a:cubicBezTo>
                    <a:pt x="0" y="45466"/>
                    <a:pt x="45466" y="0"/>
                    <a:pt x="101600" y="0"/>
                  </a:cubicBezTo>
                  <a:lnTo>
                    <a:pt x="1771269" y="0"/>
                  </a:lnTo>
                  <a:cubicBezTo>
                    <a:pt x="1827403" y="0"/>
                    <a:pt x="1872869" y="45466"/>
                    <a:pt x="1872869" y="101600"/>
                  </a:cubicBezTo>
                  <a:lnTo>
                    <a:pt x="1872869" y="406400"/>
                  </a:lnTo>
                  <a:cubicBezTo>
                    <a:pt x="1872869" y="462534"/>
                    <a:pt x="1827403" y="508000"/>
                    <a:pt x="1771269" y="508000"/>
                  </a:cubicBezTo>
                  <a:lnTo>
                    <a:pt x="101600" y="508000"/>
                  </a:lnTo>
                  <a:cubicBezTo>
                    <a:pt x="45466" y="508000"/>
                    <a:pt x="0" y="462534"/>
                    <a:pt x="0" y="406400"/>
                  </a:cubicBezTo>
                  <a:close/>
                </a:path>
              </a:pathLst>
            </a:custGeom>
            <a:solidFill>
              <a:srgbClr val="06B6D4"/>
            </a:solidFill>
          </p:spPr>
          <p:txBody>
            <a:bodyPr/>
            <a:lstStyle/>
            <a:p>
              <a:endParaRPr lang="en-US"/>
            </a:p>
          </p:txBody>
        </p:sp>
      </p:grpSp>
      <p:sp>
        <p:nvSpPr>
          <p:cNvPr id="57" name="TextBox 57"/>
          <p:cNvSpPr txBox="1"/>
          <p:nvPr/>
        </p:nvSpPr>
        <p:spPr>
          <a:xfrm>
            <a:off x="14833406" y="4502048"/>
            <a:ext cx="1018613" cy="247650"/>
          </a:xfrm>
          <a:prstGeom prst="rect">
            <a:avLst/>
          </a:prstGeom>
        </p:spPr>
        <p:txBody>
          <a:bodyPr lIns="0" tIns="0" rIns="0" bIns="0" rtlCol="0" anchor="t">
            <a:spAutoFit/>
          </a:bodyPr>
          <a:lstStyle/>
          <a:p>
            <a:pPr algn="l">
              <a:lnSpc>
                <a:spcPts val="1920"/>
              </a:lnSpc>
            </a:pPr>
            <a:r>
              <a:rPr lang="en-US" sz="1600" b="1">
                <a:solidFill>
                  <a:srgbClr val="0A1628"/>
                </a:solidFill>
                <a:latin typeface="Arial Bold"/>
                <a:ea typeface="Arial Bold"/>
                <a:cs typeface="Arial Bold"/>
                <a:sym typeface="Arial Bold"/>
              </a:rPr>
              <a:t>HONEST</a:t>
            </a:r>
          </a:p>
        </p:txBody>
      </p:sp>
      <p:grpSp>
        <p:nvGrpSpPr>
          <p:cNvPr id="58" name="Group 58"/>
          <p:cNvGrpSpPr/>
          <p:nvPr/>
        </p:nvGrpSpPr>
        <p:grpSpPr>
          <a:xfrm>
            <a:off x="6502298" y="7365806"/>
            <a:ext cx="1378448" cy="381000"/>
            <a:chOff x="0" y="0"/>
            <a:chExt cx="1837931" cy="508000"/>
          </a:xfrm>
        </p:grpSpPr>
        <p:sp>
          <p:nvSpPr>
            <p:cNvPr id="59" name="Freeform 59"/>
            <p:cNvSpPr/>
            <p:nvPr/>
          </p:nvSpPr>
          <p:spPr>
            <a:xfrm>
              <a:off x="0" y="0"/>
              <a:ext cx="1837944" cy="508000"/>
            </a:xfrm>
            <a:custGeom>
              <a:avLst/>
              <a:gdLst/>
              <a:ahLst/>
              <a:cxnLst/>
              <a:rect l="l" t="t" r="r" b="b"/>
              <a:pathLst>
                <a:path w="1837944" h="508000">
                  <a:moveTo>
                    <a:pt x="0" y="101600"/>
                  </a:moveTo>
                  <a:cubicBezTo>
                    <a:pt x="0" y="45466"/>
                    <a:pt x="45466" y="0"/>
                    <a:pt x="101600" y="0"/>
                  </a:cubicBezTo>
                  <a:lnTo>
                    <a:pt x="1736344" y="0"/>
                  </a:lnTo>
                  <a:cubicBezTo>
                    <a:pt x="1792478" y="0"/>
                    <a:pt x="1837944" y="45466"/>
                    <a:pt x="1837944" y="101600"/>
                  </a:cubicBezTo>
                  <a:lnTo>
                    <a:pt x="1837944" y="406400"/>
                  </a:lnTo>
                  <a:cubicBezTo>
                    <a:pt x="1837944" y="462534"/>
                    <a:pt x="1792478" y="508000"/>
                    <a:pt x="1736344" y="508000"/>
                  </a:cubicBezTo>
                  <a:lnTo>
                    <a:pt x="101600" y="508000"/>
                  </a:lnTo>
                  <a:cubicBezTo>
                    <a:pt x="45466" y="508000"/>
                    <a:pt x="0" y="462534"/>
                    <a:pt x="0" y="406400"/>
                  </a:cubicBezTo>
                  <a:close/>
                </a:path>
              </a:pathLst>
            </a:custGeom>
            <a:solidFill>
              <a:srgbClr val="06B6D4"/>
            </a:solidFill>
          </p:spPr>
          <p:txBody>
            <a:bodyPr/>
            <a:lstStyle/>
            <a:p>
              <a:endParaRPr lang="en-US"/>
            </a:p>
          </p:txBody>
        </p:sp>
      </p:grpSp>
      <p:sp>
        <p:nvSpPr>
          <p:cNvPr id="60" name="TextBox 60"/>
          <p:cNvSpPr txBox="1"/>
          <p:nvPr/>
        </p:nvSpPr>
        <p:spPr>
          <a:xfrm>
            <a:off x="6705305" y="7422956"/>
            <a:ext cx="991895" cy="247650"/>
          </a:xfrm>
          <a:prstGeom prst="rect">
            <a:avLst/>
          </a:prstGeom>
        </p:spPr>
        <p:txBody>
          <a:bodyPr lIns="0" tIns="0" rIns="0" bIns="0" rtlCol="0" anchor="t">
            <a:spAutoFit/>
          </a:bodyPr>
          <a:lstStyle/>
          <a:p>
            <a:pPr algn="l">
              <a:lnSpc>
                <a:spcPts val="1920"/>
              </a:lnSpc>
            </a:pPr>
            <a:r>
              <a:rPr lang="en-US" sz="1600" b="1">
                <a:solidFill>
                  <a:srgbClr val="0A1628"/>
                </a:solidFill>
                <a:latin typeface="Arial Bold"/>
                <a:ea typeface="Arial Bold"/>
                <a:cs typeface="Arial Bold"/>
                <a:sym typeface="Arial Bold"/>
              </a:rPr>
              <a:t>SOLVED</a:t>
            </a:r>
          </a:p>
        </p:txBody>
      </p:sp>
      <p:grpSp>
        <p:nvGrpSpPr>
          <p:cNvPr id="61" name="Group 61"/>
          <p:cNvGrpSpPr/>
          <p:nvPr/>
        </p:nvGrpSpPr>
        <p:grpSpPr>
          <a:xfrm>
            <a:off x="14630400" y="7365806"/>
            <a:ext cx="1771355" cy="381000"/>
            <a:chOff x="0" y="0"/>
            <a:chExt cx="2361806" cy="508000"/>
          </a:xfrm>
        </p:grpSpPr>
        <p:sp>
          <p:nvSpPr>
            <p:cNvPr id="62" name="Freeform 62"/>
            <p:cNvSpPr/>
            <p:nvPr/>
          </p:nvSpPr>
          <p:spPr>
            <a:xfrm>
              <a:off x="0" y="0"/>
              <a:ext cx="2361819" cy="508000"/>
            </a:xfrm>
            <a:custGeom>
              <a:avLst/>
              <a:gdLst/>
              <a:ahLst/>
              <a:cxnLst/>
              <a:rect l="l" t="t" r="r" b="b"/>
              <a:pathLst>
                <a:path w="2361819" h="508000">
                  <a:moveTo>
                    <a:pt x="0" y="101600"/>
                  </a:moveTo>
                  <a:cubicBezTo>
                    <a:pt x="0" y="45466"/>
                    <a:pt x="45466" y="0"/>
                    <a:pt x="101600" y="0"/>
                  </a:cubicBezTo>
                  <a:lnTo>
                    <a:pt x="2260219" y="0"/>
                  </a:lnTo>
                  <a:cubicBezTo>
                    <a:pt x="2316353" y="0"/>
                    <a:pt x="2361819" y="45466"/>
                    <a:pt x="2361819" y="101600"/>
                  </a:cubicBezTo>
                  <a:lnTo>
                    <a:pt x="2361819" y="406400"/>
                  </a:lnTo>
                  <a:cubicBezTo>
                    <a:pt x="2361819" y="462534"/>
                    <a:pt x="2316353" y="508000"/>
                    <a:pt x="2260219" y="508000"/>
                  </a:cubicBezTo>
                  <a:lnTo>
                    <a:pt x="101600" y="508000"/>
                  </a:lnTo>
                  <a:cubicBezTo>
                    <a:pt x="45466" y="508000"/>
                    <a:pt x="0" y="462534"/>
                    <a:pt x="0" y="406400"/>
                  </a:cubicBezTo>
                  <a:close/>
                </a:path>
              </a:pathLst>
            </a:custGeom>
            <a:solidFill>
              <a:srgbClr val="06B6D4"/>
            </a:solidFill>
          </p:spPr>
          <p:txBody>
            <a:bodyPr/>
            <a:lstStyle/>
            <a:p>
              <a:endParaRPr lang="en-US"/>
            </a:p>
          </p:txBody>
        </p:sp>
      </p:grpSp>
      <p:sp>
        <p:nvSpPr>
          <p:cNvPr id="63" name="TextBox 63"/>
          <p:cNvSpPr txBox="1"/>
          <p:nvPr/>
        </p:nvSpPr>
        <p:spPr>
          <a:xfrm>
            <a:off x="14833406" y="7422956"/>
            <a:ext cx="1392660" cy="247650"/>
          </a:xfrm>
          <a:prstGeom prst="rect">
            <a:avLst/>
          </a:prstGeom>
        </p:spPr>
        <p:txBody>
          <a:bodyPr lIns="0" tIns="0" rIns="0" bIns="0" rtlCol="0" anchor="t">
            <a:spAutoFit/>
          </a:bodyPr>
          <a:lstStyle/>
          <a:p>
            <a:pPr algn="l">
              <a:lnSpc>
                <a:spcPts val="1920"/>
              </a:lnSpc>
            </a:pPr>
            <a:r>
              <a:rPr lang="en-US" sz="1600" b="1">
                <a:solidFill>
                  <a:srgbClr val="0A1628"/>
                </a:solidFill>
                <a:latin typeface="Arial Bold"/>
                <a:ea typeface="Arial Bold"/>
                <a:cs typeface="Arial Bold"/>
                <a:sym typeface="Arial Bold"/>
              </a:rPr>
              <a:t>MEASURED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TextBox 2"/>
          <p:cNvSpPr txBox="1"/>
          <p:nvPr/>
        </p:nvSpPr>
        <p:spPr>
          <a:xfrm>
            <a:off x="1524000" y="1260281"/>
            <a:ext cx="3022435" cy="295275"/>
          </a:xfrm>
          <a:prstGeom prst="rect">
            <a:avLst/>
          </a:prstGeom>
        </p:spPr>
        <p:txBody>
          <a:bodyPr lIns="0" tIns="0" rIns="0" bIns="0" rtlCol="0" anchor="t">
            <a:spAutoFit/>
          </a:bodyPr>
          <a:lstStyle/>
          <a:p>
            <a:pPr algn="l">
              <a:lnSpc>
                <a:spcPts val="2400"/>
              </a:lnSpc>
            </a:pPr>
            <a:r>
              <a:rPr lang="en-US" sz="2000">
                <a:solidFill>
                  <a:srgbClr val="22D3EE"/>
                </a:solidFill>
                <a:latin typeface="Arial"/>
                <a:ea typeface="Arial"/>
                <a:cs typeface="Arial"/>
                <a:sym typeface="Arial"/>
              </a:rPr>
              <a:t>CONCLUSION</a:t>
            </a:r>
          </a:p>
        </p:txBody>
      </p:sp>
      <p:sp>
        <p:nvSpPr>
          <p:cNvPr id="3" name="TextBox 3"/>
          <p:cNvSpPr txBox="1"/>
          <p:nvPr/>
        </p:nvSpPr>
        <p:spPr>
          <a:xfrm>
            <a:off x="1524000" y="2060381"/>
            <a:ext cx="15544800" cy="865584"/>
          </a:xfrm>
          <a:prstGeom prst="rect">
            <a:avLst/>
          </a:prstGeom>
        </p:spPr>
        <p:txBody>
          <a:bodyPr lIns="0" tIns="0" rIns="0" bIns="0" rtlCol="0" anchor="t">
            <a:spAutoFit/>
          </a:bodyPr>
          <a:lstStyle/>
          <a:p>
            <a:pPr algn="l">
              <a:lnSpc>
                <a:spcPts val="7040"/>
              </a:lnSpc>
            </a:pPr>
            <a:r>
              <a:rPr lang="en-US" sz="6400">
                <a:solidFill>
                  <a:srgbClr val="F1F5F9"/>
                </a:solidFill>
                <a:latin typeface="Arial"/>
                <a:ea typeface="Arial"/>
                <a:cs typeface="Arial"/>
                <a:sym typeface="Arial"/>
              </a:rPr>
              <a:t>Sequential → Parallel → </a:t>
            </a:r>
            <a:r>
              <a:rPr lang="en-US" sz="6400" b="1">
                <a:solidFill>
                  <a:srgbClr val="22D3EE"/>
                </a:solidFill>
                <a:latin typeface="Arial Bold"/>
                <a:ea typeface="Arial Bold"/>
                <a:cs typeface="Arial Bold"/>
                <a:sym typeface="Arial Bold"/>
              </a:rPr>
              <a:t>Distributed</a:t>
            </a:r>
          </a:p>
        </p:txBody>
      </p:sp>
      <p:grpSp>
        <p:nvGrpSpPr>
          <p:cNvPr id="4" name="Group 4"/>
          <p:cNvGrpSpPr/>
          <p:nvPr/>
        </p:nvGrpSpPr>
        <p:grpSpPr>
          <a:xfrm>
            <a:off x="1524000" y="4444898"/>
            <a:ext cx="4572000" cy="4572000"/>
            <a:chOff x="0" y="0"/>
            <a:chExt cx="6096000" cy="6096000"/>
          </a:xfrm>
        </p:grpSpPr>
        <p:sp>
          <p:nvSpPr>
            <p:cNvPr id="5" name="Freeform 5"/>
            <p:cNvSpPr/>
            <p:nvPr/>
          </p:nvSpPr>
          <p:spPr>
            <a:xfrm>
              <a:off x="0" y="0"/>
              <a:ext cx="6096000" cy="6096000"/>
            </a:xfrm>
            <a:custGeom>
              <a:avLst/>
              <a:gdLst/>
              <a:ahLst/>
              <a:cxnLst/>
              <a:rect l="l" t="t" r="r" b="b"/>
              <a:pathLst>
                <a:path w="6096000" h="6096000">
                  <a:moveTo>
                    <a:pt x="0" y="203200"/>
                  </a:moveTo>
                  <a:cubicBezTo>
                    <a:pt x="0" y="90932"/>
                    <a:pt x="90932" y="0"/>
                    <a:pt x="203200" y="0"/>
                  </a:cubicBezTo>
                  <a:lnTo>
                    <a:pt x="5892800" y="0"/>
                  </a:lnTo>
                  <a:cubicBezTo>
                    <a:pt x="6005068" y="0"/>
                    <a:pt x="6096000" y="90932"/>
                    <a:pt x="6096000" y="203200"/>
                  </a:cubicBezTo>
                  <a:lnTo>
                    <a:pt x="6096000" y="5892800"/>
                  </a:lnTo>
                  <a:cubicBezTo>
                    <a:pt x="6096000" y="6005068"/>
                    <a:pt x="6005068" y="6096000"/>
                    <a:pt x="5892800" y="6096000"/>
                  </a:cubicBezTo>
                  <a:lnTo>
                    <a:pt x="203200" y="6096000"/>
                  </a:lnTo>
                  <a:cubicBezTo>
                    <a:pt x="90932" y="6096000"/>
                    <a:pt x="0" y="6005068"/>
                    <a:pt x="0" y="5892800"/>
                  </a:cubicBezTo>
                  <a:close/>
                </a:path>
              </a:pathLst>
            </a:custGeom>
            <a:solidFill>
              <a:srgbClr val="122236"/>
            </a:solidFill>
          </p:spPr>
          <p:txBody>
            <a:bodyPr/>
            <a:lstStyle/>
            <a:p>
              <a:endParaRPr lang="en-US"/>
            </a:p>
          </p:txBody>
        </p:sp>
      </p:grpSp>
      <p:grpSp>
        <p:nvGrpSpPr>
          <p:cNvPr id="6" name="Group 6"/>
          <p:cNvGrpSpPr/>
          <p:nvPr/>
        </p:nvGrpSpPr>
        <p:grpSpPr>
          <a:xfrm>
            <a:off x="6838950" y="4425848"/>
            <a:ext cx="4686300" cy="4686300"/>
            <a:chOff x="0" y="0"/>
            <a:chExt cx="6248400" cy="6248400"/>
          </a:xfrm>
        </p:grpSpPr>
        <p:sp>
          <p:nvSpPr>
            <p:cNvPr id="7" name="Freeform 7"/>
            <p:cNvSpPr/>
            <p:nvPr/>
          </p:nvSpPr>
          <p:spPr>
            <a:xfrm>
              <a:off x="25400" y="25400"/>
              <a:ext cx="6197600" cy="6197600"/>
            </a:xfrm>
            <a:custGeom>
              <a:avLst/>
              <a:gdLst/>
              <a:ahLst/>
              <a:cxnLst/>
              <a:rect l="l" t="t" r="r" b="b"/>
              <a:pathLst>
                <a:path w="6197600" h="6197600">
                  <a:moveTo>
                    <a:pt x="0" y="203200"/>
                  </a:moveTo>
                  <a:cubicBezTo>
                    <a:pt x="0" y="90932"/>
                    <a:pt x="90932" y="0"/>
                    <a:pt x="203200" y="0"/>
                  </a:cubicBezTo>
                  <a:lnTo>
                    <a:pt x="5994400" y="0"/>
                  </a:lnTo>
                  <a:cubicBezTo>
                    <a:pt x="6106668" y="0"/>
                    <a:pt x="6197600" y="90932"/>
                    <a:pt x="6197600" y="203200"/>
                  </a:cubicBezTo>
                  <a:lnTo>
                    <a:pt x="6197600" y="5994400"/>
                  </a:lnTo>
                  <a:cubicBezTo>
                    <a:pt x="6197600" y="6106668"/>
                    <a:pt x="6106668" y="6197600"/>
                    <a:pt x="5994400" y="6197600"/>
                  </a:cubicBezTo>
                  <a:lnTo>
                    <a:pt x="203200" y="6197600"/>
                  </a:lnTo>
                  <a:cubicBezTo>
                    <a:pt x="90932" y="6197600"/>
                    <a:pt x="0" y="6106668"/>
                    <a:pt x="0" y="5994400"/>
                  </a:cubicBezTo>
                  <a:close/>
                </a:path>
              </a:pathLst>
            </a:custGeom>
            <a:solidFill>
              <a:srgbClr val="122236"/>
            </a:solidFill>
          </p:spPr>
          <p:txBody>
            <a:bodyPr/>
            <a:lstStyle/>
            <a:p>
              <a:endParaRPr lang="en-US"/>
            </a:p>
          </p:txBody>
        </p:sp>
        <p:sp>
          <p:nvSpPr>
            <p:cNvPr id="8" name="Freeform 8"/>
            <p:cNvSpPr/>
            <p:nvPr/>
          </p:nvSpPr>
          <p:spPr>
            <a:xfrm>
              <a:off x="0" y="0"/>
              <a:ext cx="6248400" cy="6248400"/>
            </a:xfrm>
            <a:custGeom>
              <a:avLst/>
              <a:gdLst/>
              <a:ahLst/>
              <a:cxnLst/>
              <a:rect l="l" t="t" r="r" b="b"/>
              <a:pathLst>
                <a:path w="6248400" h="6248400">
                  <a:moveTo>
                    <a:pt x="0" y="228600"/>
                  </a:moveTo>
                  <a:cubicBezTo>
                    <a:pt x="0" y="102362"/>
                    <a:pt x="102362" y="0"/>
                    <a:pt x="228600" y="0"/>
                  </a:cubicBezTo>
                  <a:lnTo>
                    <a:pt x="6019800" y="0"/>
                  </a:lnTo>
                  <a:lnTo>
                    <a:pt x="6019800" y="25400"/>
                  </a:lnTo>
                  <a:lnTo>
                    <a:pt x="6019800" y="0"/>
                  </a:lnTo>
                  <a:cubicBezTo>
                    <a:pt x="6146038" y="0"/>
                    <a:pt x="6248400" y="102362"/>
                    <a:pt x="6248400" y="228600"/>
                  </a:cubicBezTo>
                  <a:lnTo>
                    <a:pt x="6223000" y="228600"/>
                  </a:lnTo>
                  <a:lnTo>
                    <a:pt x="6248400" y="228600"/>
                  </a:lnTo>
                  <a:lnTo>
                    <a:pt x="6248400" y="6019800"/>
                  </a:lnTo>
                  <a:lnTo>
                    <a:pt x="6223000" y="6019800"/>
                  </a:lnTo>
                  <a:lnTo>
                    <a:pt x="6248400" y="6019800"/>
                  </a:lnTo>
                  <a:cubicBezTo>
                    <a:pt x="6248400" y="6146038"/>
                    <a:pt x="6146038" y="6248400"/>
                    <a:pt x="6019800" y="6248400"/>
                  </a:cubicBezTo>
                  <a:lnTo>
                    <a:pt x="6019800" y="6223000"/>
                  </a:lnTo>
                  <a:lnTo>
                    <a:pt x="6019800" y="6248400"/>
                  </a:lnTo>
                  <a:lnTo>
                    <a:pt x="228600" y="6248400"/>
                  </a:lnTo>
                  <a:lnTo>
                    <a:pt x="228600" y="6223000"/>
                  </a:lnTo>
                  <a:lnTo>
                    <a:pt x="228600" y="6248400"/>
                  </a:lnTo>
                  <a:cubicBezTo>
                    <a:pt x="102362" y="6248400"/>
                    <a:pt x="0" y="6146038"/>
                    <a:pt x="0" y="6019800"/>
                  </a:cubicBezTo>
                  <a:lnTo>
                    <a:pt x="0" y="228600"/>
                  </a:lnTo>
                  <a:lnTo>
                    <a:pt x="25400" y="228600"/>
                  </a:lnTo>
                  <a:lnTo>
                    <a:pt x="0" y="228600"/>
                  </a:lnTo>
                  <a:moveTo>
                    <a:pt x="50800" y="228600"/>
                  </a:moveTo>
                  <a:lnTo>
                    <a:pt x="50800" y="6019800"/>
                  </a:lnTo>
                  <a:lnTo>
                    <a:pt x="25400" y="6019800"/>
                  </a:lnTo>
                  <a:lnTo>
                    <a:pt x="50800" y="6019800"/>
                  </a:lnTo>
                  <a:cubicBezTo>
                    <a:pt x="50800" y="6117971"/>
                    <a:pt x="130429" y="6197600"/>
                    <a:pt x="228600" y="6197600"/>
                  </a:cubicBezTo>
                  <a:lnTo>
                    <a:pt x="6019800" y="6197600"/>
                  </a:lnTo>
                  <a:cubicBezTo>
                    <a:pt x="6117971" y="6197600"/>
                    <a:pt x="6197600" y="6117971"/>
                    <a:pt x="6197600" y="6019800"/>
                  </a:cubicBezTo>
                  <a:lnTo>
                    <a:pt x="6197600" y="228600"/>
                  </a:lnTo>
                  <a:cubicBezTo>
                    <a:pt x="6197600" y="130429"/>
                    <a:pt x="6117971" y="50800"/>
                    <a:pt x="6019800" y="50800"/>
                  </a:cubicBezTo>
                  <a:lnTo>
                    <a:pt x="228600" y="50800"/>
                  </a:lnTo>
                  <a:lnTo>
                    <a:pt x="228600" y="25400"/>
                  </a:lnTo>
                  <a:lnTo>
                    <a:pt x="228600" y="50800"/>
                  </a:lnTo>
                  <a:cubicBezTo>
                    <a:pt x="130429" y="50800"/>
                    <a:pt x="50800" y="130429"/>
                    <a:pt x="50800" y="228600"/>
                  </a:cubicBezTo>
                  <a:close/>
                </a:path>
              </a:pathLst>
            </a:custGeom>
            <a:solidFill>
              <a:srgbClr val="06B6D4"/>
            </a:solidFill>
          </p:spPr>
          <p:txBody>
            <a:bodyPr/>
            <a:lstStyle/>
            <a:p>
              <a:endParaRPr lang="en-US"/>
            </a:p>
          </p:txBody>
        </p:sp>
      </p:grpSp>
      <p:grpSp>
        <p:nvGrpSpPr>
          <p:cNvPr id="9" name="Group 9"/>
          <p:cNvGrpSpPr/>
          <p:nvPr/>
        </p:nvGrpSpPr>
        <p:grpSpPr>
          <a:xfrm>
            <a:off x="12153900" y="4406798"/>
            <a:ext cx="4800600" cy="4800600"/>
            <a:chOff x="0" y="0"/>
            <a:chExt cx="6400800" cy="6400800"/>
          </a:xfrm>
        </p:grpSpPr>
        <p:sp>
          <p:nvSpPr>
            <p:cNvPr id="10" name="Freeform 10"/>
            <p:cNvSpPr/>
            <p:nvPr/>
          </p:nvSpPr>
          <p:spPr>
            <a:xfrm>
              <a:off x="50800" y="50800"/>
              <a:ext cx="6299200" cy="6299200"/>
            </a:xfrm>
            <a:custGeom>
              <a:avLst/>
              <a:gdLst/>
              <a:ahLst/>
              <a:cxnLst/>
              <a:rect l="l" t="t" r="r" b="b"/>
              <a:pathLst>
                <a:path w="6299200" h="6299200">
                  <a:moveTo>
                    <a:pt x="0" y="203200"/>
                  </a:moveTo>
                  <a:cubicBezTo>
                    <a:pt x="0" y="90932"/>
                    <a:pt x="90932" y="0"/>
                    <a:pt x="203200" y="0"/>
                  </a:cubicBezTo>
                  <a:lnTo>
                    <a:pt x="6096000" y="0"/>
                  </a:lnTo>
                  <a:cubicBezTo>
                    <a:pt x="6208268" y="0"/>
                    <a:pt x="6299200" y="90932"/>
                    <a:pt x="6299200" y="203200"/>
                  </a:cubicBezTo>
                  <a:lnTo>
                    <a:pt x="6299200" y="6096000"/>
                  </a:lnTo>
                  <a:cubicBezTo>
                    <a:pt x="6299200" y="6208268"/>
                    <a:pt x="6208268" y="6299200"/>
                    <a:pt x="6096000" y="6299200"/>
                  </a:cubicBezTo>
                  <a:lnTo>
                    <a:pt x="203200" y="6299200"/>
                  </a:lnTo>
                  <a:cubicBezTo>
                    <a:pt x="90932" y="6299200"/>
                    <a:pt x="0" y="6208268"/>
                    <a:pt x="0" y="6096000"/>
                  </a:cubicBezTo>
                  <a:close/>
                </a:path>
              </a:pathLst>
            </a:custGeom>
            <a:solidFill>
              <a:srgbClr val="122236"/>
            </a:solidFill>
          </p:spPr>
          <p:txBody>
            <a:bodyPr/>
            <a:lstStyle/>
            <a:p>
              <a:endParaRPr lang="en-US"/>
            </a:p>
          </p:txBody>
        </p:sp>
        <p:sp>
          <p:nvSpPr>
            <p:cNvPr id="11" name="Freeform 11"/>
            <p:cNvSpPr/>
            <p:nvPr/>
          </p:nvSpPr>
          <p:spPr>
            <a:xfrm>
              <a:off x="0" y="0"/>
              <a:ext cx="6400800" cy="6400800"/>
            </a:xfrm>
            <a:custGeom>
              <a:avLst/>
              <a:gdLst/>
              <a:ahLst/>
              <a:cxnLst/>
              <a:rect l="l" t="t" r="r" b="b"/>
              <a:pathLst>
                <a:path w="6400800" h="6400800">
                  <a:moveTo>
                    <a:pt x="0" y="254000"/>
                  </a:moveTo>
                  <a:cubicBezTo>
                    <a:pt x="0" y="113665"/>
                    <a:pt x="113665" y="0"/>
                    <a:pt x="254000" y="0"/>
                  </a:cubicBezTo>
                  <a:lnTo>
                    <a:pt x="6146800" y="0"/>
                  </a:lnTo>
                  <a:lnTo>
                    <a:pt x="6146800" y="50800"/>
                  </a:lnTo>
                  <a:lnTo>
                    <a:pt x="6146800" y="0"/>
                  </a:lnTo>
                  <a:cubicBezTo>
                    <a:pt x="6287135" y="0"/>
                    <a:pt x="6400800" y="113665"/>
                    <a:pt x="6400800" y="254000"/>
                  </a:cubicBezTo>
                  <a:lnTo>
                    <a:pt x="6350000" y="254000"/>
                  </a:lnTo>
                  <a:lnTo>
                    <a:pt x="6400800" y="254000"/>
                  </a:lnTo>
                  <a:lnTo>
                    <a:pt x="6400800" y="6146800"/>
                  </a:lnTo>
                  <a:lnTo>
                    <a:pt x="6350000" y="6146800"/>
                  </a:lnTo>
                  <a:lnTo>
                    <a:pt x="6400800" y="6146800"/>
                  </a:lnTo>
                  <a:cubicBezTo>
                    <a:pt x="6400800" y="6287135"/>
                    <a:pt x="6287135" y="6400800"/>
                    <a:pt x="6146800" y="6400800"/>
                  </a:cubicBezTo>
                  <a:lnTo>
                    <a:pt x="6146800" y="6350000"/>
                  </a:lnTo>
                  <a:lnTo>
                    <a:pt x="6146800" y="6400800"/>
                  </a:lnTo>
                  <a:lnTo>
                    <a:pt x="254000" y="6400800"/>
                  </a:lnTo>
                  <a:lnTo>
                    <a:pt x="254000" y="6350000"/>
                  </a:lnTo>
                  <a:lnTo>
                    <a:pt x="254000" y="6400800"/>
                  </a:lnTo>
                  <a:cubicBezTo>
                    <a:pt x="113665" y="6400800"/>
                    <a:pt x="0" y="6287135"/>
                    <a:pt x="0" y="6146800"/>
                  </a:cubicBezTo>
                  <a:lnTo>
                    <a:pt x="0" y="254000"/>
                  </a:lnTo>
                  <a:lnTo>
                    <a:pt x="50800" y="254000"/>
                  </a:lnTo>
                  <a:lnTo>
                    <a:pt x="0" y="254000"/>
                  </a:lnTo>
                  <a:moveTo>
                    <a:pt x="101600" y="254000"/>
                  </a:moveTo>
                  <a:lnTo>
                    <a:pt x="101600" y="6146800"/>
                  </a:lnTo>
                  <a:lnTo>
                    <a:pt x="50800" y="6146800"/>
                  </a:lnTo>
                  <a:lnTo>
                    <a:pt x="101600" y="6146800"/>
                  </a:lnTo>
                  <a:cubicBezTo>
                    <a:pt x="101600" y="6231001"/>
                    <a:pt x="169799" y="6299200"/>
                    <a:pt x="254000" y="6299200"/>
                  </a:cubicBezTo>
                  <a:lnTo>
                    <a:pt x="6146800" y="6299200"/>
                  </a:lnTo>
                  <a:cubicBezTo>
                    <a:pt x="6231001" y="6299200"/>
                    <a:pt x="6299200" y="6231001"/>
                    <a:pt x="6299200" y="6146800"/>
                  </a:cubicBezTo>
                  <a:lnTo>
                    <a:pt x="6299200" y="254000"/>
                  </a:lnTo>
                  <a:cubicBezTo>
                    <a:pt x="6299200" y="169799"/>
                    <a:pt x="6231001" y="101600"/>
                    <a:pt x="6146800" y="101600"/>
                  </a:cubicBezTo>
                  <a:lnTo>
                    <a:pt x="254000" y="101600"/>
                  </a:lnTo>
                  <a:lnTo>
                    <a:pt x="254000" y="50800"/>
                  </a:lnTo>
                  <a:lnTo>
                    <a:pt x="254000" y="101600"/>
                  </a:lnTo>
                  <a:cubicBezTo>
                    <a:pt x="169799" y="101600"/>
                    <a:pt x="101600" y="169799"/>
                    <a:pt x="101600" y="254000"/>
                  </a:cubicBezTo>
                  <a:close/>
                </a:path>
              </a:pathLst>
            </a:custGeom>
            <a:solidFill>
              <a:srgbClr val="22D3EE"/>
            </a:solidFill>
          </p:spPr>
          <p:txBody>
            <a:bodyPr/>
            <a:lstStyle/>
            <a:p>
              <a:endParaRPr lang="en-US"/>
            </a:p>
          </p:txBody>
        </p:sp>
      </p:grpSp>
      <p:sp>
        <p:nvSpPr>
          <p:cNvPr id="12" name="TextBox 12"/>
          <p:cNvSpPr txBox="1"/>
          <p:nvPr/>
        </p:nvSpPr>
        <p:spPr>
          <a:xfrm>
            <a:off x="1478280" y="5232206"/>
            <a:ext cx="4663440" cy="965302"/>
          </a:xfrm>
          <a:prstGeom prst="rect">
            <a:avLst/>
          </a:prstGeom>
        </p:spPr>
        <p:txBody>
          <a:bodyPr lIns="0" tIns="0" rIns="0" bIns="0" rtlCol="0" anchor="t">
            <a:spAutoFit/>
          </a:bodyPr>
          <a:lstStyle/>
          <a:p>
            <a:pPr algn="ctr">
              <a:lnSpc>
                <a:spcPts val="8800"/>
              </a:lnSpc>
            </a:pPr>
            <a:r>
              <a:rPr lang="en-US" sz="8800" b="1">
                <a:solidFill>
                  <a:srgbClr val="94A3B8"/>
                </a:solidFill>
                <a:latin typeface="Courier New Bold"/>
                <a:ea typeface="Courier New Bold"/>
                <a:cs typeface="Courier New Bold"/>
                <a:sym typeface="Courier New Bold"/>
              </a:rPr>
              <a:t>31.8×</a:t>
            </a:r>
          </a:p>
        </p:txBody>
      </p:sp>
      <p:sp>
        <p:nvSpPr>
          <p:cNvPr id="13" name="TextBox 13"/>
          <p:cNvSpPr txBox="1"/>
          <p:nvPr/>
        </p:nvSpPr>
        <p:spPr>
          <a:xfrm>
            <a:off x="1478280" y="6330848"/>
            <a:ext cx="4663440" cy="285750"/>
          </a:xfrm>
          <a:prstGeom prst="rect">
            <a:avLst/>
          </a:prstGeom>
        </p:spPr>
        <p:txBody>
          <a:bodyPr lIns="0" tIns="0" rIns="0" bIns="0" rtlCol="0" anchor="t">
            <a:spAutoFit/>
          </a:bodyPr>
          <a:lstStyle/>
          <a:p>
            <a:pPr algn="ctr">
              <a:lnSpc>
                <a:spcPts val="2160"/>
              </a:lnSpc>
            </a:pPr>
            <a:r>
              <a:rPr lang="en-US" sz="1800">
                <a:solidFill>
                  <a:srgbClr val="94A3B8"/>
                </a:solidFill>
                <a:latin typeface="Arial"/>
                <a:ea typeface="Arial"/>
                <a:cs typeface="Arial"/>
                <a:sym typeface="Arial"/>
              </a:rPr>
              <a:t>OVER BRUTE FORCE</a:t>
            </a:r>
          </a:p>
        </p:txBody>
      </p:sp>
      <p:sp>
        <p:nvSpPr>
          <p:cNvPr id="14" name="TextBox 14"/>
          <p:cNvSpPr txBox="1"/>
          <p:nvPr/>
        </p:nvSpPr>
        <p:spPr>
          <a:xfrm>
            <a:off x="6812280" y="5232206"/>
            <a:ext cx="4663440" cy="965302"/>
          </a:xfrm>
          <a:prstGeom prst="rect">
            <a:avLst/>
          </a:prstGeom>
        </p:spPr>
        <p:txBody>
          <a:bodyPr lIns="0" tIns="0" rIns="0" bIns="0" rtlCol="0" anchor="t">
            <a:spAutoFit/>
          </a:bodyPr>
          <a:lstStyle/>
          <a:p>
            <a:pPr algn="ctr">
              <a:lnSpc>
                <a:spcPts val="8800"/>
              </a:lnSpc>
            </a:pPr>
            <a:r>
              <a:rPr lang="en-US" sz="8800" b="1">
                <a:solidFill>
                  <a:srgbClr val="06B6D4"/>
                </a:solidFill>
                <a:latin typeface="Courier New Bold"/>
                <a:ea typeface="Courier New Bold"/>
                <a:cs typeface="Courier New Bold"/>
                <a:sym typeface="Courier New Bold"/>
              </a:rPr>
              <a:t>2.49×</a:t>
            </a:r>
          </a:p>
        </p:txBody>
      </p:sp>
      <p:sp>
        <p:nvSpPr>
          <p:cNvPr id="15" name="TextBox 15"/>
          <p:cNvSpPr txBox="1"/>
          <p:nvPr/>
        </p:nvSpPr>
        <p:spPr>
          <a:xfrm>
            <a:off x="6812280" y="6330848"/>
            <a:ext cx="4663440" cy="285750"/>
          </a:xfrm>
          <a:prstGeom prst="rect">
            <a:avLst/>
          </a:prstGeom>
        </p:spPr>
        <p:txBody>
          <a:bodyPr lIns="0" tIns="0" rIns="0" bIns="0" rtlCol="0" anchor="t">
            <a:spAutoFit/>
          </a:bodyPr>
          <a:lstStyle/>
          <a:p>
            <a:pPr algn="ctr">
              <a:lnSpc>
                <a:spcPts val="2160"/>
              </a:lnSpc>
            </a:pPr>
            <a:r>
              <a:rPr lang="en-US" sz="1800">
                <a:solidFill>
                  <a:srgbClr val="94A3B8"/>
                </a:solidFill>
                <a:latin typeface="Arial"/>
                <a:ea typeface="Arial"/>
                <a:cs typeface="Arial"/>
                <a:sym typeface="Arial"/>
              </a:rPr>
              <a:t>ON 4 THREADS</a:t>
            </a:r>
          </a:p>
        </p:txBody>
      </p:sp>
      <p:sp>
        <p:nvSpPr>
          <p:cNvPr id="16" name="TextBox 16"/>
          <p:cNvSpPr txBox="1"/>
          <p:nvPr/>
        </p:nvSpPr>
        <p:spPr>
          <a:xfrm>
            <a:off x="12146280" y="5232206"/>
            <a:ext cx="4663440" cy="965302"/>
          </a:xfrm>
          <a:prstGeom prst="rect">
            <a:avLst/>
          </a:prstGeom>
        </p:spPr>
        <p:txBody>
          <a:bodyPr lIns="0" tIns="0" rIns="0" bIns="0" rtlCol="0" anchor="t">
            <a:spAutoFit/>
          </a:bodyPr>
          <a:lstStyle/>
          <a:p>
            <a:pPr algn="ctr">
              <a:lnSpc>
                <a:spcPts val="8800"/>
              </a:lnSpc>
            </a:pPr>
            <a:r>
              <a:rPr lang="en-US" sz="8800" b="1">
                <a:solidFill>
                  <a:srgbClr val="22D3EE"/>
                </a:solidFill>
                <a:latin typeface="Courier New Bold"/>
                <a:ea typeface="Courier New Bold"/>
                <a:cs typeface="Courier New Bold"/>
                <a:sym typeface="Courier New Bold"/>
              </a:rPr>
              <a:t>100M</a:t>
            </a:r>
          </a:p>
        </p:txBody>
      </p:sp>
      <p:sp>
        <p:nvSpPr>
          <p:cNvPr id="17" name="TextBox 17"/>
          <p:cNvSpPr txBox="1"/>
          <p:nvPr/>
        </p:nvSpPr>
        <p:spPr>
          <a:xfrm>
            <a:off x="12146280" y="6330848"/>
            <a:ext cx="4663440" cy="285750"/>
          </a:xfrm>
          <a:prstGeom prst="rect">
            <a:avLst/>
          </a:prstGeom>
        </p:spPr>
        <p:txBody>
          <a:bodyPr lIns="0" tIns="0" rIns="0" bIns="0" rtlCol="0" anchor="t">
            <a:spAutoFit/>
          </a:bodyPr>
          <a:lstStyle/>
          <a:p>
            <a:pPr algn="ctr">
              <a:lnSpc>
                <a:spcPts val="2160"/>
              </a:lnSpc>
            </a:pPr>
            <a:r>
              <a:rPr lang="en-US" sz="1800">
                <a:solidFill>
                  <a:srgbClr val="94A3B8"/>
                </a:solidFill>
                <a:latin typeface="Arial"/>
                <a:ea typeface="Arial"/>
                <a:cs typeface="Arial"/>
                <a:sym typeface="Arial"/>
              </a:rPr>
              <a:t>POINTS HANDLED</a:t>
            </a:r>
          </a:p>
        </p:txBody>
      </p:sp>
      <p:sp>
        <p:nvSpPr>
          <p:cNvPr id="18" name="TextBox 18"/>
          <p:cNvSpPr txBox="1"/>
          <p:nvPr/>
        </p:nvSpPr>
        <p:spPr>
          <a:xfrm>
            <a:off x="1478280" y="7346756"/>
            <a:ext cx="4663440" cy="419100"/>
          </a:xfrm>
          <a:prstGeom prst="rect">
            <a:avLst/>
          </a:prstGeom>
        </p:spPr>
        <p:txBody>
          <a:bodyPr lIns="0" tIns="0" rIns="0" bIns="0" rtlCol="0" anchor="t">
            <a:spAutoFit/>
          </a:bodyPr>
          <a:lstStyle/>
          <a:p>
            <a:pPr algn="ctr">
              <a:lnSpc>
                <a:spcPts val="3120"/>
              </a:lnSpc>
            </a:pPr>
            <a:r>
              <a:rPr lang="en-US" sz="2600" b="1">
                <a:solidFill>
                  <a:srgbClr val="F1F5F9"/>
                </a:solidFill>
                <a:latin typeface="Arial Bold"/>
                <a:ea typeface="Arial Bold"/>
                <a:cs typeface="Arial Bold"/>
                <a:sym typeface="Arial Bold"/>
              </a:rPr>
              <a:t>Milestone 1</a:t>
            </a:r>
          </a:p>
        </p:txBody>
      </p:sp>
      <p:sp>
        <p:nvSpPr>
          <p:cNvPr id="19" name="TextBox 19"/>
          <p:cNvSpPr txBox="1"/>
          <p:nvPr/>
        </p:nvSpPr>
        <p:spPr>
          <a:xfrm>
            <a:off x="1478280" y="7857830"/>
            <a:ext cx="4663440" cy="295275"/>
          </a:xfrm>
          <a:prstGeom prst="rect">
            <a:avLst/>
          </a:prstGeom>
        </p:spPr>
        <p:txBody>
          <a:bodyPr lIns="0" tIns="0" rIns="0" bIns="0" rtlCol="0" anchor="t">
            <a:spAutoFit/>
          </a:bodyPr>
          <a:lstStyle/>
          <a:p>
            <a:pPr algn="ctr">
              <a:lnSpc>
                <a:spcPts val="2400"/>
              </a:lnSpc>
            </a:pPr>
            <a:r>
              <a:rPr lang="en-US" sz="2000">
                <a:solidFill>
                  <a:srgbClr val="94A3B8"/>
                </a:solidFill>
                <a:latin typeface="Arial"/>
                <a:ea typeface="Arial"/>
                <a:cs typeface="Arial"/>
                <a:sym typeface="Arial"/>
              </a:rPr>
              <a:t>Spatial indexing</a:t>
            </a:r>
          </a:p>
        </p:txBody>
      </p:sp>
      <p:sp>
        <p:nvSpPr>
          <p:cNvPr id="20" name="TextBox 20"/>
          <p:cNvSpPr txBox="1"/>
          <p:nvPr/>
        </p:nvSpPr>
        <p:spPr>
          <a:xfrm>
            <a:off x="6812280" y="7346756"/>
            <a:ext cx="4663440" cy="419100"/>
          </a:xfrm>
          <a:prstGeom prst="rect">
            <a:avLst/>
          </a:prstGeom>
        </p:spPr>
        <p:txBody>
          <a:bodyPr lIns="0" tIns="0" rIns="0" bIns="0" rtlCol="0" anchor="t">
            <a:spAutoFit/>
          </a:bodyPr>
          <a:lstStyle/>
          <a:p>
            <a:pPr algn="ctr">
              <a:lnSpc>
                <a:spcPts val="3120"/>
              </a:lnSpc>
            </a:pPr>
            <a:r>
              <a:rPr lang="en-US" sz="2600" b="1">
                <a:solidFill>
                  <a:srgbClr val="F1F5F9"/>
                </a:solidFill>
                <a:latin typeface="Arial Bold"/>
                <a:ea typeface="Arial Bold"/>
                <a:cs typeface="Arial Bold"/>
                <a:sym typeface="Arial Bold"/>
              </a:rPr>
              <a:t>Milestone 2</a:t>
            </a:r>
          </a:p>
        </p:txBody>
      </p:sp>
      <p:sp>
        <p:nvSpPr>
          <p:cNvPr id="21" name="TextBox 21"/>
          <p:cNvSpPr txBox="1"/>
          <p:nvPr/>
        </p:nvSpPr>
        <p:spPr>
          <a:xfrm>
            <a:off x="6812280" y="7857830"/>
            <a:ext cx="4663440" cy="295275"/>
          </a:xfrm>
          <a:prstGeom prst="rect">
            <a:avLst/>
          </a:prstGeom>
        </p:spPr>
        <p:txBody>
          <a:bodyPr lIns="0" tIns="0" rIns="0" bIns="0" rtlCol="0" anchor="t">
            <a:spAutoFit/>
          </a:bodyPr>
          <a:lstStyle/>
          <a:p>
            <a:pPr algn="ctr">
              <a:lnSpc>
                <a:spcPts val="2400"/>
              </a:lnSpc>
            </a:pPr>
            <a:r>
              <a:rPr lang="en-US" sz="2000">
                <a:solidFill>
                  <a:srgbClr val="94A3B8"/>
                </a:solidFill>
                <a:latin typeface="Arial"/>
                <a:ea typeface="Arial"/>
                <a:cs typeface="Arial"/>
                <a:sym typeface="Arial"/>
              </a:rPr>
              <a:t>OpenMP parallelism</a:t>
            </a:r>
          </a:p>
        </p:txBody>
      </p:sp>
      <p:sp>
        <p:nvSpPr>
          <p:cNvPr id="22" name="TextBox 22"/>
          <p:cNvSpPr txBox="1"/>
          <p:nvPr/>
        </p:nvSpPr>
        <p:spPr>
          <a:xfrm>
            <a:off x="12146280" y="7346756"/>
            <a:ext cx="4663440" cy="419100"/>
          </a:xfrm>
          <a:prstGeom prst="rect">
            <a:avLst/>
          </a:prstGeom>
        </p:spPr>
        <p:txBody>
          <a:bodyPr lIns="0" tIns="0" rIns="0" bIns="0" rtlCol="0" anchor="t">
            <a:spAutoFit/>
          </a:bodyPr>
          <a:lstStyle/>
          <a:p>
            <a:pPr algn="ctr">
              <a:lnSpc>
                <a:spcPts val="3120"/>
              </a:lnSpc>
            </a:pPr>
            <a:r>
              <a:rPr lang="en-US" sz="2600" b="1">
                <a:solidFill>
                  <a:srgbClr val="F1F5F9"/>
                </a:solidFill>
                <a:latin typeface="Arial Bold"/>
                <a:ea typeface="Arial Bold"/>
                <a:cs typeface="Arial Bold"/>
                <a:sym typeface="Arial Bold"/>
              </a:rPr>
              <a:t>Milestone 3</a:t>
            </a:r>
          </a:p>
        </p:txBody>
      </p:sp>
      <p:sp>
        <p:nvSpPr>
          <p:cNvPr id="23" name="TextBox 23"/>
          <p:cNvSpPr txBox="1"/>
          <p:nvPr/>
        </p:nvSpPr>
        <p:spPr>
          <a:xfrm>
            <a:off x="12146280" y="7857830"/>
            <a:ext cx="4663440" cy="295275"/>
          </a:xfrm>
          <a:prstGeom prst="rect">
            <a:avLst/>
          </a:prstGeom>
        </p:spPr>
        <p:txBody>
          <a:bodyPr lIns="0" tIns="0" rIns="0" bIns="0" rtlCol="0" anchor="t">
            <a:spAutoFit/>
          </a:bodyPr>
          <a:lstStyle/>
          <a:p>
            <a:pPr algn="ctr">
              <a:lnSpc>
                <a:spcPts val="2400"/>
              </a:lnSpc>
            </a:pPr>
            <a:r>
              <a:rPr lang="en-US" sz="2000">
                <a:solidFill>
                  <a:srgbClr val="94A3B8"/>
                </a:solidFill>
                <a:latin typeface="Arial"/>
                <a:ea typeface="Arial"/>
                <a:cs typeface="Arial"/>
                <a:sym typeface="Arial"/>
              </a:rPr>
              <a:t>Distributed multi-process</a:t>
            </a:r>
          </a:p>
        </p:txBody>
      </p:sp>
      <p:sp>
        <p:nvSpPr>
          <p:cNvPr id="24" name="TextBox 24"/>
          <p:cNvSpPr txBox="1"/>
          <p:nvPr/>
        </p:nvSpPr>
        <p:spPr>
          <a:xfrm>
            <a:off x="1371600" y="9293123"/>
            <a:ext cx="15544800" cy="419100"/>
          </a:xfrm>
          <a:prstGeom prst="rect">
            <a:avLst/>
          </a:prstGeom>
        </p:spPr>
        <p:txBody>
          <a:bodyPr lIns="0" tIns="0" rIns="0" bIns="0" rtlCol="0" anchor="t">
            <a:spAutoFit/>
          </a:bodyPr>
          <a:lstStyle/>
          <a:p>
            <a:pPr algn="ctr">
              <a:lnSpc>
                <a:spcPts val="3120"/>
              </a:lnSpc>
            </a:pPr>
            <a:r>
              <a:rPr lang="en-US" sz="2600" b="1">
                <a:solidFill>
                  <a:srgbClr val="22D3EE"/>
                </a:solidFill>
                <a:latin typeface="Arial Bold"/>
                <a:ea typeface="Arial Bold"/>
                <a:cs typeface="Arial Bold"/>
                <a:sym typeface="Arial Bold"/>
              </a:rPr>
              <a:t>THANK YOU  ·  QUESTIONS?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1527048" y="1005840"/>
            <a:ext cx="5486400" cy="320040"/>
          </a:xfrm>
          <a:prstGeom prst="rect">
            <a:avLst/>
          </a:prstGeom>
          <a:noFill/>
        </p:spPr>
        <p:txBody>
          <a:bodyPr wrap="square">
            <a:spAutoFit/>
          </a:bodyPr>
          <a:lstStyle/>
          <a:p>
            <a:pPr algn="l"/>
            <a:r>
              <a:rPr sz="2200" b="1">
                <a:solidFill>
                  <a:srgbClr val="22D3EE"/>
                </a:solidFill>
              </a:rPr>
              <a:t>TEAM CONTRIBUTIONS</a:t>
            </a:r>
          </a:p>
        </p:txBody>
      </p:sp>
      <p:sp>
        <p:nvSpPr>
          <p:cNvPr id="3" name="TextBox 2"/>
          <p:cNvSpPr txBox="1"/>
          <p:nvPr/>
        </p:nvSpPr>
        <p:spPr>
          <a:xfrm>
            <a:off x="1527048" y="1417320"/>
            <a:ext cx="15544800" cy="685800"/>
          </a:xfrm>
          <a:prstGeom prst="rect">
            <a:avLst/>
          </a:prstGeom>
          <a:noFill/>
        </p:spPr>
        <p:txBody>
          <a:bodyPr wrap="square">
            <a:spAutoFit/>
          </a:bodyPr>
          <a:lstStyle/>
          <a:p>
            <a:pPr algn="l"/>
            <a:r>
              <a:rPr sz="2800" b="0">
                <a:solidFill>
                  <a:srgbClr val="F1F5F9"/>
                </a:solidFill>
              </a:rPr>
              <a:t>Who built what, milestone by milestone</a:t>
            </a:r>
          </a:p>
        </p:txBody>
      </p:sp>
      <p:sp>
        <p:nvSpPr>
          <p:cNvPr id="4" name="Rectangle 3"/>
          <p:cNvSpPr/>
          <p:nvPr/>
        </p:nvSpPr>
        <p:spPr>
          <a:xfrm>
            <a:off x="1527048" y="2286000"/>
            <a:ext cx="15233904" cy="27432"/>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05840" y="2468880"/>
            <a:ext cx="7863840" cy="3474720"/>
          </a:xfrm>
          <a:prstGeom prst="rect">
            <a:avLst/>
          </a:prstGeom>
          <a:solidFill>
            <a:srgbClr val="10243E"/>
          </a:solidFill>
          <a:ln w="1016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07008" y="2651760"/>
            <a:ext cx="7461504" cy="457200"/>
          </a:xfrm>
          <a:prstGeom prst="rect">
            <a:avLst/>
          </a:prstGeom>
          <a:noFill/>
        </p:spPr>
        <p:txBody>
          <a:bodyPr wrap="square">
            <a:spAutoFit/>
          </a:bodyPr>
          <a:lstStyle/>
          <a:p>
            <a:pPr algn="l"/>
            <a:r>
              <a:rPr sz="2400" b="1">
                <a:solidFill>
                  <a:srgbClr val="22D3EE"/>
                </a:solidFill>
              </a:rPr>
              <a:t>Azhab Safwan Babar</a:t>
            </a:r>
          </a:p>
        </p:txBody>
      </p:sp>
      <p:sp>
        <p:nvSpPr>
          <p:cNvPr id="7" name="TextBox 6"/>
          <p:cNvSpPr txBox="1"/>
          <p:nvPr/>
        </p:nvSpPr>
        <p:spPr>
          <a:xfrm>
            <a:off x="1207008" y="3127248"/>
            <a:ext cx="7461504" cy="274320"/>
          </a:xfrm>
          <a:prstGeom prst="rect">
            <a:avLst/>
          </a:prstGeom>
          <a:noFill/>
        </p:spPr>
        <p:txBody>
          <a:bodyPr wrap="square">
            <a:spAutoFit/>
          </a:bodyPr>
          <a:lstStyle/>
          <a:p>
            <a:pPr algn="l"/>
            <a:r>
              <a:rPr sz="1600" b="0">
                <a:solidFill>
                  <a:srgbClr val="94A3B8"/>
                </a:solidFill>
              </a:rPr>
              <a:t>ERP 29227</a:t>
            </a:r>
          </a:p>
        </p:txBody>
      </p:sp>
      <p:sp>
        <p:nvSpPr>
          <p:cNvPr id="8" name="TextBox 7"/>
          <p:cNvSpPr txBox="1"/>
          <p:nvPr/>
        </p:nvSpPr>
        <p:spPr>
          <a:xfrm>
            <a:off x="1207008" y="3493008"/>
            <a:ext cx="7461504" cy="384048"/>
          </a:xfrm>
          <a:prstGeom prst="rect">
            <a:avLst/>
          </a:prstGeom>
          <a:noFill/>
        </p:spPr>
        <p:txBody>
          <a:bodyPr wrap="square">
            <a:spAutoFit/>
          </a:bodyPr>
          <a:lstStyle/>
          <a:p>
            <a:pPr algn="l"/>
            <a:r>
              <a:rPr sz="1500" b="0">
                <a:solidFill>
                  <a:srgbClr val="F1F5F9"/>
                </a:solidFill>
              </a:rPr>
              <a:t>M1: Quadtree spatial index + bounding-box filtering</a:t>
            </a:r>
          </a:p>
        </p:txBody>
      </p:sp>
      <p:sp>
        <p:nvSpPr>
          <p:cNvPr id="9" name="TextBox 8"/>
          <p:cNvSpPr txBox="1"/>
          <p:nvPr/>
        </p:nvSpPr>
        <p:spPr>
          <a:xfrm>
            <a:off x="1207008" y="3913632"/>
            <a:ext cx="7461504" cy="384048"/>
          </a:xfrm>
          <a:prstGeom prst="rect">
            <a:avLst/>
          </a:prstGeom>
          <a:noFill/>
        </p:spPr>
        <p:txBody>
          <a:bodyPr wrap="square">
            <a:spAutoFit/>
          </a:bodyPr>
          <a:lstStyle/>
          <a:p>
            <a:pPr algn="l"/>
            <a:r>
              <a:rPr sz="1500" b="0">
                <a:solidFill>
                  <a:srgbClr val="F1F5F9"/>
                </a:solidFill>
              </a:rPr>
              <a:t>M2: Spatial partitioning (grid / hierarchical tiles)</a:t>
            </a:r>
          </a:p>
        </p:txBody>
      </p:sp>
      <p:sp>
        <p:nvSpPr>
          <p:cNvPr id="10" name="TextBox 9"/>
          <p:cNvSpPr txBox="1"/>
          <p:nvPr/>
        </p:nvSpPr>
        <p:spPr>
          <a:xfrm>
            <a:off x="1207008" y="4334256"/>
            <a:ext cx="7461504" cy="384048"/>
          </a:xfrm>
          <a:prstGeom prst="rect">
            <a:avLst/>
          </a:prstGeom>
          <a:noFill/>
        </p:spPr>
        <p:txBody>
          <a:bodyPr wrap="square">
            <a:spAutoFit/>
          </a:bodyPr>
          <a:lstStyle/>
          <a:p>
            <a:pPr algn="l"/>
            <a:r>
              <a:rPr sz="1500" b="0">
                <a:solidFill>
                  <a:srgbClr val="F1F5F9"/>
                </a:solidFill>
              </a:rPr>
              <a:t>M3: Distributed execution model (multi-process IPC)</a:t>
            </a:r>
          </a:p>
        </p:txBody>
      </p:sp>
      <p:sp>
        <p:nvSpPr>
          <p:cNvPr id="11" name="Rectangle 10"/>
          <p:cNvSpPr/>
          <p:nvPr/>
        </p:nvSpPr>
        <p:spPr>
          <a:xfrm>
            <a:off x="9646920" y="2468880"/>
            <a:ext cx="7863840" cy="3474720"/>
          </a:xfrm>
          <a:prstGeom prst="rect">
            <a:avLst/>
          </a:prstGeom>
          <a:solidFill>
            <a:srgbClr val="10243E"/>
          </a:solidFill>
          <a:ln w="1016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48088" y="2651760"/>
            <a:ext cx="7461504" cy="457200"/>
          </a:xfrm>
          <a:prstGeom prst="rect">
            <a:avLst/>
          </a:prstGeom>
          <a:noFill/>
        </p:spPr>
        <p:txBody>
          <a:bodyPr wrap="square">
            <a:spAutoFit/>
          </a:bodyPr>
          <a:lstStyle/>
          <a:p>
            <a:pPr algn="l"/>
            <a:r>
              <a:rPr sz="2400" b="1">
                <a:solidFill>
                  <a:srgbClr val="22D3EE"/>
                </a:solidFill>
              </a:rPr>
              <a:t>Ayaan Malik</a:t>
            </a:r>
          </a:p>
        </p:txBody>
      </p:sp>
      <p:sp>
        <p:nvSpPr>
          <p:cNvPr id="13" name="TextBox 12"/>
          <p:cNvSpPr txBox="1"/>
          <p:nvPr/>
        </p:nvSpPr>
        <p:spPr>
          <a:xfrm>
            <a:off x="9848088" y="3127248"/>
            <a:ext cx="7461504" cy="274320"/>
          </a:xfrm>
          <a:prstGeom prst="rect">
            <a:avLst/>
          </a:prstGeom>
          <a:noFill/>
        </p:spPr>
        <p:txBody>
          <a:bodyPr wrap="square">
            <a:spAutoFit/>
          </a:bodyPr>
          <a:lstStyle/>
          <a:p>
            <a:pPr algn="l"/>
            <a:r>
              <a:rPr sz="1600" b="0">
                <a:solidFill>
                  <a:srgbClr val="94A3B8"/>
                </a:solidFill>
              </a:rPr>
              <a:t>ERP 29238</a:t>
            </a:r>
          </a:p>
        </p:txBody>
      </p:sp>
      <p:sp>
        <p:nvSpPr>
          <p:cNvPr id="14" name="TextBox 13"/>
          <p:cNvSpPr txBox="1"/>
          <p:nvPr/>
        </p:nvSpPr>
        <p:spPr>
          <a:xfrm>
            <a:off x="9848088" y="3493008"/>
            <a:ext cx="7461504" cy="384048"/>
          </a:xfrm>
          <a:prstGeom prst="rect">
            <a:avLst/>
          </a:prstGeom>
          <a:noFill/>
        </p:spPr>
        <p:txBody>
          <a:bodyPr wrap="square">
            <a:spAutoFit/>
          </a:bodyPr>
          <a:lstStyle/>
          <a:p>
            <a:pPr algn="l"/>
            <a:r>
              <a:rPr sz="1500" b="0">
                <a:solidFill>
                  <a:srgbClr val="F1F5F9"/>
                </a:solidFill>
              </a:rPr>
              <a:t>M1: Ray-casting PiP algorithm (edge, vertex, holes)</a:t>
            </a:r>
          </a:p>
        </p:txBody>
      </p:sp>
      <p:sp>
        <p:nvSpPr>
          <p:cNvPr id="15" name="TextBox 14"/>
          <p:cNvSpPr txBox="1"/>
          <p:nvPr/>
        </p:nvSpPr>
        <p:spPr>
          <a:xfrm>
            <a:off x="9848088" y="3913632"/>
            <a:ext cx="7461504" cy="384048"/>
          </a:xfrm>
          <a:prstGeom prst="rect">
            <a:avLst/>
          </a:prstGeom>
          <a:noFill/>
        </p:spPr>
        <p:txBody>
          <a:bodyPr wrap="square">
            <a:spAutoFit/>
          </a:bodyPr>
          <a:lstStyle/>
          <a:p>
            <a:pPr algn="l"/>
            <a:r>
              <a:rPr sz="1500" b="0">
                <a:solidFill>
                  <a:srgbClr val="F1F5F9"/>
                </a:solidFill>
              </a:rPr>
              <a:t>M2: Multithreading setup — OpenMP static &amp; dynamic</a:t>
            </a:r>
          </a:p>
        </p:txBody>
      </p:sp>
      <p:sp>
        <p:nvSpPr>
          <p:cNvPr id="16" name="TextBox 15"/>
          <p:cNvSpPr txBox="1"/>
          <p:nvPr/>
        </p:nvSpPr>
        <p:spPr>
          <a:xfrm>
            <a:off x="9848088" y="4334256"/>
            <a:ext cx="7461504" cy="384048"/>
          </a:xfrm>
          <a:prstGeom prst="rect">
            <a:avLst/>
          </a:prstGeom>
          <a:noFill/>
        </p:spPr>
        <p:txBody>
          <a:bodyPr wrap="square">
            <a:spAutoFit/>
          </a:bodyPr>
          <a:lstStyle/>
          <a:p>
            <a:pPr algn="l"/>
            <a:r>
              <a:rPr sz="1500" b="0">
                <a:solidFill>
                  <a:srgbClr val="F1F5F9"/>
                </a:solidFill>
              </a:rPr>
              <a:t>M3: Batch processing pipeline (streaming 250K chunks)</a:t>
            </a:r>
          </a:p>
        </p:txBody>
      </p:sp>
      <p:sp>
        <p:nvSpPr>
          <p:cNvPr id="17" name="Rectangle 16"/>
          <p:cNvSpPr/>
          <p:nvPr/>
        </p:nvSpPr>
        <p:spPr>
          <a:xfrm>
            <a:off x="1005840" y="6263640"/>
            <a:ext cx="7863840" cy="3474720"/>
          </a:xfrm>
          <a:prstGeom prst="rect">
            <a:avLst/>
          </a:prstGeom>
          <a:solidFill>
            <a:srgbClr val="10243E"/>
          </a:solidFill>
          <a:ln w="1016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07008" y="6446520"/>
            <a:ext cx="7461504" cy="457200"/>
          </a:xfrm>
          <a:prstGeom prst="rect">
            <a:avLst/>
          </a:prstGeom>
          <a:noFill/>
        </p:spPr>
        <p:txBody>
          <a:bodyPr wrap="square">
            <a:spAutoFit/>
          </a:bodyPr>
          <a:lstStyle/>
          <a:p>
            <a:pPr algn="l"/>
            <a:r>
              <a:rPr sz="2400" b="1">
                <a:solidFill>
                  <a:srgbClr val="22D3EE"/>
                </a:solidFill>
              </a:rPr>
              <a:t>Muhammad Anas Tabba</a:t>
            </a:r>
          </a:p>
        </p:txBody>
      </p:sp>
      <p:sp>
        <p:nvSpPr>
          <p:cNvPr id="19" name="TextBox 18"/>
          <p:cNvSpPr txBox="1"/>
          <p:nvPr/>
        </p:nvSpPr>
        <p:spPr>
          <a:xfrm>
            <a:off x="1207008" y="6922007"/>
            <a:ext cx="7461504" cy="274320"/>
          </a:xfrm>
          <a:prstGeom prst="rect">
            <a:avLst/>
          </a:prstGeom>
          <a:noFill/>
        </p:spPr>
        <p:txBody>
          <a:bodyPr wrap="square">
            <a:spAutoFit/>
          </a:bodyPr>
          <a:lstStyle/>
          <a:p>
            <a:pPr algn="l"/>
            <a:r>
              <a:rPr sz="1600" b="0">
                <a:solidFill>
                  <a:srgbClr val="94A3B8"/>
                </a:solidFill>
              </a:rPr>
              <a:t>ERP 28998</a:t>
            </a:r>
          </a:p>
        </p:txBody>
      </p:sp>
      <p:sp>
        <p:nvSpPr>
          <p:cNvPr id="20" name="TextBox 19"/>
          <p:cNvSpPr txBox="1"/>
          <p:nvPr/>
        </p:nvSpPr>
        <p:spPr>
          <a:xfrm>
            <a:off x="1207008" y="7287768"/>
            <a:ext cx="7461504" cy="384048"/>
          </a:xfrm>
          <a:prstGeom prst="rect">
            <a:avLst/>
          </a:prstGeom>
          <a:noFill/>
        </p:spPr>
        <p:txBody>
          <a:bodyPr wrap="square">
            <a:spAutoFit/>
          </a:bodyPr>
          <a:lstStyle/>
          <a:p>
            <a:pPr algn="l"/>
            <a:r>
              <a:rPr sz="1500" b="0">
                <a:solidFill>
                  <a:srgbClr val="F1F5F9"/>
                </a:solidFill>
              </a:rPr>
              <a:t>M1: Dataset generation — uniform &amp; clustered GPS pts</a:t>
            </a:r>
          </a:p>
        </p:txBody>
      </p:sp>
      <p:sp>
        <p:nvSpPr>
          <p:cNvPr id="21" name="TextBox 20"/>
          <p:cNvSpPr txBox="1"/>
          <p:nvPr/>
        </p:nvSpPr>
        <p:spPr>
          <a:xfrm>
            <a:off x="1207008" y="7708392"/>
            <a:ext cx="7461504" cy="384048"/>
          </a:xfrm>
          <a:prstGeom prst="rect">
            <a:avLst/>
          </a:prstGeom>
          <a:noFill/>
        </p:spPr>
        <p:txBody>
          <a:bodyPr wrap="square">
            <a:spAutoFit/>
          </a:bodyPr>
          <a:lstStyle/>
          <a:p>
            <a:pPr algn="l"/>
            <a:r>
              <a:rPr sz="1500" b="0">
                <a:solidFill>
                  <a:srgbClr val="F1F5F9"/>
                </a:solidFill>
              </a:rPr>
              <a:t>M2: Dynamic task queues &amp; work-stealing deques</a:t>
            </a:r>
          </a:p>
        </p:txBody>
      </p:sp>
      <p:sp>
        <p:nvSpPr>
          <p:cNvPr id="22" name="TextBox 21"/>
          <p:cNvSpPr txBox="1"/>
          <p:nvPr/>
        </p:nvSpPr>
        <p:spPr>
          <a:xfrm>
            <a:off x="1207008" y="8129016"/>
            <a:ext cx="7461504" cy="384048"/>
          </a:xfrm>
          <a:prstGeom prst="rect">
            <a:avLst/>
          </a:prstGeom>
          <a:noFill/>
        </p:spPr>
        <p:txBody>
          <a:bodyPr wrap="square">
            <a:spAutoFit/>
          </a:bodyPr>
          <a:lstStyle/>
          <a:p>
            <a:pPr algn="l"/>
            <a:r>
              <a:rPr sz="1500" b="0">
                <a:solidFill>
                  <a:srgbClr val="F1F5F9"/>
                </a:solidFill>
              </a:rPr>
              <a:t>M3: Polygon replication vs spatial sharding trade-off</a:t>
            </a:r>
          </a:p>
        </p:txBody>
      </p:sp>
      <p:sp>
        <p:nvSpPr>
          <p:cNvPr id="23" name="Rectangle 22"/>
          <p:cNvSpPr/>
          <p:nvPr/>
        </p:nvSpPr>
        <p:spPr>
          <a:xfrm>
            <a:off x="9646920" y="6263640"/>
            <a:ext cx="7863840" cy="3474720"/>
          </a:xfrm>
          <a:prstGeom prst="rect">
            <a:avLst/>
          </a:prstGeom>
          <a:solidFill>
            <a:srgbClr val="10243E"/>
          </a:solidFill>
          <a:ln w="1016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48088" y="6446520"/>
            <a:ext cx="7461504" cy="457200"/>
          </a:xfrm>
          <a:prstGeom prst="rect">
            <a:avLst/>
          </a:prstGeom>
          <a:noFill/>
        </p:spPr>
        <p:txBody>
          <a:bodyPr wrap="square">
            <a:spAutoFit/>
          </a:bodyPr>
          <a:lstStyle/>
          <a:p>
            <a:pPr algn="l"/>
            <a:r>
              <a:rPr sz="2400" b="1">
                <a:solidFill>
                  <a:srgbClr val="22D3EE"/>
                </a:solidFill>
              </a:rPr>
              <a:t>Tayyab Bin Hisham</a:t>
            </a:r>
          </a:p>
        </p:txBody>
      </p:sp>
      <p:sp>
        <p:nvSpPr>
          <p:cNvPr id="25" name="TextBox 24"/>
          <p:cNvSpPr txBox="1"/>
          <p:nvPr/>
        </p:nvSpPr>
        <p:spPr>
          <a:xfrm>
            <a:off x="9848088" y="6922007"/>
            <a:ext cx="7461504" cy="274320"/>
          </a:xfrm>
          <a:prstGeom prst="rect">
            <a:avLst/>
          </a:prstGeom>
          <a:noFill/>
        </p:spPr>
        <p:txBody>
          <a:bodyPr wrap="square">
            <a:spAutoFit/>
          </a:bodyPr>
          <a:lstStyle/>
          <a:p>
            <a:pPr algn="l"/>
            <a:r>
              <a:rPr sz="1600" b="0">
                <a:solidFill>
                  <a:srgbClr val="94A3B8"/>
                </a:solidFill>
              </a:rPr>
              <a:t>ERP 29087</a:t>
            </a:r>
          </a:p>
        </p:txBody>
      </p:sp>
      <p:sp>
        <p:nvSpPr>
          <p:cNvPr id="26" name="TextBox 25"/>
          <p:cNvSpPr txBox="1"/>
          <p:nvPr/>
        </p:nvSpPr>
        <p:spPr>
          <a:xfrm>
            <a:off x="9848088" y="7287768"/>
            <a:ext cx="7461504" cy="384048"/>
          </a:xfrm>
          <a:prstGeom prst="rect">
            <a:avLst/>
          </a:prstGeom>
          <a:noFill/>
        </p:spPr>
        <p:txBody>
          <a:bodyPr wrap="square">
            <a:spAutoFit/>
          </a:bodyPr>
          <a:lstStyle/>
          <a:p>
            <a:pPr algn="l"/>
            <a:r>
              <a:rPr sz="1500" b="0">
                <a:solidFill>
                  <a:srgbClr val="F1F5F9"/>
                </a:solidFill>
              </a:rPr>
              <a:t>M1: Correctness testing &amp; benchmark validation</a:t>
            </a:r>
          </a:p>
        </p:txBody>
      </p:sp>
      <p:sp>
        <p:nvSpPr>
          <p:cNvPr id="27" name="TextBox 26"/>
          <p:cNvSpPr txBox="1"/>
          <p:nvPr/>
        </p:nvSpPr>
        <p:spPr>
          <a:xfrm>
            <a:off x="9848088" y="7708392"/>
            <a:ext cx="7461504" cy="384048"/>
          </a:xfrm>
          <a:prstGeom prst="rect">
            <a:avLst/>
          </a:prstGeom>
          <a:noFill/>
        </p:spPr>
        <p:txBody>
          <a:bodyPr wrap="square">
            <a:spAutoFit/>
          </a:bodyPr>
          <a:lstStyle/>
          <a:p>
            <a:pPr algn="l"/>
            <a:r>
              <a:rPr sz="1500" b="0">
                <a:solidFill>
                  <a:srgbClr val="F1F5F9"/>
                </a:solidFill>
              </a:rPr>
              <a:t>M2: Cache locality — Morton/Z-order tiled sorting</a:t>
            </a:r>
          </a:p>
        </p:txBody>
      </p:sp>
      <p:sp>
        <p:nvSpPr>
          <p:cNvPr id="28" name="TextBox 27"/>
          <p:cNvSpPr txBox="1"/>
          <p:nvPr/>
        </p:nvSpPr>
        <p:spPr>
          <a:xfrm>
            <a:off x="9848088" y="8129016"/>
            <a:ext cx="7461504" cy="384048"/>
          </a:xfrm>
          <a:prstGeom prst="rect">
            <a:avLst/>
          </a:prstGeom>
          <a:noFill/>
        </p:spPr>
        <p:txBody>
          <a:bodyPr wrap="square">
            <a:spAutoFit/>
          </a:bodyPr>
          <a:lstStyle/>
          <a:p>
            <a:pPr algn="l"/>
            <a:r>
              <a:rPr sz="1500" b="0">
                <a:solidFill>
                  <a:srgbClr val="F1F5F9"/>
                </a:solidFill>
              </a:rPr>
              <a:t>M3: Result aggregation (count / checksum per worker)</a:t>
            </a:r>
          </a:p>
        </p:txBody>
      </p:sp>
      <p:sp>
        <p:nvSpPr>
          <p:cNvPr id="29" name="TextBox 28"/>
          <p:cNvSpPr txBox="1"/>
          <p:nvPr/>
        </p:nvSpPr>
        <p:spPr>
          <a:xfrm>
            <a:off x="1005840" y="9829800"/>
            <a:ext cx="16276320" cy="320040"/>
          </a:xfrm>
          <a:prstGeom prst="rect">
            <a:avLst/>
          </a:prstGeom>
          <a:noFill/>
        </p:spPr>
        <p:txBody>
          <a:bodyPr wrap="square">
            <a:spAutoFit/>
          </a:bodyPr>
          <a:lstStyle/>
          <a:p>
            <a:pPr algn="ctr"/>
            <a:r>
              <a:rPr sz="1400" b="0">
                <a:solidFill>
                  <a:srgbClr val="94A3B8"/>
                </a:solidFill>
              </a:rPr>
              <a:t>All members collaborated on performance benchmarking and scaling analysis.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3126</Words>
  <Application>Microsoft Office PowerPoint</Application>
  <PresentationFormat>Custom</PresentationFormat>
  <Paragraphs>307</Paragraphs>
  <Slides>18</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 Bold</vt:lpstr>
      <vt:lpstr>Calibri</vt:lpstr>
      <vt:lpstr>Courier New Bold</vt:lpstr>
      <vt:lpstr>Arial</vt:lpstr>
      <vt:lpstr>Courier New Italics</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presentation.pptx</dc:title>
  <cp:lastModifiedBy>AZHAB BABAR - 29227</cp:lastModifiedBy>
  <cp:revision>2</cp:revision>
  <dcterms:created xsi:type="dcterms:W3CDTF">2006-08-16T00:00:00Z</dcterms:created>
  <dcterms:modified xsi:type="dcterms:W3CDTF">2026-05-04T11:36:46Z</dcterms:modified>
  <dc:identifier>DAHIslynu7g</dc:identifier>
</cp:coreProperties>
</file>